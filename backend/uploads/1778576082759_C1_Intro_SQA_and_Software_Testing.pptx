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797675"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3Uir+KGDELl7AjHUsXi4rLksk1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5576D59-A652-4677-8983-46820F983138}">
  <a:tblStyle styleId="{45576D59-A652-4677-8983-46820F98313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A6A8634-E6CD-4655-B582-E0A088364CC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955" cy="495913"/>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245" y="1"/>
            <a:ext cx="2945955" cy="495913"/>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33846"/>
            <a:ext cx="2945955" cy="495913"/>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Software"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en.wikipedia.org/wiki/IEEE"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tryqa.com/what-is-software-quality/"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tryqa.com/what-is-defect-or-bugs-or-faults-in-software-testing/"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2" name="Google Shape;92;p1: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97" name="Google Shape;97;p2: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t>Throw a question,</a:t>
            </a:r>
            <a:endParaRPr/>
          </a:p>
          <a:p>
            <a:pPr marL="0" lvl="0" indent="0" algn="l" rtl="0">
              <a:spcBef>
                <a:spcPts val="360"/>
              </a:spcBef>
              <a:spcAft>
                <a:spcPts val="0"/>
              </a:spcAft>
              <a:buNone/>
            </a:pPr>
            <a:r>
              <a:rPr lang="en-US"/>
              <a:t>PS – individu/group?</a:t>
            </a:r>
            <a:endParaRPr/>
          </a:p>
          <a:p>
            <a:pPr marL="0" lvl="0" indent="0" algn="l" rtl="0">
              <a:spcBef>
                <a:spcPts val="360"/>
              </a:spcBef>
              <a:spcAft>
                <a:spcPts val="0"/>
              </a:spcAft>
              <a:buNone/>
            </a:pPr>
            <a:r>
              <a:rPr lang="en-US"/>
              <a:t>Project Assignment – individu/group?</a:t>
            </a:r>
            <a:endParaRPr/>
          </a:p>
        </p:txBody>
      </p:sp>
      <p:sp>
        <p:nvSpPr>
          <p:cNvPr id="104" name="Google Shape;104;p3: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0" name="Google Shape;110;p4: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endParaRPr/>
          </a:p>
        </p:txBody>
      </p:sp>
      <p:sp>
        <p:nvSpPr>
          <p:cNvPr id="117" name="Google Shape;117;p5: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b="1"/>
              <a:t>Activity 1.0:</a:t>
            </a:r>
            <a:endParaRPr/>
          </a:p>
          <a:p>
            <a:pPr marL="0" lvl="0" indent="0" algn="l" rtl="0">
              <a:spcBef>
                <a:spcPts val="360"/>
              </a:spcBef>
              <a:spcAft>
                <a:spcPts val="0"/>
              </a:spcAft>
              <a:buNone/>
            </a:pPr>
            <a:r>
              <a:rPr lang="en-US"/>
              <a:t>Lecturer can sign up and use </a:t>
            </a:r>
            <a:r>
              <a:rPr lang="en-US" b="1"/>
              <a:t>Mentimeter</a:t>
            </a:r>
            <a:r>
              <a:rPr lang="en-US" b="0"/>
              <a:t>, throw the question, </a:t>
            </a:r>
            <a:r>
              <a:rPr lang="en-US"/>
              <a:t>to know student’s prior knowledge.</a:t>
            </a:r>
            <a:endParaRPr/>
          </a:p>
          <a:p>
            <a:pPr marL="0" lvl="0" indent="0" algn="l" rtl="0">
              <a:spcBef>
                <a:spcPts val="360"/>
              </a:spcBef>
              <a:spcAft>
                <a:spcPts val="0"/>
              </a:spcAft>
              <a:buNone/>
            </a:pPr>
            <a:endParaRPr/>
          </a:p>
        </p:txBody>
      </p:sp>
      <p:sp>
        <p:nvSpPr>
          <p:cNvPr id="124" name="Google Shape;124;p6: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7: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endParaRPr/>
          </a:p>
          <a:p>
            <a:pPr marL="0" lvl="0" indent="0" algn="l" rtl="0">
              <a:spcBef>
                <a:spcPts val="360"/>
              </a:spcBef>
              <a:spcAft>
                <a:spcPts val="0"/>
              </a:spcAft>
              <a:buNone/>
            </a:pPr>
            <a:r>
              <a:rPr lang="en-US" sz="1200" b="0" i="0">
                <a:solidFill>
                  <a:schemeClr val="dk1"/>
                </a:solidFill>
                <a:latin typeface="Calibri"/>
                <a:ea typeface="Calibri"/>
                <a:cs typeface="Calibri"/>
                <a:sym typeface="Calibri"/>
              </a:rPr>
              <a:t>"The application of a systematic, disciplined, quantifiable approach to the development, operation, and maintenance of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software</a:t>
            </a:r>
            <a:r>
              <a:rPr lang="en-US" sz="1200" b="0" i="0">
                <a:solidFill>
                  <a:schemeClr val="dk1"/>
                </a:solidFill>
                <a:latin typeface="Calibri"/>
                <a:ea typeface="Calibri"/>
                <a:cs typeface="Calibri"/>
                <a:sym typeface="Calibri"/>
              </a:rPr>
              <a:t>"—</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IEEE</a:t>
            </a:r>
            <a:r>
              <a:rPr lang="en-US" sz="1200" b="0" i="0">
                <a:solidFill>
                  <a:schemeClr val="dk1"/>
                </a:solidFill>
                <a:latin typeface="Calibri"/>
                <a:ea typeface="Calibri"/>
                <a:cs typeface="Calibri"/>
                <a:sym typeface="Calibri"/>
              </a:rPr>
              <a:t> </a:t>
            </a:r>
            <a:r>
              <a:rPr lang="en-US" sz="1200" b="0" i="1">
                <a:solidFill>
                  <a:schemeClr val="dk1"/>
                </a:solidFill>
                <a:latin typeface="Calibri"/>
                <a:ea typeface="Calibri"/>
                <a:cs typeface="Calibri"/>
                <a:sym typeface="Calibri"/>
              </a:rPr>
              <a:t>Standard Glossary of Software Engineering Terminology</a:t>
            </a:r>
            <a:endParaRPr/>
          </a:p>
          <a:p>
            <a:pPr marL="0" lvl="0" indent="0" algn="l" rtl="0">
              <a:spcBef>
                <a:spcPts val="360"/>
              </a:spcBef>
              <a:spcAft>
                <a:spcPts val="0"/>
              </a:spcAft>
              <a:buNone/>
            </a:pPr>
            <a:endParaRPr/>
          </a:p>
        </p:txBody>
      </p:sp>
      <p:sp>
        <p:nvSpPr>
          <p:cNvPr id="131" name="Google Shape;131;p7: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8: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b="1"/>
              <a:t>Activity 2.0: </a:t>
            </a:r>
            <a:endParaRPr/>
          </a:p>
          <a:p>
            <a:pPr marL="0" lvl="0" indent="0" algn="l" rtl="0">
              <a:spcBef>
                <a:spcPts val="360"/>
              </a:spcBef>
              <a:spcAft>
                <a:spcPts val="0"/>
              </a:spcAft>
              <a:buNone/>
            </a:pPr>
            <a:r>
              <a:rPr lang="en-US"/>
              <a:t>i) Identify the similar points from 2 definitions?</a:t>
            </a:r>
            <a:endParaRPr/>
          </a:p>
          <a:p>
            <a:pPr marL="0" lvl="0" indent="0" algn="l" rtl="0">
              <a:spcBef>
                <a:spcPts val="360"/>
              </a:spcBef>
              <a:spcAft>
                <a:spcPts val="0"/>
              </a:spcAft>
              <a:buNone/>
            </a:pPr>
            <a:r>
              <a:rPr lang="en-US" sz="1200">
                <a:latin typeface="Calibri"/>
                <a:ea typeface="Calibri"/>
                <a:cs typeface="Calibri"/>
                <a:sym typeface="Calibri"/>
              </a:rPr>
              <a:t>ii) Think individually for 1 minute and complete the answer in a given table below.</a:t>
            </a:r>
            <a:endParaRPr/>
          </a:p>
          <a:p>
            <a:pPr marL="0" lvl="0" indent="0" algn="l" rtl="0">
              <a:spcBef>
                <a:spcPts val="360"/>
              </a:spcBef>
              <a:spcAft>
                <a:spcPts val="0"/>
              </a:spcAft>
              <a:buNone/>
            </a:pPr>
            <a:r>
              <a:rPr lang="en-US" sz="1200">
                <a:latin typeface="Calibri"/>
                <a:ea typeface="Calibri"/>
                <a:cs typeface="Calibri"/>
                <a:sym typeface="Calibri"/>
              </a:rPr>
              <a:t>iii) Discuss with your neighbor for 2 minutes.</a:t>
            </a:r>
            <a:endParaRPr/>
          </a:p>
          <a:p>
            <a:pPr marL="0" lvl="0" indent="0" algn="l" rtl="0">
              <a:spcBef>
                <a:spcPts val="360"/>
              </a:spcBef>
              <a:spcAft>
                <a:spcPts val="0"/>
              </a:spcAft>
              <a:buNone/>
            </a:pPr>
            <a:r>
              <a:rPr lang="en-US" sz="1200">
                <a:latin typeface="Calibri"/>
                <a:ea typeface="Calibri"/>
                <a:cs typeface="Calibri"/>
                <a:sym typeface="Calibri"/>
              </a:rPr>
              <a:t>iv) Share with the class when asked</a:t>
            </a:r>
            <a:endParaRPr/>
          </a:p>
          <a:p>
            <a:pPr marL="0" lvl="0" indent="0" algn="l" rtl="0">
              <a:spcBef>
                <a:spcPts val="360"/>
              </a:spcBef>
              <a:spcAft>
                <a:spcPts val="0"/>
              </a:spcAft>
              <a:buNone/>
            </a:pPr>
            <a:endParaRPr/>
          </a:p>
          <a:p>
            <a:pPr marL="0" lvl="0" indent="0" algn="l" rtl="0">
              <a:spcBef>
                <a:spcPts val="360"/>
              </a:spcBef>
              <a:spcAft>
                <a:spcPts val="0"/>
              </a:spcAft>
              <a:buNone/>
            </a:pPr>
            <a:r>
              <a:rPr lang="en-US"/>
              <a:t>To fulfil expectations.</a:t>
            </a:r>
            <a:endParaRPr/>
          </a:p>
          <a:p>
            <a:pPr marL="0" lvl="0" indent="0" algn="l" rtl="0">
              <a:spcBef>
                <a:spcPts val="360"/>
              </a:spcBef>
              <a:spcAft>
                <a:spcPts val="0"/>
              </a:spcAft>
              <a:buNone/>
            </a:pPr>
            <a:r>
              <a:rPr lang="en-US"/>
              <a:t>Agree, quality we normally expects something… internet banking software… u expect?</a:t>
            </a:r>
            <a:endParaRPr/>
          </a:p>
          <a:p>
            <a:pPr marL="0" lvl="0" indent="0" algn="l" rtl="0">
              <a:spcBef>
                <a:spcPts val="360"/>
              </a:spcBef>
              <a:spcAft>
                <a:spcPts val="0"/>
              </a:spcAft>
              <a:buNone/>
            </a:pPr>
            <a:endParaRPr/>
          </a:p>
          <a:p>
            <a:pPr marL="0" lvl="0" indent="0" algn="l" rtl="0">
              <a:spcBef>
                <a:spcPts val="360"/>
              </a:spcBef>
              <a:spcAft>
                <a:spcPts val="0"/>
              </a:spcAft>
              <a:buNone/>
            </a:pPr>
            <a:r>
              <a:rPr lang="en-US"/>
              <a:t>References:</a:t>
            </a:r>
            <a:endParaRPr/>
          </a:p>
          <a:p>
            <a:pPr marL="0" lvl="0" indent="0" algn="l" rtl="0">
              <a:spcBef>
                <a:spcPts val="360"/>
              </a:spcBef>
              <a:spcAft>
                <a:spcPts val="0"/>
              </a:spcAft>
              <a:buNone/>
            </a:pPr>
            <a:r>
              <a:rPr lang="en-US"/>
              <a:t>https://slideplayer.com/slide/8337903/</a:t>
            </a:r>
            <a:endParaRPr/>
          </a:p>
          <a:p>
            <a:pPr marL="0" marR="0" lvl="0" indent="0" algn="l" rtl="0">
              <a:lnSpc>
                <a:spcPct val="100000"/>
              </a:lnSpc>
              <a:spcBef>
                <a:spcPts val="360"/>
              </a:spcBef>
              <a:spcAft>
                <a:spcPts val="0"/>
              </a:spcAft>
              <a:buClr>
                <a:schemeClr val="dk1"/>
              </a:buClr>
              <a:buSzPts val="1200"/>
              <a:buFont typeface="Calibri"/>
              <a:buNone/>
            </a:pPr>
            <a:r>
              <a:rPr lang="en-US"/>
              <a:t>Link: </a:t>
            </a:r>
            <a:r>
              <a:rPr lang="en-US" u="sng">
                <a:solidFill>
                  <a:schemeClr val="hlink"/>
                </a:solidFill>
                <a:hlinkClick r:id="rId3"/>
              </a:rPr>
              <a:t>http://tryqa.com/what-is-software-quality/</a:t>
            </a:r>
            <a:endParaRPr/>
          </a:p>
          <a:p>
            <a:pPr marL="0" lvl="0" indent="0" algn="l" rtl="0">
              <a:spcBef>
                <a:spcPts val="360"/>
              </a:spcBef>
              <a:spcAft>
                <a:spcPts val="0"/>
              </a:spcAft>
              <a:buClr>
                <a:schemeClr val="dk1"/>
              </a:buClr>
              <a:buSzPts val="1200"/>
              <a:buFont typeface="Calibri"/>
              <a:buNone/>
            </a:pPr>
            <a:r>
              <a:rPr lang="en-US"/>
              <a:t>Quality software is reasonably </a:t>
            </a:r>
            <a:r>
              <a:rPr lang="en-US" b="1" u="sng">
                <a:solidFill>
                  <a:schemeClr val="hlink"/>
                </a:solidFill>
                <a:hlinkClick r:id="rId4"/>
              </a:rPr>
              <a:t>bug or defect</a:t>
            </a:r>
            <a:r>
              <a:rPr lang="en-US"/>
              <a:t> free, delivered on time and within budget, meets requirements and/or expectations, and is maintainable.</a:t>
            </a:r>
            <a:endParaRPr/>
          </a:p>
          <a:p>
            <a:pPr marL="0" lvl="0" indent="0" algn="l" rtl="0">
              <a:spcBef>
                <a:spcPts val="360"/>
              </a:spcBef>
              <a:spcAft>
                <a:spcPts val="0"/>
              </a:spcAft>
              <a:buClr>
                <a:schemeClr val="dk1"/>
              </a:buClr>
              <a:buSzPts val="1200"/>
              <a:buFont typeface="Calibri"/>
              <a:buNone/>
            </a:pPr>
            <a:endParaRPr/>
          </a:p>
          <a:p>
            <a:pPr marL="0" lvl="0" indent="0" algn="l" rtl="0">
              <a:spcBef>
                <a:spcPts val="360"/>
              </a:spcBef>
              <a:spcAft>
                <a:spcPts val="0"/>
              </a:spcAft>
              <a:buNone/>
            </a:pPr>
            <a:endParaRPr/>
          </a:p>
          <a:p>
            <a:pPr marL="0" lvl="0" indent="0" algn="l" rtl="0">
              <a:spcBef>
                <a:spcPts val="360"/>
              </a:spcBef>
              <a:spcAft>
                <a:spcPts val="0"/>
              </a:spcAft>
              <a:buNone/>
            </a:pPr>
            <a:endParaRPr/>
          </a:p>
        </p:txBody>
      </p:sp>
      <p:sp>
        <p:nvSpPr>
          <p:cNvPr id="142" name="Google Shape;142;p8: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9</a:t>
            </a:fld>
            <a:endParaRPr sz="1300">
              <a:solidFill>
                <a:schemeClr val="dk1"/>
              </a:solidFill>
              <a:latin typeface="Calibri"/>
              <a:ea typeface="Calibri"/>
              <a:cs typeface="Calibri"/>
              <a:sym typeface="Calibri"/>
            </a:endParaRPr>
          </a:p>
        </p:txBody>
      </p:sp>
      <p:sp>
        <p:nvSpPr>
          <p:cNvPr id="151" name="Google Shape;151;p9: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2" name="Google Shape;152;p9: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latin typeface="Calibri"/>
                <a:ea typeface="Calibri"/>
                <a:cs typeface="Calibri"/>
                <a:sym typeface="Calibri"/>
              </a:rPr>
              <a:t>Quality Control = activities designed to evaluate the quality of a product</a:t>
            </a:r>
            <a:endParaRPr/>
          </a:p>
          <a:p>
            <a:pPr marL="0" lvl="0" indent="0" algn="l" rtl="0">
              <a:spcBef>
                <a:spcPts val="0"/>
              </a:spcBef>
              <a:spcAft>
                <a:spcPts val="0"/>
              </a:spcAft>
              <a:buNone/>
            </a:pPr>
            <a:r>
              <a:rPr lang="en-US">
                <a:latin typeface="Calibri"/>
                <a:ea typeface="Calibri"/>
                <a:cs typeface="Calibri"/>
                <a:sym typeface="Calibri"/>
              </a:rPr>
              <a:t>Quality Assurance = activities to prevent and correct errors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10</a:t>
            </a:fld>
            <a:endParaRPr sz="1300">
              <a:solidFill>
                <a:schemeClr val="dk1"/>
              </a:solidFill>
              <a:latin typeface="Calibri"/>
              <a:ea typeface="Calibri"/>
              <a:cs typeface="Calibri"/>
              <a:sym typeface="Calibri"/>
            </a:endParaRPr>
          </a:p>
        </p:txBody>
      </p:sp>
      <p:sp>
        <p:nvSpPr>
          <p:cNvPr id="160" name="Google Shape;160;p10: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1" name="Google Shape;161;p10: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latin typeface="Calibri"/>
                <a:ea typeface="Calibri"/>
                <a:cs typeface="Calibri"/>
                <a:sym typeface="Calibri"/>
              </a:rPr>
              <a:t>Point of SQA</a:t>
            </a:r>
            <a:endParaRPr/>
          </a:p>
          <a:p>
            <a:pPr marL="0" lvl="0" indent="0" algn="l" rtl="0">
              <a:spcBef>
                <a:spcPts val="0"/>
              </a:spcBef>
              <a:spcAft>
                <a:spcPts val="0"/>
              </a:spcAft>
              <a:buNone/>
            </a:pPr>
            <a:r>
              <a:rPr lang="en-US">
                <a:latin typeface="Calibri"/>
                <a:ea typeface="Calibri"/>
                <a:cs typeface="Calibri"/>
                <a:sym typeface="Calibri"/>
              </a:rPr>
              <a:t>- better product</a:t>
            </a:r>
            <a:endParaRPr/>
          </a:p>
          <a:p>
            <a:pPr marL="0" lvl="0" indent="0" algn="l" rtl="0">
              <a:spcBef>
                <a:spcPts val="0"/>
              </a:spcBef>
              <a:spcAft>
                <a:spcPts val="0"/>
              </a:spcAft>
              <a:buNone/>
            </a:pPr>
            <a:r>
              <a:rPr lang="en-US">
                <a:latin typeface="Calibri"/>
                <a:ea typeface="Calibri"/>
                <a:cs typeface="Calibri"/>
                <a:sym typeface="Calibri"/>
              </a:rPr>
              <a:t>- lower production costs via better production methods</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How good is Sftware</a:t>
            </a:r>
            <a:endParaRPr/>
          </a:p>
          <a:p>
            <a:pPr marL="0" lvl="0" indent="0" algn="l" rtl="0">
              <a:spcBef>
                <a:spcPts val="0"/>
              </a:spcBef>
              <a:spcAft>
                <a:spcPts val="0"/>
              </a:spcAft>
              <a:buNone/>
            </a:pPr>
            <a:r>
              <a:rPr lang="en-US">
                <a:latin typeface="Calibri"/>
                <a:ea typeface="Calibri"/>
                <a:cs typeface="Calibri"/>
                <a:sym typeface="Calibri"/>
              </a:rPr>
              <a:t>- example: microsoft warranty</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Is software creation an art form or is it engineering?</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Outline Note:</a:t>
            </a:r>
            <a:endParaRPr/>
          </a:p>
          <a:p>
            <a:pPr marL="0" lvl="0" indent="0" algn="l" rtl="0">
              <a:spcBef>
                <a:spcPts val="0"/>
              </a:spcBef>
              <a:spcAft>
                <a:spcPts val="0"/>
              </a:spcAft>
              <a:buNone/>
            </a:pPr>
            <a:r>
              <a:rPr lang="en-US">
                <a:latin typeface="Calibri"/>
                <a:ea typeface="Calibri"/>
                <a:cs typeface="Calibri"/>
                <a:sym typeface="Calibri"/>
              </a:rPr>
              <a:t>We will address each of these questions in this lecture, in reverse order.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11</a:t>
            </a:fld>
            <a:endParaRPr sz="1300">
              <a:solidFill>
                <a:schemeClr val="dk1"/>
              </a:solidFill>
              <a:latin typeface="Calibri"/>
              <a:ea typeface="Calibri"/>
              <a:cs typeface="Calibri"/>
              <a:sym typeface="Calibri"/>
            </a:endParaRPr>
          </a:p>
        </p:txBody>
      </p:sp>
      <p:sp>
        <p:nvSpPr>
          <p:cNvPr id="168" name="Google Shape;168;p11: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9" name="Google Shape;169;p11: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latin typeface="Calibri"/>
                <a:ea typeface="Calibri"/>
                <a:cs typeface="Calibri"/>
                <a:sym typeface="Calibri"/>
              </a:rPr>
              <a:t>Point of SQA</a:t>
            </a:r>
            <a:endParaRPr/>
          </a:p>
          <a:p>
            <a:pPr marL="0" lvl="0" indent="0" algn="l" rtl="0">
              <a:spcBef>
                <a:spcPts val="0"/>
              </a:spcBef>
              <a:spcAft>
                <a:spcPts val="0"/>
              </a:spcAft>
              <a:buNone/>
            </a:pPr>
            <a:r>
              <a:rPr lang="en-US">
                <a:latin typeface="Calibri"/>
                <a:ea typeface="Calibri"/>
                <a:cs typeface="Calibri"/>
                <a:sym typeface="Calibri"/>
              </a:rPr>
              <a:t>- better product</a:t>
            </a:r>
            <a:endParaRPr/>
          </a:p>
          <a:p>
            <a:pPr marL="0" lvl="0" indent="0" algn="l" rtl="0">
              <a:spcBef>
                <a:spcPts val="0"/>
              </a:spcBef>
              <a:spcAft>
                <a:spcPts val="0"/>
              </a:spcAft>
              <a:buNone/>
            </a:pPr>
            <a:r>
              <a:rPr lang="en-US">
                <a:latin typeface="Calibri"/>
                <a:ea typeface="Calibri"/>
                <a:cs typeface="Calibri"/>
                <a:sym typeface="Calibri"/>
              </a:rPr>
              <a:t>- lower production costs via better production methods</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How good is Sftware</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 example: microsoft warranty</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Is software creation an art form or is it engineering?</a:t>
            </a:r>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Outline Note:</a:t>
            </a:r>
            <a:endParaRPr/>
          </a:p>
          <a:p>
            <a:pPr marL="0" lvl="0" indent="0" algn="l" rtl="0">
              <a:spcBef>
                <a:spcPts val="0"/>
              </a:spcBef>
              <a:spcAft>
                <a:spcPts val="0"/>
              </a:spcAft>
              <a:buNone/>
            </a:pPr>
            <a:r>
              <a:rPr lang="en-US">
                <a:latin typeface="Calibri"/>
                <a:ea typeface="Calibri"/>
                <a:cs typeface="Calibri"/>
                <a:sym typeface="Calibri"/>
              </a:rPr>
              <a:t>We will address each of these questions in this lecture, in reverse order.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12</a:t>
            </a:fld>
            <a:endParaRPr sz="1300">
              <a:solidFill>
                <a:schemeClr val="dk1"/>
              </a:solidFill>
              <a:latin typeface="Calibri"/>
              <a:ea typeface="Calibri"/>
              <a:cs typeface="Calibri"/>
              <a:sym typeface="Calibri"/>
            </a:endParaRPr>
          </a:p>
        </p:txBody>
      </p:sp>
      <p:sp>
        <p:nvSpPr>
          <p:cNvPr id="176" name="Google Shape;176;p12: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7" name="Google Shape;177;p12: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13</a:t>
            </a:fld>
            <a:endParaRPr sz="1300">
              <a:solidFill>
                <a:schemeClr val="dk1"/>
              </a:solidFill>
              <a:latin typeface="Calibri"/>
              <a:ea typeface="Calibri"/>
              <a:cs typeface="Calibri"/>
              <a:sym typeface="Calibri"/>
            </a:endParaRPr>
          </a:p>
        </p:txBody>
      </p:sp>
      <p:sp>
        <p:nvSpPr>
          <p:cNvPr id="186" name="Google Shape;186;p13: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7" name="Google Shape;187;p13: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latin typeface="Calibri"/>
                <a:ea typeface="Calibri"/>
                <a:cs typeface="Calibri"/>
                <a:sym typeface="Calibri"/>
              </a:rPr>
              <a:t>SQA – check/audit every processes involved in SDLC</a:t>
            </a:r>
            <a:endParaRPr/>
          </a:p>
          <a:p>
            <a:pPr marL="0" lvl="0" indent="0" algn="l" rtl="0">
              <a:spcBef>
                <a:spcPts val="0"/>
              </a:spcBef>
              <a:spcAft>
                <a:spcPts val="0"/>
              </a:spcAft>
              <a:buNone/>
            </a:pPr>
            <a:r>
              <a:rPr lang="en-US">
                <a:latin typeface="Calibri"/>
                <a:ea typeface="Calibri"/>
                <a:cs typeface="Calibri"/>
                <a:sym typeface="Calibri"/>
              </a:rPr>
              <a:t>ST – analyse software items have differences between existing and required conditions </a:t>
            </a:r>
            <a:endParaRPr/>
          </a:p>
          <a:p>
            <a:pPr marL="0" lvl="0" indent="0" algn="l" rtl="0">
              <a:spcBef>
                <a:spcPts val="0"/>
              </a:spcBef>
              <a:spcAft>
                <a:spcPts val="0"/>
              </a:spcAft>
              <a:buNone/>
            </a:pPr>
            <a:r>
              <a:rPr lang="en-US">
                <a:latin typeface="Calibri"/>
                <a:ea typeface="Calibri"/>
                <a:cs typeface="Calibri"/>
                <a:sym typeface="Calibri"/>
              </a:rPr>
              <a:t>    –   which a system or component is executed under specified conditions, the results are observed or recorded, and an evaluation is made of some aspect of the system or component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94" name="Google Shape;194;p14: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5: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t>Brief &amp; gives example.</a:t>
            </a:r>
            <a:endParaRPr/>
          </a:p>
        </p:txBody>
      </p:sp>
      <p:sp>
        <p:nvSpPr>
          <p:cNvPr id="200" name="Google Shape;200;p15: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6: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b="1"/>
              <a:t>Activity 4.0: </a:t>
            </a:r>
            <a:r>
              <a:rPr lang="en-US"/>
              <a:t>20 mins</a:t>
            </a:r>
            <a:endParaRPr/>
          </a:p>
          <a:p>
            <a:pPr marL="228600" lvl="0" indent="-228600" algn="l" rtl="0">
              <a:spcBef>
                <a:spcPts val="360"/>
              </a:spcBef>
              <a:spcAft>
                <a:spcPts val="0"/>
              </a:spcAft>
              <a:buClr>
                <a:schemeClr val="dk1"/>
              </a:buClr>
              <a:buSzPts val="1200"/>
              <a:buFont typeface="Calibri"/>
              <a:buAutoNum type="arabicPeriod"/>
            </a:pPr>
            <a:r>
              <a:rPr lang="en-US"/>
              <a:t>Form 8 groups. Every group is assigned with 1 cause of SW. Only group #8 is assigned 2 causes #8 and #9.</a:t>
            </a:r>
            <a:endParaRPr/>
          </a:p>
          <a:p>
            <a:pPr marL="228600" lvl="0" indent="-228600" algn="l" rtl="0">
              <a:spcBef>
                <a:spcPts val="360"/>
              </a:spcBef>
              <a:spcAft>
                <a:spcPts val="0"/>
              </a:spcAft>
              <a:buClr>
                <a:schemeClr val="dk1"/>
              </a:buClr>
              <a:buSzPts val="1200"/>
              <a:buFont typeface="Calibri"/>
              <a:buAutoNum type="arabicPeriod"/>
            </a:pPr>
            <a:r>
              <a:rPr lang="en-US"/>
              <a:t>Every group, take out 1 piece of A4 paper, draw a pictographic to represent the given cause of error (Refer slide #16-24). Prepare drawing in 10 mins.</a:t>
            </a:r>
            <a:endParaRPr/>
          </a:p>
          <a:p>
            <a:pPr marL="228600" lvl="0" indent="-228600" algn="l" rtl="0">
              <a:spcBef>
                <a:spcPts val="360"/>
              </a:spcBef>
              <a:spcAft>
                <a:spcPts val="0"/>
              </a:spcAft>
              <a:buClr>
                <a:schemeClr val="dk1"/>
              </a:buClr>
              <a:buSzPts val="1200"/>
              <a:buFont typeface="Calibri"/>
              <a:buAutoNum type="arabicPeriod"/>
            </a:pPr>
            <a:r>
              <a:rPr lang="en-US"/>
              <a:t>After 10 min, snapshot the drawing and upload in a padlet, give 3 mins to student to read &amp; observe. https://padlet.com/rohayanti1/softErrors</a:t>
            </a:r>
            <a:endParaRPr/>
          </a:p>
          <a:p>
            <a:pPr marL="228600" lvl="0" indent="-228600" algn="l" rtl="0">
              <a:spcBef>
                <a:spcPts val="360"/>
              </a:spcBef>
              <a:spcAft>
                <a:spcPts val="0"/>
              </a:spcAft>
              <a:buClr>
                <a:schemeClr val="dk1"/>
              </a:buClr>
              <a:buSzPts val="1200"/>
              <a:buFont typeface="Calibri"/>
              <a:buAutoNum type="arabicPeriod"/>
            </a:pPr>
            <a:r>
              <a:rPr lang="en-US"/>
              <a:t>Ask student to list the causes of SW errors (Answer in slide #25) for the next famous software disaster cases (Refer slide #26-33). 5 min</a:t>
            </a:r>
            <a:endParaRPr/>
          </a:p>
          <a:p>
            <a:pPr marL="228600" lvl="0" indent="-152400" algn="l" rtl="0">
              <a:spcBef>
                <a:spcPts val="360"/>
              </a:spcBef>
              <a:spcAft>
                <a:spcPts val="0"/>
              </a:spcAft>
              <a:buClr>
                <a:schemeClr val="dk1"/>
              </a:buClr>
              <a:buSzPts val="1200"/>
              <a:buFont typeface="Calibri"/>
              <a:buNone/>
            </a:pPr>
            <a:endParaRPr/>
          </a:p>
        </p:txBody>
      </p:sp>
      <p:sp>
        <p:nvSpPr>
          <p:cNvPr id="207" name="Google Shape;207;p16: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7: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17</a:t>
            </a:fld>
            <a:endParaRPr sz="1300">
              <a:solidFill>
                <a:schemeClr val="dk1"/>
              </a:solidFill>
              <a:latin typeface="Calibri"/>
              <a:ea typeface="Calibri"/>
              <a:cs typeface="Calibri"/>
              <a:sym typeface="Calibri"/>
            </a:endParaRPr>
          </a:p>
        </p:txBody>
      </p:sp>
      <p:sp>
        <p:nvSpPr>
          <p:cNvPr id="213" name="Google Shape;213;p17: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4" name="Google Shape;214;p17: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b="1"/>
              <a:t>Activity 4.0: </a:t>
            </a:r>
            <a:r>
              <a:rPr lang="en-US"/>
              <a:t>20 mins</a:t>
            </a:r>
            <a:endParaRPr/>
          </a:p>
          <a:p>
            <a:pPr marL="228600" lvl="0" indent="-228600" algn="l" rtl="0">
              <a:spcBef>
                <a:spcPts val="360"/>
              </a:spcBef>
              <a:spcAft>
                <a:spcPts val="0"/>
              </a:spcAft>
              <a:buClr>
                <a:schemeClr val="dk1"/>
              </a:buClr>
              <a:buSzPts val="1200"/>
              <a:buFont typeface="Calibri"/>
              <a:buAutoNum type="arabicPeriod"/>
            </a:pPr>
            <a:r>
              <a:rPr lang="en-US"/>
              <a:t>Form 8 groups. Every group is assigned with 1 cause of SW. Only group #8 is assigned 2 causes #8 and #9.</a:t>
            </a:r>
            <a:endParaRPr/>
          </a:p>
          <a:p>
            <a:pPr marL="228600" lvl="0" indent="-228600" algn="l" rtl="0">
              <a:spcBef>
                <a:spcPts val="360"/>
              </a:spcBef>
              <a:spcAft>
                <a:spcPts val="0"/>
              </a:spcAft>
              <a:buClr>
                <a:schemeClr val="dk1"/>
              </a:buClr>
              <a:buSzPts val="1200"/>
              <a:buFont typeface="Calibri"/>
              <a:buAutoNum type="arabicPeriod"/>
            </a:pPr>
            <a:r>
              <a:rPr lang="en-US"/>
              <a:t>Every group, take out 1 piece of A4 paper, draw a pictographic to represent the given cause of error (Refer slide #16-24). Prepare drawing in 10 mins.</a:t>
            </a:r>
            <a:endParaRPr/>
          </a:p>
          <a:p>
            <a:pPr marL="228600" lvl="0" indent="-228600" algn="l" rtl="0">
              <a:spcBef>
                <a:spcPts val="360"/>
              </a:spcBef>
              <a:spcAft>
                <a:spcPts val="0"/>
              </a:spcAft>
              <a:buClr>
                <a:schemeClr val="dk1"/>
              </a:buClr>
              <a:buSzPts val="1200"/>
              <a:buFont typeface="Calibri"/>
              <a:buAutoNum type="arabicPeriod"/>
            </a:pPr>
            <a:r>
              <a:rPr lang="en-US"/>
              <a:t>After 10 min, snapshot the drawing and upload in a padlet, give 3 mins to student to read &amp; observe. https://padlet.com/rohayanti1/softErrors</a:t>
            </a:r>
            <a:endParaRPr/>
          </a:p>
          <a:p>
            <a:pPr marL="228600" lvl="0" indent="-228600" algn="l" rtl="0">
              <a:spcBef>
                <a:spcPts val="360"/>
              </a:spcBef>
              <a:spcAft>
                <a:spcPts val="0"/>
              </a:spcAft>
              <a:buClr>
                <a:schemeClr val="dk1"/>
              </a:buClr>
              <a:buSzPts val="1200"/>
              <a:buFont typeface="Calibri"/>
              <a:buAutoNum type="arabicPeriod"/>
            </a:pPr>
            <a:r>
              <a:rPr lang="en-US"/>
              <a:t>Ask student to list the causes of SW errors (Answer in slide #25) for the next famous software disaster cases (Refer slide #26-33). 5 min</a:t>
            </a:r>
            <a:endParaRPr/>
          </a:p>
          <a:p>
            <a:pPr marL="228600" lvl="0" indent="-152400" algn="l" rtl="0">
              <a:spcBef>
                <a:spcPts val="360"/>
              </a:spcBef>
              <a:spcAft>
                <a:spcPts val="0"/>
              </a:spcAft>
              <a:buClr>
                <a:schemeClr val="dk1"/>
              </a:buClr>
              <a:buSzPts val="1200"/>
              <a:buFont typeface="Calibri"/>
              <a:buNone/>
            </a:pPr>
            <a:endParaRPr/>
          </a:p>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8: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20" name="Google Shape;220;p18: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26" name="Google Shape;226;p19: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0: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32" name="Google Shape;232;p20: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1: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38" name="Google Shape;238;p21: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2: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44" name="Google Shape;244;p22: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3: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50" name="Google Shape;250;p23: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56" name="Google Shape;256;p24: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5: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62" name="Google Shape;262;p25: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6: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68" name="Google Shape;268;p26: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7: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7: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lnSpc>
                <a:spcPct val="80000"/>
              </a:lnSpc>
              <a:spcBef>
                <a:spcPts val="0"/>
              </a:spcBef>
              <a:spcAft>
                <a:spcPts val="0"/>
              </a:spcAft>
              <a:buNone/>
            </a:pPr>
            <a:r>
              <a:rPr lang="en-US" sz="930"/>
              <a:t>Answer:</a:t>
            </a:r>
            <a:endParaRPr/>
          </a:p>
          <a:p>
            <a:pPr marL="0" lvl="0" indent="0" algn="l" rtl="0">
              <a:lnSpc>
                <a:spcPct val="80000"/>
              </a:lnSpc>
              <a:spcBef>
                <a:spcPts val="279"/>
              </a:spcBef>
              <a:spcAft>
                <a:spcPts val="0"/>
              </a:spcAft>
              <a:buNone/>
            </a:pPr>
            <a:r>
              <a:rPr lang="en-US" sz="930"/>
              <a:t>1. </a:t>
            </a:r>
            <a:endParaRPr sz="930"/>
          </a:p>
          <a:p>
            <a:pPr marL="0" lvl="0" indent="0" algn="l" rtl="0">
              <a:lnSpc>
                <a:spcPct val="80000"/>
              </a:lnSpc>
              <a:spcBef>
                <a:spcPts val="279"/>
              </a:spcBef>
              <a:spcAft>
                <a:spcPts val="0"/>
              </a:spcAft>
              <a:buNone/>
            </a:pPr>
            <a:r>
              <a:rPr lang="en-US" sz="930"/>
              <a:t>Reference:</a:t>
            </a:r>
            <a:endParaRPr/>
          </a:p>
          <a:p>
            <a:pPr marL="228600" lvl="0" indent="-228600" algn="l" rtl="0">
              <a:lnSpc>
                <a:spcPct val="80000"/>
              </a:lnSpc>
              <a:spcBef>
                <a:spcPts val="279"/>
              </a:spcBef>
              <a:spcAft>
                <a:spcPts val="0"/>
              </a:spcAft>
              <a:buClr>
                <a:schemeClr val="dk1"/>
              </a:buClr>
              <a:buSzPts val="930"/>
              <a:buFont typeface="Calibri"/>
              <a:buAutoNum type="arabicPeriod"/>
            </a:pPr>
            <a:r>
              <a:rPr lang="en-US" sz="930"/>
              <a:t>http://www.devtopics.com/20-famous-software-disasters/</a:t>
            </a:r>
            <a:endParaRPr/>
          </a:p>
          <a:p>
            <a:pPr marL="228600" lvl="0" indent="-169545" algn="l" rtl="0">
              <a:lnSpc>
                <a:spcPct val="80000"/>
              </a:lnSpc>
              <a:spcBef>
                <a:spcPts val="279"/>
              </a:spcBef>
              <a:spcAft>
                <a:spcPts val="0"/>
              </a:spcAft>
              <a:buClr>
                <a:schemeClr val="dk1"/>
              </a:buClr>
              <a:buSzPts val="930"/>
              <a:buFont typeface="Calibri"/>
              <a:buNone/>
            </a:pPr>
            <a:endParaRPr sz="930"/>
          </a:p>
          <a:p>
            <a:pPr marL="457200" lvl="1" indent="0" algn="l" rtl="0">
              <a:lnSpc>
                <a:spcPct val="70000"/>
              </a:lnSpc>
              <a:spcBef>
                <a:spcPts val="511"/>
              </a:spcBef>
              <a:spcAft>
                <a:spcPts val="0"/>
              </a:spcAft>
              <a:buNone/>
            </a:pPr>
            <a:r>
              <a:rPr lang="en-US" sz="1704">
                <a:latin typeface="Calibri"/>
                <a:ea typeface="Calibri"/>
                <a:cs typeface="Calibri"/>
                <a:sym typeface="Calibri"/>
              </a:rPr>
              <a:t>1988 shooting down of Airbus 320 by the USS Vincennes - cryptic and misleading output displayed by tracking software.</a:t>
            </a:r>
            <a:endParaRPr/>
          </a:p>
          <a:p>
            <a:pPr marL="457200" lvl="1" indent="0" algn="l" rtl="0">
              <a:lnSpc>
                <a:spcPct val="70000"/>
              </a:lnSpc>
              <a:spcBef>
                <a:spcPts val="511"/>
              </a:spcBef>
              <a:spcAft>
                <a:spcPts val="0"/>
              </a:spcAft>
              <a:buNone/>
            </a:pPr>
            <a:r>
              <a:rPr lang="en-US" sz="1704">
                <a:latin typeface="Calibri"/>
                <a:ea typeface="Calibri"/>
                <a:cs typeface="Calibri"/>
                <a:sym typeface="Calibri"/>
              </a:rPr>
              <a:t>1991 patriot missile failure - inaccurate calculation of time due to computer arithmetic errors.</a:t>
            </a:r>
            <a:endParaRPr/>
          </a:p>
          <a:p>
            <a:pPr marL="457200" lvl="1" indent="0" algn="l" rtl="0">
              <a:lnSpc>
                <a:spcPct val="70000"/>
              </a:lnSpc>
              <a:spcBef>
                <a:spcPts val="511"/>
              </a:spcBef>
              <a:spcAft>
                <a:spcPts val="0"/>
              </a:spcAft>
              <a:buNone/>
            </a:pPr>
            <a:r>
              <a:rPr lang="en-US" sz="1704">
                <a:latin typeface="Calibri"/>
                <a:ea typeface="Calibri"/>
                <a:cs typeface="Calibri"/>
                <a:sym typeface="Calibri"/>
              </a:rPr>
              <a:t>London Ambulance Service Computer Aided Dispatch System – several deaths.</a:t>
            </a:r>
            <a:endParaRPr/>
          </a:p>
          <a:p>
            <a:pPr marL="457200" lvl="1" indent="0" algn="l" rtl="0">
              <a:lnSpc>
                <a:spcPct val="70000"/>
              </a:lnSpc>
              <a:spcBef>
                <a:spcPts val="511"/>
              </a:spcBef>
              <a:spcAft>
                <a:spcPts val="0"/>
              </a:spcAft>
              <a:buNone/>
            </a:pPr>
            <a:r>
              <a:rPr lang="en-US" sz="1704">
                <a:latin typeface="Calibri"/>
                <a:ea typeface="Calibri"/>
                <a:cs typeface="Calibri"/>
                <a:sym typeface="Calibri"/>
              </a:rPr>
              <a:t>On June 3, 1980, the North American Aerospace Defense Command (NORAD) reported that the U.S. was under missile attack. </a:t>
            </a:r>
            <a:endParaRPr/>
          </a:p>
          <a:p>
            <a:pPr marL="457200" lvl="1" indent="0" algn="l" rtl="0">
              <a:lnSpc>
                <a:spcPct val="70000"/>
              </a:lnSpc>
              <a:spcBef>
                <a:spcPts val="511"/>
              </a:spcBef>
              <a:spcAft>
                <a:spcPts val="0"/>
              </a:spcAft>
              <a:buNone/>
            </a:pPr>
            <a:r>
              <a:rPr lang="en-US" sz="1704">
                <a:latin typeface="Calibri"/>
                <a:ea typeface="Calibri"/>
                <a:cs typeface="Calibri"/>
                <a:sym typeface="Calibri"/>
              </a:rPr>
              <a:t>First operational launch attempt of the space shuttle, whose real-time operating software consists of about 500,000 lines of code, failed - synchronization problem among its flight-control computers. </a:t>
            </a:r>
            <a:endParaRPr/>
          </a:p>
          <a:p>
            <a:pPr marL="457200" lvl="1" indent="0" algn="l" rtl="0">
              <a:lnSpc>
                <a:spcPct val="70000"/>
              </a:lnSpc>
              <a:spcBef>
                <a:spcPts val="511"/>
              </a:spcBef>
              <a:spcAft>
                <a:spcPts val="0"/>
              </a:spcAft>
              <a:buNone/>
            </a:pPr>
            <a:r>
              <a:rPr lang="en-US" sz="1704">
                <a:latin typeface="Calibri"/>
                <a:ea typeface="Calibri"/>
                <a:cs typeface="Calibri"/>
                <a:sym typeface="Calibri"/>
              </a:rPr>
              <a:t>9 hour breakdown of AT&amp;T's long-distance telephone network - caused by an untested code patch.</a:t>
            </a:r>
            <a:endParaRPr/>
          </a:p>
          <a:p>
            <a:pPr marL="0" lvl="0" indent="0" algn="l" rtl="0">
              <a:lnSpc>
                <a:spcPct val="80000"/>
              </a:lnSpc>
              <a:spcBef>
                <a:spcPts val="279"/>
              </a:spcBef>
              <a:spcAft>
                <a:spcPts val="0"/>
              </a:spcAft>
              <a:buClr>
                <a:schemeClr val="dk1"/>
              </a:buClr>
              <a:buSzPts val="930"/>
              <a:buFont typeface="Calibri"/>
              <a:buNone/>
            </a:pPr>
            <a:endParaRPr sz="930"/>
          </a:p>
        </p:txBody>
      </p:sp>
      <p:sp>
        <p:nvSpPr>
          <p:cNvPr id="275" name="Google Shape;275;p27: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8: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82" name="Google Shape;282;p28: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9: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89" name="Google Shape;289;p29: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0: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96" name="Google Shape;296;p30: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1: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03" name="Google Shape;303;p31: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2: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10" name="Google Shape;310;p32: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3: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17" name="Google Shape;317;p33: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4: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24" name="Google Shape;324;p34: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5: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31" name="Google Shape;331;p35: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6: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a:solidFill>
                  <a:schemeClr val="dk1"/>
                </a:solidFill>
                <a:latin typeface="Calibri"/>
                <a:ea typeface="Calibri"/>
                <a:cs typeface="Calibri"/>
                <a:sym typeface="Calibri"/>
              </a:rPr>
              <a:t>36</a:t>
            </a:fld>
            <a:endParaRPr sz="1300">
              <a:solidFill>
                <a:schemeClr val="dk1"/>
              </a:solidFill>
              <a:latin typeface="Calibri"/>
              <a:ea typeface="Calibri"/>
              <a:cs typeface="Calibri"/>
              <a:sym typeface="Calibri"/>
            </a:endParaRPr>
          </a:p>
        </p:txBody>
      </p:sp>
      <p:sp>
        <p:nvSpPr>
          <p:cNvPr id="338" name="Google Shape;338;p36: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9" name="Google Shape;339;p36: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609600" lvl="0" indent="-609600" algn="l" rtl="0">
              <a:spcBef>
                <a:spcPts val="0"/>
              </a:spcBef>
              <a:spcAft>
                <a:spcPts val="0"/>
              </a:spcAft>
              <a:buNone/>
            </a:pPr>
            <a:r>
              <a:rPr lang="en-US" b="1">
                <a:latin typeface="Calibri"/>
                <a:ea typeface="Calibri"/>
                <a:cs typeface="Calibri"/>
                <a:sym typeface="Calibri"/>
              </a:rPr>
              <a:t>Activity 5.0</a:t>
            </a:r>
            <a:r>
              <a:rPr lang="en-US">
                <a:latin typeface="Calibri"/>
                <a:ea typeface="Calibri"/>
                <a:cs typeface="Calibri"/>
                <a:sym typeface="Calibri"/>
              </a:rPr>
              <a:t>:</a:t>
            </a:r>
            <a:endParaRPr/>
          </a:p>
          <a:p>
            <a:pPr marL="609600" lvl="0" indent="-609600" algn="l" rtl="0">
              <a:spcBef>
                <a:spcPts val="360"/>
              </a:spcBef>
              <a:spcAft>
                <a:spcPts val="0"/>
              </a:spcAft>
              <a:buClr>
                <a:schemeClr val="dk1"/>
              </a:buClr>
              <a:buSzPts val="1200"/>
              <a:buFont typeface="Calibri"/>
              <a:buAutoNum type="arabicPeriod"/>
            </a:pPr>
            <a:r>
              <a:rPr lang="en-US">
                <a:latin typeface="Calibri"/>
                <a:ea typeface="Calibri"/>
                <a:cs typeface="Calibri"/>
                <a:sym typeface="Calibri"/>
              </a:rPr>
              <a:t>See the vid (4 mins), url: https://www.youtube.com/watch?v=yAtIBswQ-P8Think individually for 1 minute and complete the answer in Table 1.</a:t>
            </a:r>
            <a:endParaRPr/>
          </a:p>
          <a:p>
            <a:pPr marL="609600" lvl="0" indent="-609600" algn="l" rtl="0">
              <a:spcBef>
                <a:spcPts val="360"/>
              </a:spcBef>
              <a:spcAft>
                <a:spcPts val="0"/>
              </a:spcAft>
              <a:buClr>
                <a:schemeClr val="dk1"/>
              </a:buClr>
              <a:buSzPts val="1200"/>
              <a:buFont typeface="Calibri"/>
              <a:buAutoNum type="arabicPeriod"/>
            </a:pPr>
            <a:r>
              <a:rPr lang="en-US">
                <a:latin typeface="Calibri"/>
                <a:ea typeface="Calibri"/>
                <a:cs typeface="Calibri"/>
                <a:sym typeface="Calibri"/>
              </a:rPr>
              <a:t>Discuss with other participants beside you for 2 minutes.</a:t>
            </a:r>
            <a:endParaRPr/>
          </a:p>
          <a:p>
            <a:pPr marL="609600" lvl="0" indent="-609600" algn="l" rtl="0">
              <a:spcBef>
                <a:spcPts val="360"/>
              </a:spcBef>
              <a:spcAft>
                <a:spcPts val="0"/>
              </a:spcAft>
              <a:buClr>
                <a:schemeClr val="dk1"/>
              </a:buClr>
              <a:buSzPts val="1200"/>
              <a:buFont typeface="Calibri"/>
              <a:buAutoNum type="arabicPeriod"/>
            </a:pPr>
            <a:r>
              <a:rPr lang="en-US">
                <a:latin typeface="Calibri"/>
                <a:ea typeface="Calibri"/>
                <a:cs typeface="Calibri"/>
                <a:sym typeface="Calibri"/>
              </a:rPr>
              <a:t>Share with the class when asked</a:t>
            </a:r>
            <a:endParaRPr>
              <a:latin typeface="Calibri"/>
              <a:ea typeface="Calibri"/>
              <a:cs typeface="Calibri"/>
              <a:sym typeface="Calibri"/>
            </a:endParaRPr>
          </a:p>
          <a:p>
            <a:pPr marL="609600" lvl="0" indent="-609600" algn="l" rtl="0">
              <a:spcBef>
                <a:spcPts val="360"/>
              </a:spcBef>
              <a:spcAft>
                <a:spcPts val="0"/>
              </a:spcAft>
              <a:buNone/>
            </a:pPr>
            <a:endParaRPr>
              <a:latin typeface="Calibri"/>
              <a:ea typeface="Calibri"/>
              <a:cs typeface="Calibri"/>
              <a:sym typeface="Calibri"/>
            </a:endParaRPr>
          </a:p>
          <a:p>
            <a:pPr marL="609600" lvl="0" indent="-609600" algn="l" rtl="0">
              <a:spcBef>
                <a:spcPts val="360"/>
              </a:spcBef>
              <a:spcAft>
                <a:spcPts val="0"/>
              </a:spcAft>
              <a:buNone/>
            </a:pPr>
            <a:r>
              <a:rPr lang="en-US">
                <a:latin typeface="Calibri"/>
                <a:ea typeface="Calibri"/>
                <a:cs typeface="Calibri"/>
                <a:sym typeface="Calibri"/>
              </a:rPr>
              <a:t>"software error"   		        </a:t>
            </a:r>
            <a:endParaRPr/>
          </a:p>
          <a:p>
            <a:pPr marL="609600" lvl="0" indent="-609600" algn="l" rtl="0">
              <a:spcBef>
                <a:spcPts val="360"/>
              </a:spcBef>
              <a:spcAft>
                <a:spcPts val="0"/>
              </a:spcAft>
              <a:buNone/>
            </a:pPr>
            <a:r>
              <a:rPr lang="en-US">
                <a:latin typeface="Calibri"/>
                <a:ea typeface="Calibri"/>
                <a:cs typeface="Calibri"/>
                <a:sym typeface="Calibri"/>
              </a:rPr>
              <a:t>"software fault" 			        </a:t>
            </a:r>
            <a:endParaRPr/>
          </a:p>
          <a:p>
            <a:pPr marL="609600" lvl="0" indent="-609600" algn="l" rtl="0">
              <a:spcBef>
                <a:spcPts val="360"/>
              </a:spcBef>
              <a:spcAft>
                <a:spcPts val="0"/>
              </a:spcAft>
              <a:buNone/>
            </a:pPr>
            <a:r>
              <a:rPr lang="en-US">
                <a:latin typeface="Calibri"/>
                <a:ea typeface="Calibri"/>
                <a:cs typeface="Calibri"/>
                <a:sym typeface="Calibri"/>
              </a:rPr>
              <a:t>"software failure"</a:t>
            </a:r>
            <a:endParaRPr/>
          </a:p>
          <a:p>
            <a:pPr marL="609600" lvl="0" indent="-609600" algn="l" rtl="0">
              <a:spcBef>
                <a:spcPts val="600"/>
              </a:spcBef>
              <a:spcAft>
                <a:spcPts val="0"/>
              </a:spcAft>
              <a:buNone/>
            </a:pPr>
            <a:endParaRPr sz="2000">
              <a:latin typeface="Calibri"/>
              <a:ea typeface="Calibri"/>
              <a:cs typeface="Calibri"/>
              <a:sym typeface="Calibri"/>
            </a:endParaRPr>
          </a:p>
          <a:p>
            <a:pPr marL="609600" lvl="0" indent="-609600" algn="l" rtl="0">
              <a:spcBef>
                <a:spcPts val="360"/>
              </a:spcBef>
              <a:spcAft>
                <a:spcPts val="0"/>
              </a:spcAft>
              <a:buNone/>
            </a:pPr>
            <a:r>
              <a:rPr lang="en-US">
                <a:latin typeface="Calibri"/>
                <a:ea typeface="Calibri"/>
                <a:cs typeface="Calibri"/>
                <a:sym typeface="Calibri"/>
              </a:rPr>
              <a:t>types of errors</a:t>
            </a:r>
            <a:endParaRPr/>
          </a:p>
          <a:p>
            <a:pPr marL="1371600" lvl="2" indent="-457200" algn="l" rtl="0">
              <a:spcBef>
                <a:spcPts val="360"/>
              </a:spcBef>
              <a:spcAft>
                <a:spcPts val="0"/>
              </a:spcAft>
              <a:buClr>
                <a:schemeClr val="dk1"/>
              </a:buClr>
              <a:buSzPts val="1200"/>
              <a:buFont typeface="Noto Sans Symbols"/>
              <a:buAutoNum type="arabicPeriod"/>
            </a:pPr>
            <a:r>
              <a:rPr lang="en-US">
                <a:latin typeface="Calibri"/>
                <a:ea typeface="Calibri"/>
                <a:cs typeface="Calibri"/>
                <a:sym typeface="Calibri"/>
              </a:rPr>
              <a:t>code error</a:t>
            </a:r>
            <a:endParaRPr/>
          </a:p>
          <a:p>
            <a:pPr marL="1371600" lvl="2" indent="-457200" algn="l" rtl="0">
              <a:spcBef>
                <a:spcPts val="360"/>
              </a:spcBef>
              <a:spcAft>
                <a:spcPts val="0"/>
              </a:spcAft>
              <a:buClr>
                <a:schemeClr val="dk1"/>
              </a:buClr>
              <a:buSzPts val="1200"/>
              <a:buFont typeface="Noto Sans Symbols"/>
              <a:buAutoNum type="arabicPeriod"/>
            </a:pPr>
            <a:r>
              <a:rPr lang="en-US">
                <a:latin typeface="Calibri"/>
                <a:ea typeface="Calibri"/>
                <a:cs typeface="Calibri"/>
                <a:sym typeface="Calibri"/>
              </a:rPr>
              <a:t>procedure error</a:t>
            </a:r>
            <a:endParaRPr/>
          </a:p>
          <a:p>
            <a:pPr marL="1371600" lvl="2" indent="-457200" algn="l" rtl="0">
              <a:spcBef>
                <a:spcPts val="360"/>
              </a:spcBef>
              <a:spcAft>
                <a:spcPts val="0"/>
              </a:spcAft>
              <a:buClr>
                <a:schemeClr val="dk1"/>
              </a:buClr>
              <a:buSzPts val="1200"/>
              <a:buFont typeface="Noto Sans Symbols"/>
              <a:buAutoNum type="arabicPeriod"/>
            </a:pPr>
            <a:r>
              <a:rPr lang="en-US">
                <a:latin typeface="Calibri"/>
                <a:ea typeface="Calibri"/>
                <a:cs typeface="Calibri"/>
                <a:sym typeface="Calibri"/>
              </a:rPr>
              <a:t>documentation error</a:t>
            </a:r>
            <a:endParaRPr/>
          </a:p>
          <a:p>
            <a:pPr marL="1371600" lvl="2" indent="-457200" algn="l" rtl="0">
              <a:spcBef>
                <a:spcPts val="360"/>
              </a:spcBef>
              <a:spcAft>
                <a:spcPts val="0"/>
              </a:spcAft>
              <a:buClr>
                <a:schemeClr val="dk1"/>
              </a:buClr>
              <a:buSzPts val="1200"/>
              <a:buFont typeface="Noto Sans Symbols"/>
              <a:buAutoNum type="arabicPeriod"/>
            </a:pPr>
            <a:r>
              <a:rPr lang="en-US">
                <a:latin typeface="Calibri"/>
                <a:ea typeface="Calibri"/>
                <a:cs typeface="Calibri"/>
                <a:sym typeface="Calibri"/>
              </a:rPr>
              <a:t>software data error</a:t>
            </a:r>
            <a:endParaRPr/>
          </a:p>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7: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47" name="Google Shape;347;p37: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8: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54" name="Google Shape;354;p38: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9: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61" name="Google Shape;361;p39: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0: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69" name="Google Shape;369;p40: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41: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74" name="Google Shape;374;p41: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2: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80" name="Google Shape;380;p42: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3: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388" name="Google Shape;388;p43: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4: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35" name="Google Shape;435;p44: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5: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45: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b="1"/>
              <a:t>Activity</a:t>
            </a:r>
            <a:r>
              <a:rPr lang="en-US"/>
              <a:t>:</a:t>
            </a:r>
            <a:endParaRPr/>
          </a:p>
          <a:p>
            <a:pPr marL="0" lvl="0" indent="0" algn="l" rtl="0">
              <a:spcBef>
                <a:spcPts val="360"/>
              </a:spcBef>
              <a:spcAft>
                <a:spcPts val="0"/>
              </a:spcAft>
              <a:buNone/>
            </a:pPr>
            <a:r>
              <a:rPr lang="en-US" sz="1200">
                <a:latin typeface="Calibri"/>
                <a:ea typeface="Calibri"/>
                <a:cs typeface="Calibri"/>
                <a:sym typeface="Calibri"/>
              </a:rPr>
              <a:t>i) Think individually for 1 minute and complete the answer in a given table below.</a:t>
            </a:r>
            <a:endParaRPr/>
          </a:p>
          <a:p>
            <a:pPr marL="0" lvl="0" indent="0" algn="l" rtl="0">
              <a:spcBef>
                <a:spcPts val="360"/>
              </a:spcBef>
              <a:spcAft>
                <a:spcPts val="0"/>
              </a:spcAft>
              <a:buNone/>
            </a:pPr>
            <a:r>
              <a:rPr lang="en-US" sz="1200">
                <a:latin typeface="Calibri"/>
                <a:ea typeface="Calibri"/>
                <a:cs typeface="Calibri"/>
                <a:sym typeface="Calibri"/>
              </a:rPr>
              <a:t>ii) Discuss with your neighbor for 2 minutes.</a:t>
            </a:r>
            <a:endParaRPr/>
          </a:p>
          <a:p>
            <a:pPr marL="0" lvl="0" indent="0" algn="l" rtl="0">
              <a:spcBef>
                <a:spcPts val="360"/>
              </a:spcBef>
              <a:spcAft>
                <a:spcPts val="0"/>
              </a:spcAft>
              <a:buNone/>
            </a:pPr>
            <a:r>
              <a:rPr lang="en-US" sz="1200">
                <a:latin typeface="Calibri"/>
                <a:ea typeface="Calibri"/>
                <a:cs typeface="Calibri"/>
                <a:sym typeface="Calibri"/>
              </a:rPr>
              <a:t>iii) Share with the class when asked</a:t>
            </a:r>
            <a:endParaRPr/>
          </a:p>
          <a:p>
            <a:pPr marL="0" lvl="0" indent="0" algn="l" rtl="0">
              <a:spcBef>
                <a:spcPts val="360"/>
              </a:spcBef>
              <a:spcAft>
                <a:spcPts val="0"/>
              </a:spcAft>
              <a:buNone/>
            </a:pPr>
            <a:endParaRPr/>
          </a:p>
        </p:txBody>
      </p:sp>
      <p:sp>
        <p:nvSpPr>
          <p:cNvPr id="469" name="Google Shape;469;p45: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6: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46:notes"/>
          <p:cNvSpPr txBox="1">
            <a:spLocks noGrp="1"/>
          </p:cNvSpPr>
          <p:nvPr>
            <p:ph type="body" idx="1"/>
          </p:nvPr>
        </p:nvSpPr>
        <p:spPr>
          <a:xfrm>
            <a:off x="680063" y="4717745"/>
            <a:ext cx="5437550" cy="4468144"/>
          </a:xfrm>
          <a:prstGeom prst="rect">
            <a:avLst/>
          </a:prstGeom>
          <a:noFill/>
          <a:ln>
            <a:noFill/>
          </a:ln>
        </p:spPr>
        <p:txBody>
          <a:bodyPr spcFirstLastPara="1" wrap="square" lIns="96650" tIns="48325" rIns="96650" bIns="48325" anchor="t" anchorCtr="0">
            <a:normAutofit/>
          </a:bodyPr>
          <a:lstStyle/>
          <a:p>
            <a:pPr marL="0" lvl="0" indent="0" algn="l" rtl="0">
              <a:spcBef>
                <a:spcPts val="0"/>
              </a:spcBef>
              <a:spcAft>
                <a:spcPts val="0"/>
              </a:spcAft>
              <a:buNone/>
            </a:pPr>
            <a:r>
              <a:rPr lang="en-US"/>
              <a:t>Activity:</a:t>
            </a:r>
            <a:endParaRPr/>
          </a:p>
          <a:p>
            <a:pPr marL="0" lvl="0" indent="0" algn="l" rtl="0">
              <a:spcBef>
                <a:spcPts val="360"/>
              </a:spcBef>
              <a:spcAft>
                <a:spcPts val="0"/>
              </a:spcAft>
              <a:buNone/>
            </a:pPr>
            <a:r>
              <a:rPr lang="en-US"/>
              <a:t>Show example of SQA activities</a:t>
            </a:r>
            <a:endParaRPr/>
          </a:p>
        </p:txBody>
      </p:sp>
      <p:sp>
        <p:nvSpPr>
          <p:cNvPr id="488" name="Google Shape;488;p46:notes"/>
          <p:cNvSpPr txBox="1">
            <a:spLocks noGrp="1"/>
          </p:cNvSpPr>
          <p:nvPr>
            <p:ph type="sldNum" idx="12"/>
          </p:nvPr>
        </p:nvSpPr>
        <p:spPr>
          <a:xfrm>
            <a:off x="3850245" y="9433846"/>
            <a:ext cx="2945955" cy="495913"/>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7:notes"/>
          <p:cNvSpPr txBox="1">
            <a:spLocks noGrp="1"/>
          </p:cNvSpPr>
          <p:nvPr>
            <p:ph type="body" idx="1"/>
          </p:nvPr>
        </p:nvSpPr>
        <p:spPr>
          <a:xfrm>
            <a:off x="680063" y="4717745"/>
            <a:ext cx="5437550" cy="4468144"/>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496" name="Google Shape;496;p47:notes"/>
          <p:cNvSpPr>
            <a:spLocks noGrp="1" noRot="1" noChangeAspect="1"/>
          </p:cNvSpPr>
          <p:nvPr>
            <p:ph type="sldImg" idx="2"/>
          </p:nvPr>
        </p:nvSpPr>
        <p:spPr>
          <a:xfrm>
            <a:off x="915988" y="746125"/>
            <a:ext cx="496570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6"/>
        <p:cNvGrpSpPr/>
        <p:nvPr/>
      </p:nvGrpSpPr>
      <p:grpSpPr>
        <a:xfrm>
          <a:off x="0" y="0"/>
          <a:ext cx="0" cy="0"/>
          <a:chOff x="0" y="0"/>
          <a:chExt cx="0" cy="0"/>
        </a:xfrm>
      </p:grpSpPr>
      <p:sp>
        <p:nvSpPr>
          <p:cNvPr id="17" name="Google Shape;17;p4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4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9" name="Google Shape;19;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50"/>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50"/>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
        <p:cNvGrpSpPr/>
        <p:nvPr/>
      </p:nvGrpSpPr>
      <p:grpSpPr>
        <a:xfrm>
          <a:off x="0" y="0"/>
          <a:ext cx="0" cy="0"/>
          <a:chOff x="0" y="0"/>
          <a:chExt cx="0" cy="0"/>
        </a:xfrm>
      </p:grpSpPr>
      <p:sp>
        <p:nvSpPr>
          <p:cNvPr id="29" name="Google Shape;29;p5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32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5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6" name="Google Shape;3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53"/>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 name="Google Shape;41;p53"/>
          <p:cNvSpPr txBox="1">
            <a:spLocks noGrp="1"/>
          </p:cNvSpPr>
          <p:nvPr>
            <p:ph type="body" idx="1"/>
          </p:nvPr>
        </p:nvSpPr>
        <p:spPr>
          <a:xfrm>
            <a:off x="457200" y="1219200"/>
            <a:ext cx="4038600" cy="4906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53"/>
          <p:cNvSpPr txBox="1">
            <a:spLocks noGrp="1"/>
          </p:cNvSpPr>
          <p:nvPr>
            <p:ph type="body" idx="2"/>
          </p:nvPr>
        </p:nvSpPr>
        <p:spPr>
          <a:xfrm>
            <a:off x="4648200" y="1219200"/>
            <a:ext cx="4038600" cy="4906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54"/>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54"/>
          <p:cNvSpPr txBox="1">
            <a:spLocks noGrp="1"/>
          </p:cNvSpPr>
          <p:nvPr>
            <p:ph type="body" idx="1"/>
          </p:nvPr>
        </p:nvSpPr>
        <p:spPr>
          <a:xfrm>
            <a:off x="457200" y="1143000"/>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54"/>
          <p:cNvSpPr txBox="1">
            <a:spLocks noGrp="1"/>
          </p:cNvSpPr>
          <p:nvPr>
            <p:ph type="body" idx="2"/>
          </p:nvPr>
        </p:nvSpPr>
        <p:spPr>
          <a:xfrm>
            <a:off x="457200" y="1905000"/>
            <a:ext cx="4040188" cy="42211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54"/>
          <p:cNvSpPr txBox="1">
            <a:spLocks noGrp="1"/>
          </p:cNvSpPr>
          <p:nvPr>
            <p:ph type="body" idx="3"/>
          </p:nvPr>
        </p:nvSpPr>
        <p:spPr>
          <a:xfrm>
            <a:off x="4645025" y="1143000"/>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1" name="Google Shape;51;p54"/>
          <p:cNvSpPr txBox="1">
            <a:spLocks noGrp="1"/>
          </p:cNvSpPr>
          <p:nvPr>
            <p:ph type="body" idx="4"/>
          </p:nvPr>
        </p:nvSpPr>
        <p:spPr>
          <a:xfrm>
            <a:off x="4645025" y="1905000"/>
            <a:ext cx="4041775" cy="42211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2" name="Google Shape;52;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5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5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 name="Google Shape;66;p5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7" name="Google Shape;67;p5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 name="Google Shape;68;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5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 name="Google Shape;73;p58"/>
          <p:cNvSpPr>
            <a:spLocks noGrp="1"/>
          </p:cNvSpPr>
          <p:nvPr>
            <p:ph type="pic" idx="2"/>
          </p:nvPr>
        </p:nvSpPr>
        <p:spPr>
          <a:xfrm>
            <a:off x="1792288" y="612775"/>
            <a:ext cx="5486400" cy="4114800"/>
          </a:xfrm>
          <a:prstGeom prst="rect">
            <a:avLst/>
          </a:prstGeom>
          <a:noFill/>
          <a:ln>
            <a:noFill/>
          </a:ln>
        </p:spPr>
      </p:sp>
      <p:sp>
        <p:nvSpPr>
          <p:cNvPr id="74" name="Google Shape;74;p5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5" name="Google Shape;7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59"/>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59"/>
          <p:cNvSpPr txBox="1">
            <a:spLocks noGrp="1"/>
          </p:cNvSpPr>
          <p:nvPr>
            <p:ph type="body" idx="1"/>
          </p:nvPr>
        </p:nvSpPr>
        <p:spPr>
          <a:xfrm rot="5400000">
            <a:off x="2080419" y="-480218"/>
            <a:ext cx="49831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0"/>
          <p:cNvSpPr txBox="1">
            <a:spLocks noGrp="1"/>
          </p:cNvSpPr>
          <p:nvPr>
            <p:ph type="title"/>
          </p:nvPr>
        </p:nvSpPr>
        <p:spPr>
          <a:xfrm rot="5400000">
            <a:off x="5227638" y="2667001"/>
            <a:ext cx="5851525" cy="1066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 name="Google Shape;86;p60"/>
          <p:cNvSpPr txBox="1">
            <a:spLocks noGrp="1"/>
          </p:cNvSpPr>
          <p:nvPr>
            <p:ph type="body" idx="1"/>
          </p:nvPr>
        </p:nvSpPr>
        <p:spPr>
          <a:xfrm rot="5400000">
            <a:off x="998538" y="-266699"/>
            <a:ext cx="5851525" cy="6934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7" name="Google Shape;87;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48"/>
          <p:cNvPicPr preferRelativeResize="0"/>
          <p:nvPr/>
        </p:nvPicPr>
        <p:blipFill rotWithShape="1">
          <a:blip r:embed="rId14">
            <a:alphaModFix/>
          </a:blip>
          <a:srcRect/>
          <a:stretch/>
        </p:blipFill>
        <p:spPr>
          <a:xfrm>
            <a:off x="1588" y="0"/>
            <a:ext cx="9140825"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O-vliUERNNY"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Calibri"/>
                <a:ea typeface="Calibri"/>
                <a:cs typeface="Calibri"/>
                <a:sym typeface="Calibri"/>
              </a:rPr>
              <a:t>Introduction to Software Quality and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Expectation</a:t>
            </a:r>
            <a:endParaRPr/>
          </a:p>
        </p:txBody>
      </p:sp>
      <p:graphicFrame>
        <p:nvGraphicFramePr>
          <p:cNvPr id="100" name="Google Shape;100;p2"/>
          <p:cNvGraphicFramePr/>
          <p:nvPr/>
        </p:nvGraphicFramePr>
        <p:xfrm>
          <a:off x="683568" y="990600"/>
          <a:ext cx="8003250" cy="4250100"/>
        </p:xfrm>
        <a:graphic>
          <a:graphicData uri="http://schemas.openxmlformats.org/drawingml/2006/table">
            <a:tbl>
              <a:tblPr firstRow="1" firstCol="1" bandRow="1">
                <a:noFill/>
                <a:tableStyleId>{45576D59-A652-4677-8983-46820F983138}</a:tableStyleId>
              </a:tblPr>
              <a:tblGrid>
                <a:gridCol w="933550">
                  <a:extLst>
                    <a:ext uri="{9D8B030D-6E8A-4147-A177-3AD203B41FA5}">
                      <a16:colId xmlns:a16="http://schemas.microsoft.com/office/drawing/2014/main" val="20000"/>
                    </a:ext>
                  </a:extLst>
                </a:gridCol>
                <a:gridCol w="5259150">
                  <a:extLst>
                    <a:ext uri="{9D8B030D-6E8A-4147-A177-3AD203B41FA5}">
                      <a16:colId xmlns:a16="http://schemas.microsoft.com/office/drawing/2014/main" val="20001"/>
                    </a:ext>
                  </a:extLst>
                </a:gridCol>
                <a:gridCol w="1810550">
                  <a:extLst>
                    <a:ext uri="{9D8B030D-6E8A-4147-A177-3AD203B41FA5}">
                      <a16:colId xmlns:a16="http://schemas.microsoft.com/office/drawing/2014/main" val="20002"/>
                    </a:ext>
                  </a:extLst>
                </a:gridCol>
              </a:tblGrid>
              <a:tr h="638200">
                <a:tc>
                  <a:txBody>
                    <a:bodyPr/>
                    <a:lstStyle/>
                    <a:p>
                      <a:pPr marL="0" marR="0" lvl="0" indent="0" algn="l" rtl="0">
                        <a:spcBef>
                          <a:spcPts val="0"/>
                        </a:spcBef>
                        <a:spcAft>
                          <a:spcPts val="0"/>
                        </a:spcAft>
                        <a:buNone/>
                      </a:pPr>
                      <a:r>
                        <a:rPr lang="en-US" sz="1800" b="1" u="none" strike="noStrike" cap="none">
                          <a:solidFill>
                            <a:schemeClr val="dk1"/>
                          </a:solidFill>
                        </a:rPr>
                        <a:t>CLO</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spcBef>
                          <a:spcPts val="0"/>
                        </a:spcBef>
                        <a:spcAft>
                          <a:spcPts val="0"/>
                        </a:spcAft>
                        <a:buNone/>
                      </a:pPr>
                      <a:r>
                        <a:rPr lang="en-US" sz="1800" b="1">
                          <a:solidFill>
                            <a:schemeClr val="dk1"/>
                          </a:solidFill>
                        </a:rPr>
                        <a:t>Expectation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Mark</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008100">
                <a:tc>
                  <a:txBody>
                    <a:bodyPr/>
                    <a:lstStyle/>
                    <a:p>
                      <a:pPr marL="0" marR="0" lvl="0" indent="0" algn="just" rtl="0">
                        <a:spcBef>
                          <a:spcPts val="0"/>
                        </a:spcBef>
                        <a:spcAft>
                          <a:spcPts val="0"/>
                        </a:spcAft>
                        <a:buNone/>
                      </a:pPr>
                      <a:r>
                        <a:rPr lang="en-US" sz="1800" b="1">
                          <a:solidFill>
                            <a:schemeClr val="dk1"/>
                          </a:solidFill>
                        </a:rPr>
                        <a:t>CLO 1</a:t>
                      </a:r>
                      <a:endParaRPr sz="1800" b="1">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US" sz="1800" b="0">
                          <a:solidFill>
                            <a:schemeClr val="dk1"/>
                          </a:solidFill>
                        </a:rPr>
                        <a:t>Understand established software quality and testing concepts, the fundamental test process, test approaches, and principles to support test objectives.</a:t>
                      </a:r>
                      <a:endParaRPr sz="1800" b="0">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b="0">
                          <a:solidFill>
                            <a:schemeClr val="dk1"/>
                          </a:solidFill>
                          <a:latin typeface="Calibri"/>
                          <a:ea typeface="Calibri"/>
                          <a:cs typeface="Calibri"/>
                          <a:sym typeface="Calibri"/>
                        </a:rPr>
                        <a:t>24</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720075">
                <a:tc>
                  <a:txBody>
                    <a:bodyPr/>
                    <a:lstStyle/>
                    <a:p>
                      <a:pPr marL="0" marR="0" lvl="0" indent="0" algn="just" rtl="0">
                        <a:spcBef>
                          <a:spcPts val="0"/>
                        </a:spcBef>
                        <a:spcAft>
                          <a:spcPts val="0"/>
                        </a:spcAft>
                        <a:buNone/>
                      </a:pPr>
                      <a:r>
                        <a:rPr lang="en-US" sz="1800" b="1">
                          <a:solidFill>
                            <a:schemeClr val="dk1"/>
                          </a:solidFill>
                        </a:rPr>
                        <a:t>CLO 2</a:t>
                      </a:r>
                      <a:endParaRPr sz="1800" b="1">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US" sz="1800" b="0">
                          <a:solidFill>
                            <a:schemeClr val="dk1"/>
                          </a:solidFill>
                        </a:rPr>
                        <a:t>Design tests by using established techniques</a:t>
                      </a:r>
                      <a:endParaRPr sz="1800" b="0">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b="0">
                          <a:solidFill>
                            <a:schemeClr val="dk1"/>
                          </a:solidFill>
                          <a:latin typeface="Calibri"/>
                          <a:ea typeface="Calibri"/>
                          <a:cs typeface="Calibri"/>
                          <a:sym typeface="Calibri"/>
                        </a:rPr>
                        <a:t>45</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20075">
                <a:tc>
                  <a:txBody>
                    <a:bodyPr/>
                    <a:lstStyle/>
                    <a:p>
                      <a:pPr marL="0" marR="0" lvl="0" indent="0" algn="just" rtl="0">
                        <a:spcBef>
                          <a:spcPts val="0"/>
                        </a:spcBef>
                        <a:spcAft>
                          <a:spcPts val="0"/>
                        </a:spcAft>
                        <a:buNone/>
                      </a:pPr>
                      <a:r>
                        <a:rPr lang="en-US" sz="1800" b="1">
                          <a:solidFill>
                            <a:schemeClr val="dk1"/>
                          </a:solidFill>
                        </a:rPr>
                        <a:t>CLO 3</a:t>
                      </a:r>
                      <a:endParaRPr sz="1800" b="1">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800" b="0">
                          <a:solidFill>
                            <a:schemeClr val="dk1"/>
                          </a:solidFill>
                        </a:rPr>
                        <a:t>Execute test cases according to test design, and analyze and report on the results of tests.</a:t>
                      </a:r>
                      <a:endParaRPr sz="1800" b="0">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b="0">
                          <a:solidFill>
                            <a:schemeClr val="dk1"/>
                          </a:solidFill>
                          <a:latin typeface="Calibri"/>
                          <a:ea typeface="Calibri"/>
                          <a:cs typeface="Calibri"/>
                          <a:sym typeface="Calibri"/>
                        </a:rPr>
                        <a:t>25</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1163650">
                <a:tc>
                  <a:txBody>
                    <a:bodyPr/>
                    <a:lstStyle/>
                    <a:p>
                      <a:pPr marL="0" marR="0" lvl="0" indent="0" algn="just" rtl="0">
                        <a:spcBef>
                          <a:spcPts val="0"/>
                        </a:spcBef>
                        <a:spcAft>
                          <a:spcPts val="0"/>
                        </a:spcAft>
                        <a:buNone/>
                      </a:pPr>
                      <a:r>
                        <a:rPr lang="en-US" sz="1800" b="1">
                          <a:solidFill>
                            <a:schemeClr val="dk1"/>
                          </a:solidFill>
                        </a:rPr>
                        <a:t>CLO 4</a:t>
                      </a:r>
                      <a:endParaRPr sz="1800" b="1">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US" sz="1800" b="0">
                          <a:solidFill>
                            <a:schemeClr val="dk1"/>
                          </a:solidFill>
                        </a:rPr>
                        <a:t>Ability to do work effectively in a team and lead the team in the test activities throughout the software testing life cycle.</a:t>
                      </a:r>
                      <a:endParaRPr sz="1800" b="0">
                        <a:solidFill>
                          <a:schemeClr val="dk1"/>
                        </a:solidFill>
                        <a:latin typeface="Calibri"/>
                        <a:ea typeface="Calibri"/>
                        <a:cs typeface="Calibri"/>
                        <a:sym typeface="Calibri"/>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800" b="0">
                          <a:solidFill>
                            <a:schemeClr val="dk1"/>
                          </a:solidFill>
                          <a:latin typeface="Calibri"/>
                          <a:ea typeface="Calibri"/>
                          <a:cs typeface="Calibri"/>
                          <a:sym typeface="Calibri"/>
                        </a:rPr>
                        <a:t>6</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Assessment</a:t>
            </a:r>
            <a:endParaRPr/>
          </a:p>
        </p:txBody>
      </p:sp>
      <p:pic>
        <p:nvPicPr>
          <p:cNvPr id="107" name="Google Shape;107;p3"/>
          <p:cNvPicPr preferRelativeResize="0"/>
          <p:nvPr/>
        </p:nvPicPr>
        <p:blipFill rotWithShape="1">
          <a:blip r:embed="rId3">
            <a:alphaModFix/>
          </a:blip>
          <a:srcRect/>
          <a:stretch/>
        </p:blipFill>
        <p:spPr>
          <a:xfrm>
            <a:off x="1166812" y="1340768"/>
            <a:ext cx="6810375" cy="3571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827584" y="116632"/>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SQA Section 3 Rules</a:t>
            </a:r>
            <a:endParaRPr/>
          </a:p>
        </p:txBody>
      </p:sp>
      <p:sp>
        <p:nvSpPr>
          <p:cNvPr id="113" name="Google Shape;113;p4"/>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a:t>Must read lecture materials before come to the class</a:t>
            </a:r>
            <a:endParaRPr/>
          </a:p>
          <a:p>
            <a:pPr marL="342900" lvl="0" indent="-342900" algn="l" rtl="0">
              <a:spcBef>
                <a:spcPts val="560"/>
              </a:spcBef>
              <a:spcAft>
                <a:spcPts val="0"/>
              </a:spcAft>
              <a:buClr>
                <a:schemeClr val="dk1"/>
              </a:buClr>
              <a:buSzPts val="2800"/>
              <a:buChar char="•"/>
            </a:pPr>
            <a:r>
              <a:rPr lang="en-US"/>
              <a:t>Must come to the class on time</a:t>
            </a:r>
            <a:endParaRPr/>
          </a:p>
          <a:p>
            <a:pPr marL="342900" lvl="0" indent="-342900" algn="l" rtl="0">
              <a:spcBef>
                <a:spcPts val="560"/>
              </a:spcBef>
              <a:spcAft>
                <a:spcPts val="0"/>
              </a:spcAft>
              <a:buClr>
                <a:schemeClr val="dk1"/>
              </a:buClr>
              <a:buSzPts val="2800"/>
              <a:buChar char="•"/>
            </a:pPr>
            <a:r>
              <a:rPr lang="en-US"/>
              <a:t>Always bring notebook</a:t>
            </a:r>
            <a:endParaRPr/>
          </a:p>
          <a:p>
            <a:pPr marL="342900" lvl="0" indent="-165100" algn="l" rtl="0">
              <a:spcBef>
                <a:spcPts val="560"/>
              </a:spcBef>
              <a:spcAft>
                <a:spcPts val="0"/>
              </a:spcAft>
              <a:buClr>
                <a:schemeClr val="dk1"/>
              </a:buClr>
              <a:buSzPts val="28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Objectives</a:t>
            </a:r>
            <a:endParaRPr/>
          </a:p>
        </p:txBody>
      </p:sp>
      <p:sp>
        <p:nvSpPr>
          <p:cNvPr id="120" name="Google Shape;120;p5"/>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a:latin typeface="Calibri"/>
                <a:ea typeface="Calibri"/>
                <a:cs typeface="Calibri"/>
                <a:sym typeface="Calibri"/>
              </a:rPr>
              <a:t>What is Software?</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What is Software Quality?</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What is Software Quality Assurance?</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What is Software Testing</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Importance of Software Quality</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Software Quality Assurance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25"/>
        <p:cNvGrpSpPr/>
        <p:nvPr/>
      </p:nvGrpSpPr>
      <p:grpSpPr>
        <a:xfrm>
          <a:off x="0" y="0"/>
          <a:ext cx="0" cy="0"/>
          <a:chOff x="0" y="0"/>
          <a:chExt cx="0" cy="0"/>
        </a:xfrm>
      </p:grpSpPr>
      <p:sp>
        <p:nvSpPr>
          <p:cNvPr id="126" name="Google Shape;126;p6"/>
          <p:cNvSpPr txBox="1"/>
          <p:nvPr/>
        </p:nvSpPr>
        <p:spPr>
          <a:xfrm>
            <a:off x="827584" y="274638"/>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400" b="1" i="0" u="none" strike="noStrike" cap="none">
                <a:solidFill>
                  <a:schemeClr val="dk1"/>
                </a:solidFill>
                <a:latin typeface="Calibri"/>
                <a:ea typeface="Calibri"/>
                <a:cs typeface="Calibri"/>
                <a:sym typeface="Calibri"/>
              </a:rPr>
              <a:t>What is Software?</a:t>
            </a:r>
            <a:endParaRPr sz="4400" b="1" i="0" u="none" strike="noStrike" cap="none">
              <a:solidFill>
                <a:schemeClr val="dk1"/>
              </a:solidFill>
              <a:latin typeface="Calibri"/>
              <a:ea typeface="Calibri"/>
              <a:cs typeface="Calibri"/>
              <a:sym typeface="Calibri"/>
            </a:endParaRPr>
          </a:p>
        </p:txBody>
      </p:sp>
      <p:pic>
        <p:nvPicPr>
          <p:cNvPr id="127" name="Google Shape;127;p6"/>
          <p:cNvPicPr preferRelativeResize="0"/>
          <p:nvPr/>
        </p:nvPicPr>
        <p:blipFill rotWithShape="1">
          <a:blip r:embed="rId3">
            <a:alphaModFix/>
          </a:blip>
          <a:srcRect/>
          <a:stretch/>
        </p:blipFill>
        <p:spPr>
          <a:xfrm>
            <a:off x="510213" y="1556792"/>
            <a:ext cx="8123575" cy="33774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What is Software?</a:t>
            </a:r>
            <a:endParaRPr/>
          </a:p>
        </p:txBody>
      </p:sp>
      <p:sp>
        <p:nvSpPr>
          <p:cNvPr id="134" name="Google Shape;134;p7"/>
          <p:cNvSpPr txBox="1">
            <a:spLocks noGrp="1"/>
          </p:cNvSpPr>
          <p:nvPr>
            <p:ph type="body" idx="1"/>
          </p:nvPr>
        </p:nvSpPr>
        <p:spPr>
          <a:xfrm>
            <a:off x="251520" y="1045234"/>
            <a:ext cx="8892480" cy="206578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latin typeface="Calibri"/>
                <a:ea typeface="Calibri"/>
                <a:cs typeface="Calibri"/>
                <a:sym typeface="Calibri"/>
              </a:rPr>
              <a:t>Software is:</a:t>
            </a:r>
            <a:endParaRPr/>
          </a:p>
          <a:p>
            <a:pPr marL="0" lvl="0" indent="0" algn="l" rtl="0">
              <a:spcBef>
                <a:spcPts val="480"/>
              </a:spcBef>
              <a:spcAft>
                <a:spcPts val="0"/>
              </a:spcAft>
              <a:buClr>
                <a:schemeClr val="dk1"/>
              </a:buClr>
              <a:buSzPts val="2400"/>
              <a:buNone/>
            </a:pPr>
            <a:r>
              <a:rPr lang="en-US" sz="2400" u="sng">
                <a:latin typeface="Calibri"/>
                <a:ea typeface="Calibri"/>
                <a:cs typeface="Calibri"/>
                <a:sym typeface="Calibri"/>
              </a:rPr>
              <a:t>Computer programs</a:t>
            </a:r>
            <a:r>
              <a:rPr lang="en-US" sz="2400">
                <a:latin typeface="Calibri"/>
                <a:ea typeface="Calibri"/>
                <a:cs typeface="Calibri"/>
                <a:sym typeface="Calibri"/>
              </a:rPr>
              <a:t>, </a:t>
            </a:r>
            <a:r>
              <a:rPr lang="en-US" sz="2400" u="sng">
                <a:latin typeface="Calibri"/>
                <a:ea typeface="Calibri"/>
                <a:cs typeface="Calibri"/>
                <a:sym typeface="Calibri"/>
              </a:rPr>
              <a:t>procedures</a:t>
            </a:r>
            <a:r>
              <a:rPr lang="en-US" sz="2400">
                <a:latin typeface="Calibri"/>
                <a:ea typeface="Calibri"/>
                <a:cs typeface="Calibri"/>
                <a:sym typeface="Calibri"/>
              </a:rPr>
              <a:t>, and possibly associated </a:t>
            </a:r>
            <a:r>
              <a:rPr lang="en-US" sz="2400" u="sng">
                <a:latin typeface="Calibri"/>
                <a:ea typeface="Calibri"/>
                <a:cs typeface="Calibri"/>
                <a:sym typeface="Calibri"/>
              </a:rPr>
              <a:t>documentation</a:t>
            </a:r>
            <a:r>
              <a:rPr lang="en-US" sz="2400">
                <a:latin typeface="Calibri"/>
                <a:ea typeface="Calibri"/>
                <a:cs typeface="Calibri"/>
                <a:sym typeface="Calibri"/>
              </a:rPr>
              <a:t> and </a:t>
            </a:r>
            <a:r>
              <a:rPr lang="en-US" sz="2400" u="sng">
                <a:latin typeface="Calibri"/>
                <a:ea typeface="Calibri"/>
                <a:cs typeface="Calibri"/>
                <a:sym typeface="Calibri"/>
              </a:rPr>
              <a:t>data</a:t>
            </a:r>
            <a:r>
              <a:rPr lang="en-US" sz="2400">
                <a:latin typeface="Calibri"/>
                <a:ea typeface="Calibri"/>
                <a:cs typeface="Calibri"/>
                <a:sym typeface="Calibri"/>
              </a:rPr>
              <a:t> pertaining to the operation of a computer system. </a:t>
            </a:r>
            <a:endParaRPr/>
          </a:p>
        </p:txBody>
      </p:sp>
      <p:pic>
        <p:nvPicPr>
          <p:cNvPr id="135" name="Google Shape;135;p7"/>
          <p:cNvPicPr preferRelativeResize="0"/>
          <p:nvPr/>
        </p:nvPicPr>
        <p:blipFill rotWithShape="1">
          <a:blip r:embed="rId3">
            <a:alphaModFix/>
          </a:blip>
          <a:srcRect/>
          <a:stretch/>
        </p:blipFill>
        <p:spPr>
          <a:xfrm>
            <a:off x="7020272" y="872724"/>
            <a:ext cx="1885950" cy="742950"/>
          </a:xfrm>
          <a:prstGeom prst="rect">
            <a:avLst/>
          </a:prstGeom>
          <a:noFill/>
          <a:ln>
            <a:noFill/>
          </a:ln>
        </p:spPr>
      </p:pic>
      <p:sp>
        <p:nvSpPr>
          <p:cNvPr id="136" name="Google Shape;136;p7"/>
          <p:cNvSpPr txBox="1"/>
          <p:nvPr/>
        </p:nvSpPr>
        <p:spPr>
          <a:xfrm>
            <a:off x="251520" y="2708920"/>
            <a:ext cx="2808312" cy="369331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sng" strike="noStrike" cap="none">
                <a:solidFill>
                  <a:schemeClr val="dk1"/>
                </a:solidFill>
                <a:latin typeface="Calibri"/>
                <a:ea typeface="Calibri"/>
                <a:cs typeface="Calibri"/>
                <a:sym typeface="Calibri"/>
              </a:rPr>
              <a:t>System Software</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Serves as a base for application software. </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System software includes device drivers, operating systems (OSs), compilers, disk formatters, and utilities helping the computer to operate more efficiently. </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Responsible for managing hardware components </a:t>
            </a:r>
            <a:endParaRPr/>
          </a:p>
        </p:txBody>
      </p:sp>
      <p:sp>
        <p:nvSpPr>
          <p:cNvPr id="137" name="Google Shape;137;p7"/>
          <p:cNvSpPr txBox="1"/>
          <p:nvPr/>
        </p:nvSpPr>
        <p:spPr>
          <a:xfrm>
            <a:off x="3167844" y="2708920"/>
            <a:ext cx="2808312" cy="2585323"/>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Programming Software</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is a set of tools to aid developers in writing programs. </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The various tools available are compilers, linkers, debuggers, interpreters and text editors </a:t>
            </a:r>
            <a:endParaRPr/>
          </a:p>
        </p:txBody>
      </p:sp>
      <p:sp>
        <p:nvSpPr>
          <p:cNvPr id="138" name="Google Shape;138;p7"/>
          <p:cNvSpPr txBox="1"/>
          <p:nvPr/>
        </p:nvSpPr>
        <p:spPr>
          <a:xfrm>
            <a:off x="6097910" y="2708920"/>
            <a:ext cx="2808312" cy="369331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Application Software</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is intended to perform certain tasks. </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Examples of application software include office suites, gaming applications, database systems and educational software. </a:t>
            </a:r>
            <a:endParaRPr/>
          </a:p>
          <a:p>
            <a:pPr marL="285750" marR="0" lvl="0" indent="-285750" algn="l" rtl="0">
              <a:spcBef>
                <a:spcPts val="0"/>
              </a:spcBef>
              <a:spcAft>
                <a:spcPts val="0"/>
              </a:spcAft>
              <a:buClr>
                <a:srgbClr val="333333"/>
              </a:buClr>
              <a:buSzPts val="1800"/>
              <a:buFont typeface="Noto Sans Symbols"/>
              <a:buChar char="❑"/>
            </a:pPr>
            <a:r>
              <a:rPr lang="en-US" sz="1800">
                <a:solidFill>
                  <a:srgbClr val="333333"/>
                </a:solidFill>
                <a:latin typeface="Calibri"/>
                <a:ea typeface="Calibri"/>
                <a:cs typeface="Calibri"/>
                <a:sym typeface="Calibri"/>
              </a:rPr>
              <a:t>Application software can be a single program or a collection of small programs. </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p:nvPr/>
        </p:nvSpPr>
        <p:spPr>
          <a:xfrm>
            <a:off x="4716016" y="1268760"/>
            <a:ext cx="4104456" cy="51125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Software quality is:</a:t>
            </a:r>
            <a:endParaRPr/>
          </a:p>
          <a:p>
            <a:pPr marL="342900" marR="0" lvl="0" indent="-342900" algn="l" rtl="0">
              <a:spcBef>
                <a:spcPts val="480"/>
              </a:spcBef>
              <a:spcAft>
                <a:spcPts val="0"/>
              </a:spcAft>
              <a:buClr>
                <a:srgbClr val="779F92"/>
              </a:buClr>
              <a:buSzPts val="1800"/>
              <a:buFont typeface="Noto Sans Symbols"/>
              <a:buChar char="▪"/>
            </a:pPr>
            <a:r>
              <a:rPr lang="en-US" sz="2400" u="sng">
                <a:solidFill>
                  <a:schemeClr val="dk1"/>
                </a:solidFill>
                <a:latin typeface="Calibri"/>
                <a:ea typeface="Calibri"/>
                <a:cs typeface="Calibri"/>
                <a:sym typeface="Calibri"/>
              </a:rPr>
              <a:t>Conformance</a:t>
            </a:r>
            <a:r>
              <a:rPr lang="en-US" sz="2400">
                <a:solidFill>
                  <a:schemeClr val="dk1"/>
                </a:solidFill>
                <a:latin typeface="Calibri"/>
                <a:ea typeface="Calibri"/>
                <a:cs typeface="Calibri"/>
                <a:sym typeface="Calibri"/>
              </a:rPr>
              <a:t> to explicitly stated </a:t>
            </a:r>
            <a:r>
              <a:rPr lang="en-US" sz="2400" u="sng">
                <a:solidFill>
                  <a:schemeClr val="dk1"/>
                </a:solidFill>
                <a:latin typeface="Calibri"/>
                <a:ea typeface="Calibri"/>
                <a:cs typeface="Calibri"/>
                <a:sym typeface="Calibri"/>
              </a:rPr>
              <a:t>functional</a:t>
            </a:r>
            <a:r>
              <a:rPr lang="en-US" sz="2400">
                <a:solidFill>
                  <a:schemeClr val="dk1"/>
                </a:solidFill>
                <a:latin typeface="Calibri"/>
                <a:ea typeface="Calibri"/>
                <a:cs typeface="Calibri"/>
                <a:sym typeface="Calibri"/>
              </a:rPr>
              <a:t> and </a:t>
            </a:r>
            <a:r>
              <a:rPr lang="en-US" sz="2400" u="sng">
                <a:solidFill>
                  <a:schemeClr val="dk1"/>
                </a:solidFill>
                <a:latin typeface="Calibri"/>
                <a:ea typeface="Calibri"/>
                <a:cs typeface="Calibri"/>
                <a:sym typeface="Calibri"/>
              </a:rPr>
              <a:t>performance requirements</a:t>
            </a:r>
            <a:r>
              <a:rPr lang="en-US" sz="2400">
                <a:solidFill>
                  <a:schemeClr val="dk1"/>
                </a:solidFill>
                <a:latin typeface="Calibri"/>
                <a:ea typeface="Calibri"/>
                <a:cs typeface="Calibri"/>
                <a:sym typeface="Calibri"/>
              </a:rPr>
              <a:t>, explicitly </a:t>
            </a:r>
            <a:r>
              <a:rPr lang="en-US" sz="2400" u="sng">
                <a:solidFill>
                  <a:schemeClr val="dk1"/>
                </a:solidFill>
                <a:latin typeface="Calibri"/>
                <a:ea typeface="Calibri"/>
                <a:cs typeface="Calibri"/>
                <a:sym typeface="Calibri"/>
              </a:rPr>
              <a:t>documented development standards</a:t>
            </a:r>
            <a:r>
              <a:rPr lang="en-US" sz="2400">
                <a:solidFill>
                  <a:schemeClr val="dk1"/>
                </a:solidFill>
                <a:latin typeface="Calibri"/>
                <a:ea typeface="Calibri"/>
                <a:cs typeface="Calibri"/>
                <a:sym typeface="Calibri"/>
              </a:rPr>
              <a:t>, and </a:t>
            </a:r>
            <a:r>
              <a:rPr lang="en-US" sz="2400" u="sng">
                <a:solidFill>
                  <a:schemeClr val="dk1"/>
                </a:solidFill>
                <a:latin typeface="Calibri"/>
                <a:ea typeface="Calibri"/>
                <a:cs typeface="Calibri"/>
                <a:sym typeface="Calibri"/>
              </a:rPr>
              <a:t>implicit characteristics </a:t>
            </a:r>
            <a:r>
              <a:rPr lang="en-US" sz="2400">
                <a:solidFill>
                  <a:schemeClr val="dk1"/>
                </a:solidFill>
                <a:latin typeface="Calibri"/>
                <a:ea typeface="Calibri"/>
                <a:cs typeface="Calibri"/>
                <a:sym typeface="Calibri"/>
              </a:rPr>
              <a:t>that are expected of all </a:t>
            </a:r>
            <a:r>
              <a:rPr lang="en-US" sz="2400" u="sng">
                <a:solidFill>
                  <a:schemeClr val="dk1"/>
                </a:solidFill>
                <a:latin typeface="Calibri"/>
                <a:ea typeface="Calibri"/>
                <a:cs typeface="Calibri"/>
                <a:sym typeface="Calibri"/>
              </a:rPr>
              <a:t>professionally developed software</a:t>
            </a:r>
            <a:r>
              <a:rPr lang="en-US" sz="2400">
                <a:solidFill>
                  <a:schemeClr val="dk1"/>
                </a:solidFill>
                <a:latin typeface="Calibri"/>
                <a:ea typeface="Calibri"/>
                <a:cs typeface="Calibri"/>
                <a:sym typeface="Calibri"/>
              </a:rPr>
              <a:t>.</a:t>
            </a:r>
            <a:endParaRPr/>
          </a:p>
          <a:p>
            <a:pPr marL="0" marR="0" lvl="0" indent="0" algn="l" rtl="0">
              <a:spcBef>
                <a:spcPts val="480"/>
              </a:spcBef>
              <a:spcAft>
                <a:spcPts val="0"/>
              </a:spcAft>
              <a:buClr>
                <a:srgbClr val="779F92"/>
              </a:buClr>
              <a:buSzPts val="1800"/>
              <a:buFont typeface="Arial"/>
              <a:buNone/>
            </a:pPr>
            <a:endParaRPr sz="2400">
              <a:solidFill>
                <a:schemeClr val="dk1"/>
              </a:solidFill>
              <a:latin typeface="Calibri"/>
              <a:ea typeface="Calibri"/>
              <a:cs typeface="Calibri"/>
              <a:sym typeface="Calibri"/>
            </a:endParaRPr>
          </a:p>
          <a:p>
            <a:pPr marL="0" marR="0" lvl="0" indent="0" algn="l" rtl="0">
              <a:spcBef>
                <a:spcPts val="480"/>
              </a:spcBef>
              <a:spcAft>
                <a:spcPts val="0"/>
              </a:spcAft>
              <a:buClr>
                <a:schemeClr val="dk1"/>
              </a:buClr>
              <a:buSzPts val="2400"/>
              <a:buFont typeface="Arial"/>
              <a:buNone/>
            </a:pPr>
            <a:r>
              <a:rPr lang="en-US" sz="2400">
                <a:solidFill>
                  <a:schemeClr val="dk1"/>
                </a:solidFill>
                <a:latin typeface="Calibri"/>
                <a:ea typeface="Calibri"/>
                <a:cs typeface="Calibri"/>
                <a:sym typeface="Calibri"/>
              </a:rPr>
              <a:t> </a:t>
            </a:r>
            <a:endParaRPr/>
          </a:p>
        </p:txBody>
      </p:sp>
      <p:pic>
        <p:nvPicPr>
          <p:cNvPr id="145" name="Google Shape;145;p8"/>
          <p:cNvPicPr preferRelativeResize="0"/>
          <p:nvPr/>
        </p:nvPicPr>
        <p:blipFill rotWithShape="1">
          <a:blip r:embed="rId3">
            <a:alphaModFix/>
          </a:blip>
          <a:srcRect/>
          <a:stretch/>
        </p:blipFill>
        <p:spPr>
          <a:xfrm>
            <a:off x="1187624" y="5247769"/>
            <a:ext cx="1885950" cy="742950"/>
          </a:xfrm>
          <a:prstGeom prst="rect">
            <a:avLst/>
          </a:prstGeom>
          <a:noFill/>
          <a:ln>
            <a:noFill/>
          </a:ln>
        </p:spPr>
      </p:pic>
      <p:sp>
        <p:nvSpPr>
          <p:cNvPr id="146" name="Google Shape;146;p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What is Software Quality?</a:t>
            </a:r>
            <a:endParaRPr/>
          </a:p>
        </p:txBody>
      </p:sp>
      <p:sp>
        <p:nvSpPr>
          <p:cNvPr id="147" name="Google Shape;147;p8"/>
          <p:cNvSpPr txBox="1">
            <a:spLocks noGrp="1"/>
          </p:cNvSpPr>
          <p:nvPr>
            <p:ph type="body" idx="1"/>
          </p:nvPr>
        </p:nvSpPr>
        <p:spPr>
          <a:xfrm>
            <a:off x="251520" y="1268760"/>
            <a:ext cx="4104456" cy="51125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a:latin typeface="Calibri"/>
                <a:ea typeface="Calibri"/>
                <a:cs typeface="Calibri"/>
                <a:sym typeface="Calibri"/>
              </a:rPr>
              <a:t>Software quality is:</a:t>
            </a:r>
            <a:endParaRPr/>
          </a:p>
          <a:p>
            <a:pPr marL="342900" lvl="0" indent="-342900" algn="l" rtl="0">
              <a:spcBef>
                <a:spcPts val="480"/>
              </a:spcBef>
              <a:spcAft>
                <a:spcPts val="0"/>
              </a:spcAft>
              <a:buClr>
                <a:srgbClr val="779F92"/>
              </a:buClr>
              <a:buSzPts val="1800"/>
              <a:buFont typeface="Noto Sans Symbols"/>
              <a:buChar char="▪"/>
            </a:pPr>
            <a:r>
              <a:rPr lang="en-US" sz="2400"/>
              <a:t>The </a:t>
            </a:r>
            <a:r>
              <a:rPr lang="en-US" sz="2400" u="sng"/>
              <a:t>degree</a:t>
            </a:r>
            <a:r>
              <a:rPr lang="en-US" sz="2400"/>
              <a:t> to which a </a:t>
            </a:r>
            <a:r>
              <a:rPr lang="en-US" sz="2400" u="sng"/>
              <a:t>system</a:t>
            </a:r>
            <a:r>
              <a:rPr lang="en-US" sz="2400"/>
              <a:t>, </a:t>
            </a:r>
            <a:r>
              <a:rPr lang="en-US" sz="2400" u="sng"/>
              <a:t>component</a:t>
            </a:r>
            <a:r>
              <a:rPr lang="en-US" sz="2400"/>
              <a:t>, or </a:t>
            </a:r>
            <a:r>
              <a:rPr lang="en-US" sz="2400" u="sng"/>
              <a:t>process</a:t>
            </a:r>
            <a:r>
              <a:rPr lang="en-US" sz="2400"/>
              <a:t> </a:t>
            </a:r>
            <a:r>
              <a:rPr lang="en-US" sz="2400" u="sng"/>
              <a:t>meets</a:t>
            </a:r>
            <a:r>
              <a:rPr lang="en-US" sz="2400"/>
              <a:t> </a:t>
            </a:r>
            <a:r>
              <a:rPr lang="en-US" sz="2400" u="sng"/>
              <a:t>specified requirements</a:t>
            </a:r>
            <a:r>
              <a:rPr lang="en-US" sz="2400"/>
              <a:t>.</a:t>
            </a:r>
            <a:endParaRPr/>
          </a:p>
          <a:p>
            <a:pPr marL="342900" lvl="0" indent="-342900" algn="l" rtl="0">
              <a:spcBef>
                <a:spcPts val="480"/>
              </a:spcBef>
              <a:spcAft>
                <a:spcPts val="0"/>
              </a:spcAft>
              <a:buClr>
                <a:srgbClr val="779F92"/>
              </a:buClr>
              <a:buSzPts val="1800"/>
              <a:buFont typeface="Noto Sans Symbols"/>
              <a:buChar char="▪"/>
            </a:pPr>
            <a:r>
              <a:rPr lang="en-US" sz="2400"/>
              <a:t>The </a:t>
            </a:r>
            <a:r>
              <a:rPr lang="en-US" sz="2400" u="sng"/>
              <a:t>degree</a:t>
            </a:r>
            <a:r>
              <a:rPr lang="en-US" sz="2400"/>
              <a:t> to which a </a:t>
            </a:r>
            <a:r>
              <a:rPr lang="en-US" sz="2400" u="sng"/>
              <a:t>system, component</a:t>
            </a:r>
            <a:r>
              <a:rPr lang="en-US" sz="2400"/>
              <a:t>, or </a:t>
            </a:r>
            <a:r>
              <a:rPr lang="en-US" sz="2400" u="sng"/>
              <a:t>process meets customer</a:t>
            </a:r>
            <a:r>
              <a:rPr lang="en-US" sz="2400"/>
              <a:t> or </a:t>
            </a:r>
            <a:r>
              <a:rPr lang="en-US" sz="2400" u="sng"/>
              <a:t>user needs </a:t>
            </a:r>
            <a:r>
              <a:rPr lang="en-US" sz="2400"/>
              <a:t>or </a:t>
            </a:r>
            <a:r>
              <a:rPr lang="en-US" sz="2400" u="sng"/>
              <a:t>expectations</a:t>
            </a:r>
            <a:r>
              <a:rPr lang="en-US" sz="2400"/>
              <a:t>.</a:t>
            </a:r>
            <a:endParaRPr/>
          </a:p>
          <a:p>
            <a:pPr marL="0" lvl="0" indent="0" algn="l" rtl="0">
              <a:spcBef>
                <a:spcPts val="480"/>
              </a:spcBef>
              <a:spcAft>
                <a:spcPts val="0"/>
              </a:spcAft>
              <a:buClr>
                <a:schemeClr val="dk1"/>
              </a:buClr>
              <a:buSzPts val="2400"/>
              <a:buNone/>
            </a:pPr>
            <a:r>
              <a:rPr lang="en-US" sz="2400"/>
              <a:t> </a:t>
            </a:r>
            <a:endParaRPr/>
          </a:p>
        </p:txBody>
      </p:sp>
      <p:sp>
        <p:nvSpPr>
          <p:cNvPr id="148" name="Google Shape;148;p8"/>
          <p:cNvSpPr/>
          <p:nvPr/>
        </p:nvSpPr>
        <p:spPr>
          <a:xfrm>
            <a:off x="5800286" y="5142191"/>
            <a:ext cx="1935915"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0070C0"/>
                </a:solidFill>
                <a:latin typeface="Calibri"/>
                <a:ea typeface="Calibri"/>
                <a:cs typeface="Calibri"/>
                <a:sym typeface="Calibri"/>
              </a:rPr>
              <a:t>Pressman's </a:t>
            </a:r>
            <a:endParaRPr/>
          </a:p>
          <a:p>
            <a:pPr marL="0" marR="0" lvl="0" indent="0" algn="ctr" rtl="0">
              <a:spcBef>
                <a:spcPts val="0"/>
              </a:spcBef>
              <a:spcAft>
                <a:spcPts val="0"/>
              </a:spcAft>
              <a:buNone/>
            </a:pPr>
            <a:r>
              <a:rPr lang="en-US" sz="2800" b="1">
                <a:solidFill>
                  <a:srgbClr val="0070C0"/>
                </a:solidFill>
                <a:latin typeface="Calibri"/>
                <a:ea typeface="Calibri"/>
                <a:cs typeface="Calibri"/>
                <a:sym typeface="Calibri"/>
              </a:rPr>
              <a:t>Definition</a:t>
            </a:r>
            <a:endParaRPr sz="2800" b="1">
              <a:solidFill>
                <a:srgbClr val="0070C0"/>
              </a:solidFill>
              <a:latin typeface="Calibri"/>
              <a:ea typeface="Calibri"/>
              <a:cs typeface="Calibri"/>
              <a:sym typeface="Calibri"/>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body" idx="1"/>
          </p:nvPr>
        </p:nvSpPr>
        <p:spPr>
          <a:xfrm>
            <a:off x="152400" y="1981200"/>
            <a:ext cx="8915400" cy="4572000"/>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Clr>
                <a:schemeClr val="dk1"/>
              </a:buClr>
              <a:buSzPts val="2800"/>
              <a:buFont typeface="Noto Sans Symbols"/>
              <a:buAutoNum type="arabicPeriod"/>
            </a:pPr>
            <a:r>
              <a:rPr lang="en-US">
                <a:latin typeface="Calibri"/>
                <a:ea typeface="Calibri"/>
                <a:cs typeface="Calibri"/>
                <a:sym typeface="Calibri"/>
              </a:rPr>
              <a:t>A </a:t>
            </a:r>
            <a:r>
              <a:rPr lang="en-US" u="sng">
                <a:latin typeface="Calibri"/>
                <a:ea typeface="Calibri"/>
                <a:cs typeface="Calibri"/>
                <a:sym typeface="Calibri"/>
              </a:rPr>
              <a:t>planned</a:t>
            </a:r>
            <a:r>
              <a:rPr lang="en-US">
                <a:latin typeface="Calibri"/>
                <a:ea typeface="Calibri"/>
                <a:cs typeface="Calibri"/>
                <a:sym typeface="Calibri"/>
              </a:rPr>
              <a:t> and </a:t>
            </a:r>
            <a:r>
              <a:rPr lang="en-US" u="sng">
                <a:latin typeface="Calibri"/>
                <a:ea typeface="Calibri"/>
                <a:cs typeface="Calibri"/>
                <a:sym typeface="Calibri"/>
              </a:rPr>
              <a:t>systematic pattern </a:t>
            </a:r>
            <a:r>
              <a:rPr lang="en-US">
                <a:latin typeface="Calibri"/>
                <a:ea typeface="Calibri"/>
                <a:cs typeface="Calibri"/>
                <a:sym typeface="Calibri"/>
              </a:rPr>
              <a:t>of all actions necessary to </a:t>
            </a:r>
            <a:r>
              <a:rPr lang="en-US" u="sng">
                <a:latin typeface="Calibri"/>
                <a:ea typeface="Calibri"/>
                <a:cs typeface="Calibri"/>
                <a:sym typeface="Calibri"/>
              </a:rPr>
              <a:t>provide adequate confidence </a:t>
            </a:r>
            <a:r>
              <a:rPr lang="en-US">
                <a:latin typeface="Calibri"/>
                <a:ea typeface="Calibri"/>
                <a:cs typeface="Calibri"/>
                <a:sym typeface="Calibri"/>
              </a:rPr>
              <a:t>that an item or </a:t>
            </a:r>
            <a:r>
              <a:rPr lang="en-US" u="sng">
                <a:latin typeface="Calibri"/>
                <a:ea typeface="Calibri"/>
                <a:cs typeface="Calibri"/>
                <a:sym typeface="Calibri"/>
              </a:rPr>
              <a:t>product</a:t>
            </a:r>
            <a:r>
              <a:rPr lang="en-US">
                <a:latin typeface="Calibri"/>
                <a:ea typeface="Calibri"/>
                <a:cs typeface="Calibri"/>
                <a:sym typeface="Calibri"/>
              </a:rPr>
              <a:t> </a:t>
            </a:r>
            <a:r>
              <a:rPr lang="en-US" u="sng">
                <a:latin typeface="Calibri"/>
                <a:ea typeface="Calibri"/>
                <a:cs typeface="Calibri"/>
                <a:sym typeface="Calibri"/>
              </a:rPr>
              <a:t>conforms</a:t>
            </a:r>
            <a:r>
              <a:rPr lang="en-US">
                <a:latin typeface="Calibri"/>
                <a:ea typeface="Calibri"/>
                <a:cs typeface="Calibri"/>
                <a:sym typeface="Calibri"/>
              </a:rPr>
              <a:t> to </a:t>
            </a:r>
            <a:r>
              <a:rPr lang="en-US" u="sng">
                <a:latin typeface="Calibri"/>
                <a:ea typeface="Calibri"/>
                <a:cs typeface="Calibri"/>
                <a:sym typeface="Calibri"/>
              </a:rPr>
              <a:t>established technical requirements</a:t>
            </a:r>
            <a:r>
              <a:rPr lang="en-US">
                <a:latin typeface="Calibri"/>
                <a:ea typeface="Calibri"/>
                <a:cs typeface="Calibri"/>
                <a:sym typeface="Calibri"/>
              </a:rPr>
              <a:t>.</a:t>
            </a:r>
            <a:endParaRPr/>
          </a:p>
          <a:p>
            <a:pPr marL="609600" lvl="0" indent="-609600" algn="l" rtl="0">
              <a:spcBef>
                <a:spcPts val="560"/>
              </a:spcBef>
              <a:spcAft>
                <a:spcPts val="0"/>
              </a:spcAft>
              <a:buClr>
                <a:schemeClr val="dk1"/>
              </a:buClr>
              <a:buSzPts val="2800"/>
              <a:buFont typeface="Noto Sans Symbols"/>
              <a:buAutoNum type="arabicPeriod"/>
            </a:pPr>
            <a:r>
              <a:rPr lang="en-US">
                <a:latin typeface="Calibri"/>
                <a:ea typeface="Calibri"/>
                <a:cs typeface="Calibri"/>
                <a:sym typeface="Calibri"/>
              </a:rPr>
              <a:t>A </a:t>
            </a:r>
            <a:r>
              <a:rPr lang="en-US" u="sng">
                <a:latin typeface="Calibri"/>
                <a:ea typeface="Calibri"/>
                <a:cs typeface="Calibri"/>
                <a:sym typeface="Calibri"/>
              </a:rPr>
              <a:t>set of activities </a:t>
            </a:r>
            <a:r>
              <a:rPr lang="en-US">
                <a:latin typeface="Calibri"/>
                <a:ea typeface="Calibri"/>
                <a:cs typeface="Calibri"/>
                <a:sym typeface="Calibri"/>
              </a:rPr>
              <a:t>designed to </a:t>
            </a:r>
            <a:r>
              <a:rPr lang="en-US" u="sng">
                <a:latin typeface="Calibri"/>
                <a:ea typeface="Calibri"/>
                <a:cs typeface="Calibri"/>
                <a:sym typeface="Calibri"/>
              </a:rPr>
              <a:t>evaluate the process </a:t>
            </a:r>
            <a:r>
              <a:rPr lang="en-US">
                <a:latin typeface="Calibri"/>
                <a:ea typeface="Calibri"/>
                <a:cs typeface="Calibri"/>
                <a:sym typeface="Calibri"/>
              </a:rPr>
              <a:t>by which the </a:t>
            </a:r>
            <a:r>
              <a:rPr lang="en-US" u="sng">
                <a:latin typeface="Calibri"/>
                <a:ea typeface="Calibri"/>
                <a:cs typeface="Calibri"/>
                <a:sym typeface="Calibri"/>
              </a:rPr>
              <a:t>products are developed </a:t>
            </a:r>
            <a:r>
              <a:rPr lang="en-US">
                <a:latin typeface="Calibri"/>
                <a:ea typeface="Calibri"/>
                <a:cs typeface="Calibri"/>
                <a:sym typeface="Calibri"/>
              </a:rPr>
              <a:t>or manufactured.  Contrast with quality control.</a:t>
            </a:r>
            <a:endParaRPr/>
          </a:p>
        </p:txBody>
      </p:sp>
      <p:pic>
        <p:nvPicPr>
          <p:cNvPr id="155" name="Google Shape;155;p9"/>
          <p:cNvPicPr preferRelativeResize="0"/>
          <p:nvPr/>
        </p:nvPicPr>
        <p:blipFill rotWithShape="1">
          <a:blip r:embed="rId3">
            <a:alphaModFix/>
          </a:blip>
          <a:srcRect/>
          <a:stretch/>
        </p:blipFill>
        <p:spPr>
          <a:xfrm>
            <a:off x="6934522" y="1238250"/>
            <a:ext cx="1885950" cy="742950"/>
          </a:xfrm>
          <a:prstGeom prst="rect">
            <a:avLst/>
          </a:prstGeom>
          <a:noFill/>
          <a:ln>
            <a:noFill/>
          </a:ln>
        </p:spPr>
      </p:pic>
      <p:sp>
        <p:nvSpPr>
          <p:cNvPr id="156" name="Google Shape;156;p9"/>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What is Software Quality Assurance?</a:t>
            </a:r>
            <a:endParaRPr/>
          </a:p>
        </p:txBody>
      </p:sp>
      <p:sp>
        <p:nvSpPr>
          <p:cNvPr id="157" name="Google Shape;157;p9"/>
          <p:cNvSpPr txBox="1"/>
          <p:nvPr/>
        </p:nvSpPr>
        <p:spPr>
          <a:xfrm>
            <a:off x="6300192" y="5445224"/>
            <a:ext cx="2520280"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a:solidFill>
                  <a:schemeClr val="dk1"/>
                </a:solidFill>
                <a:latin typeface="Calibri"/>
                <a:ea typeface="Calibri"/>
                <a:cs typeface="Calibri"/>
                <a:sym typeface="Calibri"/>
              </a:rPr>
              <a:t>ISO 9000-3, 1997.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Basic Questions</a:t>
            </a:r>
            <a:endParaRPr/>
          </a:p>
        </p:txBody>
      </p:sp>
      <p:sp>
        <p:nvSpPr>
          <p:cNvPr id="164" name="Google Shape;164;p10"/>
          <p:cNvSpPr txBox="1">
            <a:spLocks noGrp="1"/>
          </p:cNvSpPr>
          <p:nvPr>
            <p:ph type="body" idx="1"/>
          </p:nvPr>
        </p:nvSpPr>
        <p:spPr>
          <a:xfrm>
            <a:off x="466080" y="1412776"/>
            <a:ext cx="7848600" cy="3886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b="1">
                <a:latin typeface="Calibri"/>
                <a:ea typeface="Calibri"/>
                <a:cs typeface="Calibri"/>
                <a:sym typeface="Calibri"/>
              </a:rPr>
              <a:t>What does SQA mean?</a:t>
            </a:r>
            <a:endParaRPr/>
          </a:p>
          <a:p>
            <a:pPr marL="342900" lvl="0" indent="-342900" algn="just" rtl="0">
              <a:spcBef>
                <a:spcPts val="560"/>
              </a:spcBef>
              <a:spcAft>
                <a:spcPts val="0"/>
              </a:spcAft>
              <a:buClr>
                <a:schemeClr val="dk1"/>
              </a:buClr>
              <a:buSzPts val="2800"/>
              <a:buFont typeface="Noto Sans Symbols"/>
              <a:buChar char="⮚"/>
            </a:pPr>
            <a:r>
              <a:rPr lang="en-US"/>
              <a:t>Software quality assurance (SQA) is a </a:t>
            </a:r>
            <a:r>
              <a:rPr lang="en-US" u="sng"/>
              <a:t>process</a:t>
            </a:r>
            <a:r>
              <a:rPr lang="en-US"/>
              <a:t> that ensures that </a:t>
            </a:r>
            <a:r>
              <a:rPr lang="en-US" u="sng"/>
              <a:t>developed software meets </a:t>
            </a:r>
            <a:r>
              <a:rPr lang="en-US"/>
              <a:t>and </a:t>
            </a:r>
            <a:r>
              <a:rPr lang="en-US" u="sng"/>
              <a:t>complies</a:t>
            </a:r>
            <a:r>
              <a:rPr lang="en-US"/>
              <a:t> with defined or standardized </a:t>
            </a:r>
            <a:r>
              <a:rPr lang="en-US" u="sng"/>
              <a:t>quality</a:t>
            </a:r>
            <a:r>
              <a:rPr lang="en-US"/>
              <a:t> </a:t>
            </a:r>
            <a:r>
              <a:rPr lang="en-US" u="sng"/>
              <a:t>specifications</a:t>
            </a:r>
            <a:r>
              <a:rPr lang="en-US"/>
              <a:t>. </a:t>
            </a:r>
            <a:endParaRPr/>
          </a:p>
          <a:p>
            <a:pPr marL="342900" lvl="0" indent="-342900" algn="just" rtl="0">
              <a:spcBef>
                <a:spcPts val="560"/>
              </a:spcBef>
              <a:spcAft>
                <a:spcPts val="0"/>
              </a:spcAft>
              <a:buClr>
                <a:schemeClr val="dk1"/>
              </a:buClr>
              <a:buSzPts val="2800"/>
              <a:buFont typeface="Noto Sans Symbols"/>
              <a:buChar char="⮚"/>
            </a:pPr>
            <a:r>
              <a:rPr lang="en-US"/>
              <a:t>SQA is an </a:t>
            </a:r>
            <a:r>
              <a:rPr lang="en-US" u="sng"/>
              <a:t>ongoing process within</a:t>
            </a:r>
            <a:r>
              <a:rPr lang="en-US"/>
              <a:t> the software development life cycle (</a:t>
            </a:r>
            <a:r>
              <a:rPr lang="en-US" u="sng"/>
              <a:t>SDLC</a:t>
            </a:r>
            <a:r>
              <a:rPr lang="en-US"/>
              <a:t>) that </a:t>
            </a:r>
            <a:r>
              <a:rPr lang="en-US" u="sng"/>
              <a:t>routinely checks </a:t>
            </a:r>
            <a:r>
              <a:rPr lang="en-US"/>
              <a:t>the </a:t>
            </a:r>
            <a:r>
              <a:rPr lang="en-US" u="sng"/>
              <a:t>developed software </a:t>
            </a:r>
            <a:r>
              <a:rPr lang="en-US"/>
              <a:t>to ensure it </a:t>
            </a:r>
            <a:r>
              <a:rPr lang="en-US" u="sng"/>
              <a:t>meets desired quality measures</a:t>
            </a:r>
            <a:r>
              <a:rPr lang="en-US"/>
              <a:t>.</a:t>
            </a:r>
            <a:endParaRPr>
              <a:latin typeface="Calibri"/>
              <a:ea typeface="Calibri"/>
              <a:cs typeface="Calibri"/>
              <a:sym typeface="Calibri"/>
            </a:endParaRPr>
          </a:p>
        </p:txBody>
      </p:sp>
      <p:pic>
        <p:nvPicPr>
          <p:cNvPr id="165" name="Google Shape;165;p10" descr="C:\Documents and Settings\dannellys\Local Settings\Temporary Internet Files\Content.IE5\G28684L8\MCj04344110000[1].wmf"/>
          <p:cNvPicPr preferRelativeResize="0"/>
          <p:nvPr/>
        </p:nvPicPr>
        <p:blipFill rotWithShape="1">
          <a:blip r:embed="rId3">
            <a:alphaModFix/>
          </a:blip>
          <a:srcRect/>
          <a:stretch/>
        </p:blipFill>
        <p:spPr>
          <a:xfrm>
            <a:off x="6948264" y="76200"/>
            <a:ext cx="1625600" cy="1828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Basic Questions</a:t>
            </a:r>
            <a:endParaRPr/>
          </a:p>
        </p:txBody>
      </p:sp>
      <p:sp>
        <p:nvSpPr>
          <p:cNvPr id="172" name="Google Shape;172;p11"/>
          <p:cNvSpPr txBox="1">
            <a:spLocks noGrp="1"/>
          </p:cNvSpPr>
          <p:nvPr>
            <p:ph type="body" idx="1"/>
          </p:nvPr>
        </p:nvSpPr>
        <p:spPr>
          <a:xfrm>
            <a:off x="470396" y="1209130"/>
            <a:ext cx="7848600" cy="3886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b="1">
                <a:latin typeface="Calibri"/>
                <a:ea typeface="Calibri"/>
                <a:cs typeface="Calibri"/>
                <a:sym typeface="Calibri"/>
              </a:rPr>
              <a:t>What is the point of SQA?</a:t>
            </a:r>
            <a:endParaRPr/>
          </a:p>
          <a:p>
            <a:pPr marL="342900" lvl="0" indent="-342900" algn="just" rtl="0">
              <a:spcBef>
                <a:spcPts val="560"/>
              </a:spcBef>
              <a:spcAft>
                <a:spcPts val="0"/>
              </a:spcAft>
              <a:buClr>
                <a:schemeClr val="dk1"/>
              </a:buClr>
              <a:buSzPts val="2800"/>
              <a:buFont typeface="Noto Sans Symbols"/>
              <a:buChar char="⮚"/>
            </a:pPr>
            <a:r>
              <a:rPr lang="en-US"/>
              <a:t>better product</a:t>
            </a:r>
            <a:endParaRPr/>
          </a:p>
          <a:p>
            <a:pPr marL="342900" lvl="0" indent="-342900" algn="just" rtl="0">
              <a:spcBef>
                <a:spcPts val="560"/>
              </a:spcBef>
              <a:spcAft>
                <a:spcPts val="0"/>
              </a:spcAft>
              <a:buClr>
                <a:schemeClr val="dk1"/>
              </a:buClr>
              <a:buSzPts val="2800"/>
              <a:buFont typeface="Noto Sans Symbols"/>
              <a:buChar char="⮚"/>
            </a:pPr>
            <a:r>
              <a:rPr lang="en-US"/>
              <a:t>lower production costs via better production methods</a:t>
            </a:r>
            <a:endParaRPr/>
          </a:p>
          <a:p>
            <a:pPr marL="342900" lvl="0" indent="-165100" algn="l" rtl="0">
              <a:spcBef>
                <a:spcPts val="560"/>
              </a:spcBef>
              <a:spcAft>
                <a:spcPts val="0"/>
              </a:spcAft>
              <a:buClr>
                <a:schemeClr val="dk1"/>
              </a:buClr>
              <a:buSzPts val="2800"/>
              <a:buNone/>
            </a:pPr>
            <a:endParaRPr>
              <a:latin typeface="Calibri"/>
              <a:ea typeface="Calibri"/>
              <a:cs typeface="Calibri"/>
              <a:sym typeface="Calibri"/>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How necessary is SQA?  </a:t>
            </a:r>
            <a:endParaRPr/>
          </a:p>
          <a:p>
            <a:pPr marL="1143000" lvl="2" indent="-228600" algn="l" rtl="0">
              <a:spcBef>
                <a:spcPts val="400"/>
              </a:spcBef>
              <a:spcAft>
                <a:spcPts val="0"/>
              </a:spcAft>
              <a:buClr>
                <a:schemeClr val="dk1"/>
              </a:buClr>
              <a:buSzPts val="2000"/>
              <a:buChar char="•"/>
            </a:pPr>
            <a:r>
              <a:rPr lang="en-US">
                <a:latin typeface="Calibri"/>
                <a:ea typeface="Calibri"/>
                <a:cs typeface="Calibri"/>
                <a:sym typeface="Calibri"/>
              </a:rPr>
              <a:t>How good is software?</a:t>
            </a:r>
            <a:endParaRPr/>
          </a:p>
          <a:p>
            <a:pPr marL="342900" lvl="0" indent="-165100" algn="l" rtl="0">
              <a:spcBef>
                <a:spcPts val="560"/>
              </a:spcBef>
              <a:spcAft>
                <a:spcPts val="0"/>
              </a:spcAft>
              <a:buClr>
                <a:schemeClr val="dk1"/>
              </a:buClr>
              <a:buSzPts val="2800"/>
              <a:buNone/>
            </a:pPr>
            <a:endParaRPr>
              <a:latin typeface="Calibri"/>
              <a:ea typeface="Calibri"/>
              <a:cs typeface="Calibri"/>
              <a:sym typeface="Calibri"/>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Is software production different from producing other products?  If so, how and why?</a:t>
            </a:r>
            <a:endParaRPr/>
          </a:p>
        </p:txBody>
      </p:sp>
      <p:pic>
        <p:nvPicPr>
          <p:cNvPr id="173" name="Google Shape;173;p11" descr="C:\Documents and Settings\dannellys\Local Settings\Temporary Internet Files\Content.IE5\G28684L8\MCj04344110000[1].wmf"/>
          <p:cNvPicPr preferRelativeResize="0"/>
          <p:nvPr/>
        </p:nvPicPr>
        <p:blipFill rotWithShape="1">
          <a:blip r:embed="rId3">
            <a:alphaModFix/>
          </a:blip>
          <a:srcRect/>
          <a:stretch/>
        </p:blipFill>
        <p:spPr>
          <a:xfrm>
            <a:off x="6948264" y="76200"/>
            <a:ext cx="1625600" cy="1828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2"/>
          <p:cNvSpPr txBox="1">
            <a:spLocks noGrp="1"/>
          </p:cNvSpPr>
          <p:nvPr>
            <p:ph type="body" idx="1"/>
          </p:nvPr>
        </p:nvSpPr>
        <p:spPr>
          <a:xfrm>
            <a:off x="152400" y="1579662"/>
            <a:ext cx="8915400" cy="4572000"/>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Clr>
                <a:schemeClr val="dk1"/>
              </a:buClr>
              <a:buSzPts val="2800"/>
              <a:buFont typeface="Noto Sans Symbols"/>
              <a:buAutoNum type="arabicPeriod"/>
            </a:pPr>
            <a:r>
              <a:rPr lang="en-US">
                <a:latin typeface="Calibri"/>
                <a:ea typeface="Calibri"/>
                <a:cs typeface="Calibri"/>
                <a:sym typeface="Calibri"/>
              </a:rPr>
              <a:t>A process of analyzing a software item to detect the differences between existing and required conditions (i.e., defects) and to evaluate the features of the software item.</a:t>
            </a:r>
            <a:endParaRPr/>
          </a:p>
          <a:p>
            <a:pPr marL="609600" lvl="0" indent="-431800" algn="l" rtl="0">
              <a:spcBef>
                <a:spcPts val="560"/>
              </a:spcBef>
              <a:spcAft>
                <a:spcPts val="0"/>
              </a:spcAft>
              <a:buClr>
                <a:schemeClr val="dk1"/>
              </a:buClr>
              <a:buSzPts val="2800"/>
              <a:buFont typeface="Noto Sans Symbols"/>
              <a:buNone/>
            </a:pPr>
            <a:endParaRPr>
              <a:latin typeface="Calibri"/>
              <a:ea typeface="Calibri"/>
              <a:cs typeface="Calibri"/>
              <a:sym typeface="Calibri"/>
            </a:endParaRPr>
          </a:p>
          <a:p>
            <a:pPr marL="609600" lvl="0" indent="-609600" algn="l" rtl="0">
              <a:spcBef>
                <a:spcPts val="560"/>
              </a:spcBef>
              <a:spcAft>
                <a:spcPts val="0"/>
              </a:spcAft>
              <a:buClr>
                <a:schemeClr val="dk1"/>
              </a:buClr>
              <a:buSzPts val="2800"/>
              <a:buFont typeface="Noto Sans Symbols"/>
              <a:buAutoNum type="arabicPeriod"/>
            </a:pPr>
            <a:r>
              <a:rPr lang="en-US">
                <a:latin typeface="Calibri"/>
                <a:ea typeface="Calibri"/>
                <a:cs typeface="Calibri"/>
                <a:sym typeface="Calibri"/>
              </a:rPr>
              <a:t>An activity in which a system or component is executed under specified conditions, the results are observed or recorded, and an evaluation is made of some aspect of the system or component. </a:t>
            </a:r>
            <a:endParaRPr/>
          </a:p>
        </p:txBody>
      </p:sp>
      <p:pic>
        <p:nvPicPr>
          <p:cNvPr id="180" name="Google Shape;180;p12"/>
          <p:cNvPicPr preferRelativeResize="0"/>
          <p:nvPr/>
        </p:nvPicPr>
        <p:blipFill rotWithShape="1">
          <a:blip r:embed="rId3">
            <a:alphaModFix/>
          </a:blip>
          <a:srcRect/>
          <a:stretch/>
        </p:blipFill>
        <p:spPr>
          <a:xfrm>
            <a:off x="6934522" y="836712"/>
            <a:ext cx="1885950" cy="742950"/>
          </a:xfrm>
          <a:prstGeom prst="rect">
            <a:avLst/>
          </a:prstGeom>
          <a:noFill/>
          <a:ln>
            <a:noFill/>
          </a:ln>
        </p:spPr>
      </p:pic>
      <p:sp>
        <p:nvSpPr>
          <p:cNvPr id="181" name="Google Shape;181;p12"/>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What is Software Testing?</a:t>
            </a:r>
            <a:endParaRPr/>
          </a:p>
        </p:txBody>
      </p:sp>
      <p:sp>
        <p:nvSpPr>
          <p:cNvPr id="182" name="Google Shape;182;p12"/>
          <p:cNvSpPr txBox="1"/>
          <p:nvPr/>
        </p:nvSpPr>
        <p:spPr>
          <a:xfrm>
            <a:off x="3267719" y="2924944"/>
            <a:ext cx="4609778"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ANSI/IEEE 1059 standard.</a:t>
            </a:r>
            <a:endParaRPr/>
          </a:p>
        </p:txBody>
      </p:sp>
      <p:sp>
        <p:nvSpPr>
          <p:cNvPr id="183" name="Google Shape;183;p12"/>
          <p:cNvSpPr txBox="1"/>
          <p:nvPr/>
        </p:nvSpPr>
        <p:spPr>
          <a:xfrm>
            <a:off x="4716016" y="5301208"/>
            <a:ext cx="4190707"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IEEE Std 829™-2008.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88"/>
        <p:cNvGrpSpPr/>
        <p:nvPr/>
      </p:nvGrpSpPr>
      <p:grpSpPr>
        <a:xfrm>
          <a:off x="0" y="0"/>
          <a:ext cx="0" cy="0"/>
          <a:chOff x="0" y="0"/>
          <a:chExt cx="0" cy="0"/>
        </a:xfrm>
      </p:grpSpPr>
      <p:sp>
        <p:nvSpPr>
          <p:cNvPr id="189" name="Google Shape;189;p13"/>
          <p:cNvSpPr txBox="1">
            <a:spLocks noGrp="1"/>
          </p:cNvSpPr>
          <p:nvPr>
            <p:ph type="title"/>
          </p:nvPr>
        </p:nvSpPr>
        <p:spPr>
          <a:xfrm>
            <a:off x="102292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Difference between SQA and software testing</a:t>
            </a:r>
            <a:endParaRPr/>
          </a:p>
        </p:txBody>
      </p:sp>
      <p:graphicFrame>
        <p:nvGraphicFramePr>
          <p:cNvPr id="190" name="Google Shape;190;p13"/>
          <p:cNvGraphicFramePr/>
          <p:nvPr/>
        </p:nvGraphicFramePr>
        <p:xfrm>
          <a:off x="424508" y="4055472"/>
          <a:ext cx="8424950" cy="741700"/>
        </p:xfrm>
        <a:graphic>
          <a:graphicData uri="http://schemas.openxmlformats.org/drawingml/2006/table">
            <a:tbl>
              <a:tblPr firstRow="1" bandRow="1">
                <a:noFill/>
                <a:tableStyleId>{45576D59-A652-4677-8983-46820F983138}</a:tableStyleId>
              </a:tblPr>
              <a:tblGrid>
                <a:gridCol w="4032450">
                  <a:extLst>
                    <a:ext uri="{9D8B030D-6E8A-4147-A177-3AD203B41FA5}">
                      <a16:colId xmlns:a16="http://schemas.microsoft.com/office/drawing/2014/main" val="20000"/>
                    </a:ext>
                  </a:extLst>
                </a:gridCol>
                <a:gridCol w="43925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a:solidFill>
                            <a:schemeClr val="dk1"/>
                          </a:solidFill>
                        </a:rPr>
                        <a:t>Software quality assurance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a:solidFill>
                            <a:schemeClr val="dk1"/>
                          </a:solidFill>
                        </a:rPr>
                        <a:t>Software testing</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91" name="Google Shape;191;p13"/>
          <p:cNvSpPr/>
          <p:nvPr/>
        </p:nvSpPr>
        <p:spPr>
          <a:xfrm>
            <a:off x="424508" y="1272532"/>
            <a:ext cx="871949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Activity:</a:t>
            </a:r>
            <a:endParaRPr/>
          </a:p>
          <a:p>
            <a:pPr marL="457200" marR="0" lvl="0" indent="-4572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Use Google to search the answer.</a:t>
            </a:r>
            <a:endParaRPr/>
          </a:p>
          <a:p>
            <a:pPr marL="457200" marR="0" lvl="0" indent="-4572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Think individually for 1 minute and complete the answer in the table below.</a:t>
            </a:r>
            <a:endParaRPr/>
          </a:p>
          <a:p>
            <a:pPr marL="457200" marR="0" lvl="0" indent="-457200" algn="l" rtl="0">
              <a:spcBef>
                <a:spcPts val="0"/>
              </a:spcBef>
              <a:spcAft>
                <a:spcPts val="0"/>
              </a:spcAft>
              <a:buClr>
                <a:schemeClr val="dk1"/>
              </a:buClr>
              <a:buSzPts val="2400"/>
              <a:buFont typeface="Calibri"/>
              <a:buAutoNum type="arabicPeriod"/>
            </a:pPr>
            <a:r>
              <a:rPr lang="en-US" sz="2400" strike="sngStrike">
                <a:solidFill>
                  <a:schemeClr val="dk1"/>
                </a:solidFill>
                <a:latin typeface="Calibri"/>
                <a:ea typeface="Calibri"/>
                <a:cs typeface="Calibri"/>
                <a:sym typeface="Calibri"/>
              </a:rPr>
              <a:t>Discuss with your neighbor for 2 minutes.</a:t>
            </a:r>
            <a:endParaRPr/>
          </a:p>
          <a:p>
            <a:pPr marL="457200" marR="0" lvl="0" indent="-4572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Share with the class when asked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4"/>
          <p:cNvSpPr txBox="1">
            <a:spLocks noGrp="1"/>
          </p:cNvSpPr>
          <p:nvPr>
            <p:ph type="ctrTitle"/>
          </p:nvPr>
        </p:nvSpPr>
        <p:spPr>
          <a:xfrm>
            <a:off x="683568" y="1484784"/>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IMPORTANCE OF SOFTWARE QUALITY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000"/>
              <a:buChar char="•"/>
            </a:pPr>
            <a:r>
              <a:rPr lang="en-US" sz="2000">
                <a:latin typeface="Calibri"/>
                <a:ea typeface="Calibri"/>
                <a:cs typeface="Calibri"/>
                <a:sym typeface="Calibri"/>
              </a:rPr>
              <a:t>Software is a major component of computer systems (about 80% of the cost) – used for</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Communication (e.g. phone system, email system).</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Health monitoring.</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Transportation (e.g. automobile, aeronautics).</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Economic exchanges (e.g. e-commerce).</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Entertainment.</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etc.</a:t>
            </a:r>
            <a:endParaRPr/>
          </a:p>
          <a:p>
            <a:pPr marL="342900" lvl="0" indent="-34290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Software defects are extremely costly in term of </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money</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reputation</a:t>
            </a:r>
            <a:endParaRPr/>
          </a:p>
          <a:p>
            <a:pPr marL="742950" lvl="1" indent="-285750" algn="l" rtl="0">
              <a:lnSpc>
                <a:spcPct val="90000"/>
              </a:lnSpc>
              <a:spcBef>
                <a:spcPts val="400"/>
              </a:spcBef>
              <a:spcAft>
                <a:spcPts val="0"/>
              </a:spcAft>
              <a:buClr>
                <a:schemeClr val="dk1"/>
              </a:buClr>
              <a:buSzPts val="2000"/>
              <a:buChar char="–"/>
            </a:pPr>
            <a:r>
              <a:rPr lang="en-US" sz="2000">
                <a:latin typeface="Calibri"/>
                <a:ea typeface="Calibri"/>
                <a:cs typeface="Calibri"/>
                <a:sym typeface="Calibri"/>
              </a:rPr>
              <a:t>loss of  life</a:t>
            </a:r>
            <a:endParaRPr/>
          </a:p>
        </p:txBody>
      </p:sp>
      <p:sp>
        <p:nvSpPr>
          <p:cNvPr id="203" name="Google Shape;203;p1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Importance of Software Quality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6"/>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
        <p:nvSpPr>
          <p:cNvPr id="210" name="Google Shape;210;p16"/>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77825" lvl="0" indent="-377825" algn="l" rtl="0">
              <a:spcBef>
                <a:spcPts val="0"/>
              </a:spcBef>
              <a:spcAft>
                <a:spcPts val="0"/>
              </a:spcAft>
              <a:buClr>
                <a:schemeClr val="dk1"/>
              </a:buClr>
              <a:buSzPts val="2400"/>
              <a:buFont typeface="Noto Sans Symbols"/>
              <a:buAutoNum type="arabicPeriod"/>
            </a:pPr>
            <a:r>
              <a:rPr lang="en-US" sz="2400"/>
              <a:t>Faulty requirements definition</a:t>
            </a:r>
            <a:endParaRPr/>
          </a:p>
          <a:p>
            <a:pPr marL="377825" lvl="0" indent="-377825" algn="l" rtl="0">
              <a:spcBef>
                <a:spcPts val="960"/>
              </a:spcBef>
              <a:spcAft>
                <a:spcPts val="0"/>
              </a:spcAft>
              <a:buClr>
                <a:schemeClr val="dk1"/>
              </a:buClr>
              <a:buSzPts val="2400"/>
              <a:buFont typeface="Noto Sans Symbols"/>
              <a:buAutoNum type="arabicPeriod"/>
            </a:pPr>
            <a:r>
              <a:rPr lang="en-US" sz="2400"/>
              <a:t>Client-developer communication failures</a:t>
            </a:r>
            <a:endParaRPr/>
          </a:p>
          <a:p>
            <a:pPr marL="377825" lvl="0" indent="-377825" algn="l" rtl="0">
              <a:spcBef>
                <a:spcPts val="960"/>
              </a:spcBef>
              <a:spcAft>
                <a:spcPts val="0"/>
              </a:spcAft>
              <a:buClr>
                <a:schemeClr val="dk1"/>
              </a:buClr>
              <a:buSzPts val="2400"/>
              <a:buFont typeface="Noto Sans Symbols"/>
              <a:buAutoNum type="arabicPeriod"/>
            </a:pPr>
            <a:r>
              <a:rPr lang="en-US" sz="2400"/>
              <a:t>Deliberate deviations from software requirements</a:t>
            </a:r>
            <a:endParaRPr/>
          </a:p>
          <a:p>
            <a:pPr marL="377825" lvl="0" indent="-377825" algn="l" rtl="0">
              <a:spcBef>
                <a:spcPts val="960"/>
              </a:spcBef>
              <a:spcAft>
                <a:spcPts val="0"/>
              </a:spcAft>
              <a:buClr>
                <a:schemeClr val="dk1"/>
              </a:buClr>
              <a:buSzPts val="2400"/>
              <a:buFont typeface="Noto Sans Symbols"/>
              <a:buAutoNum type="arabicPeriod"/>
            </a:pPr>
            <a:r>
              <a:rPr lang="en-US" sz="2400"/>
              <a:t>Logical design errors</a:t>
            </a:r>
            <a:endParaRPr/>
          </a:p>
          <a:p>
            <a:pPr marL="377825" lvl="0" indent="-377825" algn="l" rtl="0">
              <a:spcBef>
                <a:spcPts val="960"/>
              </a:spcBef>
              <a:spcAft>
                <a:spcPts val="0"/>
              </a:spcAft>
              <a:buClr>
                <a:schemeClr val="dk1"/>
              </a:buClr>
              <a:buSzPts val="2400"/>
              <a:buFont typeface="Noto Sans Symbols"/>
              <a:buAutoNum type="arabicPeriod"/>
            </a:pPr>
            <a:r>
              <a:rPr lang="en-US" sz="2400"/>
              <a:t>Coding errors</a:t>
            </a:r>
            <a:endParaRPr/>
          </a:p>
          <a:p>
            <a:pPr marL="377825" lvl="0" indent="-377825" algn="l" rtl="0">
              <a:spcBef>
                <a:spcPts val="960"/>
              </a:spcBef>
              <a:spcAft>
                <a:spcPts val="0"/>
              </a:spcAft>
              <a:buClr>
                <a:schemeClr val="dk1"/>
              </a:buClr>
              <a:buSzPts val="2400"/>
              <a:buFont typeface="Noto Sans Symbols"/>
              <a:buAutoNum type="arabicPeriod"/>
            </a:pPr>
            <a:r>
              <a:rPr lang="en-US" sz="2400"/>
              <a:t>Non-compliance with documentation and coding instructions</a:t>
            </a:r>
            <a:endParaRPr/>
          </a:p>
          <a:p>
            <a:pPr marL="377825" lvl="0" indent="-377825" algn="l" rtl="0">
              <a:spcBef>
                <a:spcPts val="960"/>
              </a:spcBef>
              <a:spcAft>
                <a:spcPts val="0"/>
              </a:spcAft>
              <a:buClr>
                <a:schemeClr val="dk1"/>
              </a:buClr>
              <a:buSzPts val="2400"/>
              <a:buFont typeface="Noto Sans Symbols"/>
              <a:buAutoNum type="arabicPeriod"/>
            </a:pPr>
            <a:r>
              <a:rPr lang="en-US" sz="2400"/>
              <a:t>Shortcomings of the testing process</a:t>
            </a:r>
            <a:endParaRPr/>
          </a:p>
          <a:p>
            <a:pPr marL="377825" lvl="0" indent="-377825" algn="l" rtl="0">
              <a:spcBef>
                <a:spcPts val="960"/>
              </a:spcBef>
              <a:spcAft>
                <a:spcPts val="0"/>
              </a:spcAft>
              <a:buClr>
                <a:schemeClr val="dk1"/>
              </a:buClr>
              <a:buSzPts val="2400"/>
              <a:buFont typeface="Noto Sans Symbols"/>
              <a:buAutoNum type="arabicPeriod"/>
            </a:pPr>
            <a:r>
              <a:rPr lang="en-US" sz="2400"/>
              <a:t>Procedure errors</a:t>
            </a:r>
            <a:endParaRPr/>
          </a:p>
          <a:p>
            <a:pPr marL="377825" lvl="0" indent="-377825" algn="l" rtl="0">
              <a:spcBef>
                <a:spcPts val="960"/>
              </a:spcBef>
              <a:spcAft>
                <a:spcPts val="0"/>
              </a:spcAft>
              <a:buClr>
                <a:schemeClr val="dk1"/>
              </a:buClr>
              <a:buSzPts val="2400"/>
              <a:buFont typeface="Noto Sans Symbols"/>
              <a:buAutoNum type="arabicPeriod"/>
            </a:pPr>
            <a:r>
              <a:rPr lang="en-US" sz="2400"/>
              <a:t>Documentation errors</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15"/>
        <p:cNvGrpSpPr/>
        <p:nvPr/>
      </p:nvGrpSpPr>
      <p:grpSpPr>
        <a:xfrm>
          <a:off x="0" y="0"/>
          <a:ext cx="0" cy="0"/>
          <a:chOff x="0" y="0"/>
          <a:chExt cx="0" cy="0"/>
        </a:xfrm>
      </p:grpSpPr>
      <p:sp>
        <p:nvSpPr>
          <p:cNvPr id="216" name="Google Shape;216;p17"/>
          <p:cNvSpPr txBox="1">
            <a:spLocks noGrp="1"/>
          </p:cNvSpPr>
          <p:nvPr>
            <p:ph type="title"/>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latin typeface="Calibri"/>
                <a:ea typeface="Calibri"/>
                <a:cs typeface="Calibri"/>
                <a:sym typeface="Calibri"/>
              </a:rPr>
              <a:t>Causes of Software Errors </a:t>
            </a:r>
            <a:r>
              <a:rPr lang="en-US" sz="2800" b="1" i="1">
                <a:solidFill>
                  <a:srgbClr val="FF0000"/>
                </a:solidFill>
                <a:latin typeface="Calibri"/>
                <a:ea typeface="Calibri"/>
                <a:cs typeface="Calibri"/>
                <a:sym typeface="Calibri"/>
              </a:rPr>
              <a:t>(Example of Instruction</a:t>
            </a:r>
            <a:r>
              <a:rPr lang="en-US" sz="2800" b="1">
                <a:latin typeface="Calibri"/>
                <a:ea typeface="Calibri"/>
                <a:cs typeface="Calibri"/>
                <a:sym typeface="Calibri"/>
              </a:rPr>
              <a:t>)</a:t>
            </a:r>
            <a:endParaRPr/>
          </a:p>
        </p:txBody>
      </p:sp>
      <p:sp>
        <p:nvSpPr>
          <p:cNvPr id="217" name="Google Shape;217;p17"/>
          <p:cNvSpPr txBox="1">
            <a:spLocks noGrp="1"/>
          </p:cNvSpPr>
          <p:nvPr>
            <p:ph type="body" idx="1"/>
          </p:nvPr>
        </p:nvSpPr>
        <p:spPr>
          <a:xfrm>
            <a:off x="323850" y="980728"/>
            <a:ext cx="8640638" cy="251961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latin typeface="Calibri"/>
                <a:ea typeface="Calibri"/>
                <a:cs typeface="Calibri"/>
                <a:sym typeface="Calibri"/>
              </a:rPr>
              <a:t>Activity (20 mins)</a:t>
            </a:r>
            <a:r>
              <a:rPr lang="en-US" sz="2400">
                <a:latin typeface="Calibri"/>
                <a:ea typeface="Calibri"/>
                <a:cs typeface="Calibri"/>
                <a:sym typeface="Calibri"/>
              </a:rPr>
              <a:t>:</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Form 8 groups. Every group is assigned with 1 cause of software error. Only group #8 is assigned 2 causes #8 and #9.</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Every group, take out 1 piece of A4 paper, draw an infographic to represent the given cause of error (Refer slide #16-24). Prepare drawing in 10 mins.</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After 10 min, snapshot the drawing and upload in forum, give 3 mins to student to read &amp; observe. </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Ask student to list the causes of software errors (Answer in slide #25) for the next famous software disaster cases (Refer slide #26-33). 5 min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8"/>
          <p:cNvSpPr txBox="1"/>
          <p:nvPr/>
        </p:nvSpPr>
        <p:spPr>
          <a:xfrm>
            <a:off x="366713" y="1008063"/>
            <a:ext cx="8426450" cy="4555093"/>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rgbClr val="0070C0"/>
              </a:buClr>
              <a:buSzPts val="2000"/>
              <a:buFont typeface="Times New Roman"/>
              <a:buAutoNum type="arabicPeriod"/>
            </a:pPr>
            <a:r>
              <a:rPr lang="en-US" sz="2000" b="1">
                <a:solidFill>
                  <a:srgbClr val="0070C0"/>
                </a:solidFill>
                <a:latin typeface="Times New Roman"/>
                <a:ea typeface="Times New Roman"/>
                <a:cs typeface="Times New Roman"/>
                <a:sym typeface="Times New Roman"/>
              </a:rPr>
              <a:t>Faulty Requirements Definition</a:t>
            </a:r>
            <a:endParaRPr/>
          </a:p>
          <a:p>
            <a:pPr marL="800100" marR="0" lvl="1"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Usually considered the </a:t>
            </a:r>
            <a:r>
              <a:rPr lang="en-US" sz="2000" b="0" i="0" u="sng" strike="noStrike" cap="none">
                <a:solidFill>
                  <a:srgbClr val="0070C0"/>
                </a:solidFill>
                <a:latin typeface="Times New Roman"/>
                <a:ea typeface="Times New Roman"/>
                <a:cs typeface="Times New Roman"/>
                <a:sym typeface="Times New Roman"/>
              </a:rPr>
              <a:t>root cause </a:t>
            </a:r>
            <a:r>
              <a:rPr lang="en-US" sz="2000" b="0" i="0" u="none" strike="noStrike" cap="none">
                <a:solidFill>
                  <a:srgbClr val="0070C0"/>
                </a:solidFill>
                <a:latin typeface="Times New Roman"/>
                <a:ea typeface="Times New Roman"/>
                <a:cs typeface="Times New Roman"/>
                <a:sym typeface="Times New Roman"/>
              </a:rPr>
              <a:t>of software errors</a:t>
            </a:r>
            <a:endParaRPr/>
          </a:p>
          <a:p>
            <a:pPr marL="800100" marR="0" lvl="1"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Incorrect requirement definitions</a:t>
            </a:r>
            <a:endParaRPr/>
          </a:p>
          <a:p>
            <a:pPr marL="1200150" marR="0" lvl="2"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Simply stated, ‘wrong’ definitions (formulas, etc.)</a:t>
            </a:r>
            <a:endParaRPr/>
          </a:p>
          <a:p>
            <a:pPr marL="800100" marR="0" lvl="1"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Incomplete definitions</a:t>
            </a:r>
            <a:endParaRPr/>
          </a:p>
          <a:p>
            <a:pPr marL="1200150" marR="0" lvl="2"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Unclear or implied requirements</a:t>
            </a:r>
            <a:endParaRPr/>
          </a:p>
          <a:p>
            <a:pPr marL="800100" marR="0" lvl="1"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Missing requirements</a:t>
            </a:r>
            <a:endParaRPr/>
          </a:p>
          <a:p>
            <a:pPr marL="1200150" marR="0" lvl="2"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Just flat-out ‘missing.’  (e.g.  Program Element Code)</a:t>
            </a:r>
            <a:endParaRPr/>
          </a:p>
          <a:p>
            <a:pPr marL="800100" marR="0" lvl="1"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Inclusion of unneeded requirements</a:t>
            </a:r>
            <a:endParaRPr/>
          </a:p>
          <a:p>
            <a:pPr marL="1200150" marR="0" lvl="2"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(many projects have gone amuck for including far too many requirements that will never be used.</a:t>
            </a:r>
            <a:endParaRPr/>
          </a:p>
          <a:p>
            <a:pPr marL="1200150" marR="0" lvl="2" indent="-342900" algn="l" rtl="0">
              <a:spcBef>
                <a:spcPts val="500"/>
              </a:spcBef>
              <a:spcAft>
                <a:spcPts val="0"/>
              </a:spcAft>
              <a:buClr>
                <a:srgbClr val="0070C0"/>
              </a:buClr>
              <a:buSzPts val="2000"/>
              <a:buFont typeface="Arial"/>
              <a:buChar char="•"/>
            </a:pPr>
            <a:r>
              <a:rPr lang="en-US" sz="2000" b="0" i="0" u="none" strike="noStrike" cap="none">
                <a:solidFill>
                  <a:srgbClr val="0070C0"/>
                </a:solidFill>
                <a:latin typeface="Times New Roman"/>
                <a:ea typeface="Times New Roman"/>
                <a:cs typeface="Times New Roman"/>
                <a:sym typeface="Times New Roman"/>
              </a:rPr>
              <a:t>Impacts budgets, complexity, development time, …</a:t>
            </a:r>
            <a:endParaRPr/>
          </a:p>
        </p:txBody>
      </p:sp>
      <p:sp>
        <p:nvSpPr>
          <p:cNvPr id="223" name="Google Shape;223;p1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9"/>
          <p:cNvSpPr txBox="1"/>
          <p:nvPr/>
        </p:nvSpPr>
        <p:spPr>
          <a:xfrm>
            <a:off x="358775" y="964472"/>
            <a:ext cx="8426450" cy="4708981"/>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chemeClr val="accent2"/>
              </a:buClr>
              <a:buSzPts val="2000"/>
              <a:buFont typeface="Times New Roman"/>
              <a:buAutoNum type="arabicPeriod" startAt="2"/>
            </a:pPr>
            <a:r>
              <a:rPr lang="en-US" sz="2000" b="1">
                <a:solidFill>
                  <a:schemeClr val="accent2"/>
                </a:solidFill>
                <a:latin typeface="Times New Roman"/>
                <a:ea typeface="Times New Roman"/>
                <a:cs typeface="Times New Roman"/>
                <a:sym typeface="Times New Roman"/>
              </a:rPr>
              <a:t>Client-developer communication failures</a:t>
            </a:r>
            <a:endParaRPr/>
          </a:p>
          <a:p>
            <a:pPr marL="742950" marR="0" lvl="1" indent="-28575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Misunderstanding of instructions in requirements documentation (written / graphical instructions)</a:t>
            </a:r>
            <a:endParaRPr/>
          </a:p>
          <a:p>
            <a:pPr marL="742950" marR="0" lvl="1" indent="-28575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Misunderstanding of written </a:t>
            </a:r>
            <a:r>
              <a:rPr lang="en-US" sz="2000" b="0" i="0" u="sng" strike="noStrike" cap="none">
                <a:solidFill>
                  <a:schemeClr val="accent2"/>
                </a:solidFill>
                <a:latin typeface="Times New Roman"/>
                <a:ea typeface="Times New Roman"/>
                <a:cs typeface="Times New Roman"/>
                <a:sym typeface="Times New Roman"/>
              </a:rPr>
              <a:t>changes</a:t>
            </a:r>
            <a:r>
              <a:rPr lang="en-US" sz="2000" b="0" i="0" u="none" strike="noStrike" cap="none">
                <a:solidFill>
                  <a:schemeClr val="accent2"/>
                </a:solidFill>
                <a:latin typeface="Times New Roman"/>
                <a:ea typeface="Times New Roman"/>
                <a:cs typeface="Times New Roman"/>
                <a:sym typeface="Times New Roman"/>
              </a:rPr>
              <a:t> during development.</a:t>
            </a:r>
            <a:endParaRPr/>
          </a:p>
          <a:p>
            <a:pPr marL="742950" marR="0" lvl="1" indent="-28575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Misunderstanding of </a:t>
            </a:r>
            <a:r>
              <a:rPr lang="en-US" sz="2000" b="0" i="0" u="sng" strike="noStrike" cap="none">
                <a:solidFill>
                  <a:schemeClr val="accent2"/>
                </a:solidFill>
                <a:latin typeface="Times New Roman"/>
                <a:ea typeface="Times New Roman"/>
                <a:cs typeface="Times New Roman"/>
                <a:sym typeface="Times New Roman"/>
              </a:rPr>
              <a:t>oral</a:t>
            </a:r>
            <a:r>
              <a:rPr lang="en-US" sz="2000" b="0" i="0" u="none" strike="noStrike" cap="none">
                <a:solidFill>
                  <a:schemeClr val="accent2"/>
                </a:solidFill>
                <a:latin typeface="Times New Roman"/>
                <a:ea typeface="Times New Roman"/>
                <a:cs typeface="Times New Roman"/>
                <a:sym typeface="Times New Roman"/>
              </a:rPr>
              <a:t> changes during development.</a:t>
            </a:r>
            <a:endParaRPr/>
          </a:p>
          <a:p>
            <a:pPr marL="742950" marR="0" lvl="1" indent="-28575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Lack of attention </a:t>
            </a:r>
            <a:endParaRPr/>
          </a:p>
          <a:p>
            <a:pPr marL="1143000" marR="0" lvl="2" indent="-22860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to client </a:t>
            </a:r>
            <a:r>
              <a:rPr lang="en-US" sz="2000" b="0" i="0" u="sng" strike="noStrike" cap="none">
                <a:solidFill>
                  <a:schemeClr val="accent2"/>
                </a:solidFill>
                <a:latin typeface="Times New Roman"/>
                <a:ea typeface="Times New Roman"/>
                <a:cs typeface="Times New Roman"/>
                <a:sym typeface="Times New Roman"/>
              </a:rPr>
              <a:t>messages</a:t>
            </a:r>
            <a:r>
              <a:rPr lang="en-US" sz="2000" b="0" i="0" u="none" strike="noStrike" cap="none">
                <a:solidFill>
                  <a:schemeClr val="accent2"/>
                </a:solidFill>
                <a:latin typeface="Times New Roman"/>
                <a:ea typeface="Times New Roman"/>
                <a:cs typeface="Times New Roman"/>
                <a:sym typeface="Times New Roman"/>
              </a:rPr>
              <a:t> by developers dealing with requirement changes and </a:t>
            </a:r>
            <a:endParaRPr/>
          </a:p>
          <a:p>
            <a:pPr marL="1143000" marR="0" lvl="2" indent="-22860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to client </a:t>
            </a:r>
            <a:r>
              <a:rPr lang="en-US" sz="2000" b="0" i="0" u="sng" strike="noStrike" cap="none">
                <a:solidFill>
                  <a:schemeClr val="accent2"/>
                </a:solidFill>
                <a:latin typeface="Times New Roman"/>
                <a:ea typeface="Times New Roman"/>
                <a:cs typeface="Times New Roman"/>
                <a:sym typeface="Times New Roman"/>
              </a:rPr>
              <a:t>responses</a:t>
            </a:r>
            <a:r>
              <a:rPr lang="en-US" sz="2000" b="0" i="0" u="none" strike="noStrike" cap="none">
                <a:solidFill>
                  <a:schemeClr val="accent2"/>
                </a:solidFill>
                <a:latin typeface="Times New Roman"/>
                <a:ea typeface="Times New Roman"/>
                <a:cs typeface="Times New Roman"/>
                <a:sym typeface="Times New Roman"/>
              </a:rPr>
              <a:t> by clients to developer questions</a:t>
            </a:r>
            <a:endParaRPr/>
          </a:p>
          <a:p>
            <a:pPr marL="457200" marR="0" lvl="0" indent="-457200" algn="l" rtl="0">
              <a:spcBef>
                <a:spcPts val="500"/>
              </a:spcBef>
              <a:spcAft>
                <a:spcPts val="0"/>
              </a:spcAft>
              <a:buClr>
                <a:schemeClr val="accent2"/>
              </a:buClr>
              <a:buSzPts val="2000"/>
              <a:buFont typeface="Arial"/>
              <a:buChar char="•"/>
            </a:pPr>
            <a:r>
              <a:rPr lang="en-US" sz="2000">
                <a:solidFill>
                  <a:schemeClr val="accent2"/>
                </a:solidFill>
                <a:latin typeface="Times New Roman"/>
                <a:ea typeface="Times New Roman"/>
                <a:cs typeface="Times New Roman"/>
                <a:sym typeface="Times New Roman"/>
              </a:rPr>
              <a:t>Very often, these very talented individuals come from different planets, it seems.</a:t>
            </a:r>
            <a:endParaRPr/>
          </a:p>
          <a:p>
            <a:pPr marL="742950" marR="0" lvl="1" indent="-285750" algn="l" rtl="0">
              <a:spcBef>
                <a:spcPts val="500"/>
              </a:spcBef>
              <a:spcAft>
                <a:spcPts val="0"/>
              </a:spcAft>
              <a:buClr>
                <a:schemeClr val="accent2"/>
              </a:buClr>
              <a:buSzPts val="2000"/>
              <a:buFont typeface="Arial"/>
              <a:buChar char="•"/>
            </a:pPr>
            <a:r>
              <a:rPr lang="en-US" sz="2000" b="0" i="0" u="none" strike="noStrike" cap="none">
                <a:solidFill>
                  <a:schemeClr val="accent2"/>
                </a:solidFill>
                <a:latin typeface="Times New Roman"/>
                <a:ea typeface="Times New Roman"/>
                <a:cs typeface="Times New Roman"/>
                <a:sym typeface="Times New Roman"/>
              </a:rPr>
              <a:t>Clients represent the users;  developers represent a different mind set entirely some times! </a:t>
            </a:r>
            <a:endParaRPr sz="2000" b="0" i="0" u="none" strike="noStrike" cap="none">
              <a:solidFill>
                <a:srgbClr val="FF9966"/>
              </a:solidFill>
              <a:latin typeface="Times New Roman"/>
              <a:ea typeface="Times New Roman"/>
              <a:cs typeface="Times New Roman"/>
              <a:sym typeface="Times New Roman"/>
            </a:endParaRPr>
          </a:p>
        </p:txBody>
      </p:sp>
      <p:sp>
        <p:nvSpPr>
          <p:cNvPr id="229" name="Google Shape;229;p19"/>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0"/>
          <p:cNvSpPr txBox="1"/>
          <p:nvPr/>
        </p:nvSpPr>
        <p:spPr>
          <a:xfrm>
            <a:off x="366713" y="937458"/>
            <a:ext cx="8597900" cy="4939814"/>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rgbClr val="990033"/>
              </a:buClr>
              <a:buSzPts val="2000"/>
              <a:buFont typeface="Times New Roman"/>
              <a:buAutoNum type="arabicPeriod" startAt="3"/>
            </a:pPr>
            <a:r>
              <a:rPr lang="en-US" sz="2000" b="1">
                <a:solidFill>
                  <a:srgbClr val="990033"/>
                </a:solidFill>
                <a:latin typeface="Times New Roman"/>
                <a:ea typeface="Times New Roman"/>
                <a:cs typeface="Times New Roman"/>
                <a:sym typeface="Times New Roman"/>
              </a:rPr>
              <a:t>Deliberate deviations from software requirements</a:t>
            </a:r>
            <a:endParaRPr/>
          </a:p>
          <a:p>
            <a:pPr marL="1143000" marR="0" lvl="2" indent="-22860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Developer reuses previous / similar work to save time.</a:t>
            </a:r>
            <a:endParaRPr/>
          </a:p>
          <a:p>
            <a:pPr marL="1143000" marR="0" lvl="2" indent="-22860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Often reused code needs modification which it may contain unneeded / unusable extraneous code.</a:t>
            </a:r>
            <a:endParaRPr/>
          </a:p>
          <a:p>
            <a:pPr marL="742950" marR="0" lvl="1" indent="-28575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Book suggests developer(s) may overtly </a:t>
            </a:r>
            <a:r>
              <a:rPr lang="en-US" sz="2000" b="0" i="0" u="sng" strike="noStrike" cap="none">
                <a:solidFill>
                  <a:srgbClr val="990033"/>
                </a:solidFill>
                <a:latin typeface="Times New Roman"/>
                <a:ea typeface="Times New Roman"/>
                <a:cs typeface="Times New Roman"/>
                <a:sym typeface="Times New Roman"/>
              </a:rPr>
              <a:t>omit</a:t>
            </a:r>
            <a:r>
              <a:rPr lang="en-US" sz="2000" b="0" i="0" u="none" strike="noStrike" cap="none">
                <a:solidFill>
                  <a:srgbClr val="990033"/>
                </a:solidFill>
                <a:latin typeface="Times New Roman"/>
                <a:ea typeface="Times New Roman"/>
                <a:cs typeface="Times New Roman"/>
                <a:sym typeface="Times New Roman"/>
              </a:rPr>
              <a:t> functionality due to time / budget pressures.</a:t>
            </a:r>
            <a:endParaRPr/>
          </a:p>
          <a:p>
            <a:pPr marL="1143000" marR="0" lvl="2" indent="-22860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Another BAD choice;  System testing will uncover these problems to everyone’s dismay!</a:t>
            </a:r>
            <a:endParaRPr/>
          </a:p>
          <a:p>
            <a:pPr marL="1143000" marR="0" lvl="2" indent="-22860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I have never seen this done intentionally – but understand it!</a:t>
            </a:r>
            <a:endParaRPr/>
          </a:p>
          <a:p>
            <a:pPr marL="742950" marR="0" lvl="1" indent="-28575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Developer inserting unapproved ‘enhancements’ (perfective coding;  a slick new sort / search….);  may also ignore some seemingly minor features, which sometimes are quite major.</a:t>
            </a:r>
            <a:endParaRPr/>
          </a:p>
          <a:p>
            <a:pPr marL="1143000" marR="0" lvl="2" indent="-228600" algn="l" rtl="0">
              <a:spcBef>
                <a:spcPts val="500"/>
              </a:spcBef>
              <a:spcAft>
                <a:spcPts val="0"/>
              </a:spcAft>
              <a:buClr>
                <a:srgbClr val="990033"/>
              </a:buClr>
              <a:buSzPts val="2000"/>
              <a:buFont typeface="Arial"/>
              <a:buChar char="•"/>
            </a:pPr>
            <a:r>
              <a:rPr lang="en-US" sz="2000" b="0" i="0" u="none" strike="noStrike" cap="none">
                <a:solidFill>
                  <a:srgbClr val="990033"/>
                </a:solidFill>
                <a:latin typeface="Times New Roman"/>
                <a:ea typeface="Times New Roman"/>
                <a:cs typeface="Times New Roman"/>
                <a:sym typeface="Times New Roman"/>
              </a:rPr>
              <a:t>Have seen this and it too causes problems and embarrassment during reviews.  </a:t>
            </a:r>
            <a:endParaRPr/>
          </a:p>
        </p:txBody>
      </p:sp>
      <p:sp>
        <p:nvSpPr>
          <p:cNvPr id="235" name="Google Shape;235;p20"/>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1"/>
          <p:cNvSpPr txBox="1"/>
          <p:nvPr/>
        </p:nvSpPr>
        <p:spPr>
          <a:xfrm>
            <a:off x="179388" y="932829"/>
            <a:ext cx="8613775" cy="5093702"/>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US" sz="2000" b="1">
                <a:solidFill>
                  <a:srgbClr val="00B050"/>
                </a:solidFill>
                <a:latin typeface="Times New Roman"/>
                <a:ea typeface="Times New Roman"/>
                <a:cs typeface="Times New Roman"/>
                <a:sym typeface="Times New Roman"/>
              </a:rPr>
              <a:t>4.  Logical design errors</a:t>
            </a:r>
            <a:endParaRPr/>
          </a:p>
          <a:p>
            <a:pPr marL="742950" marR="0" lvl="1" indent="-28575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Definitions that represent software requirements by means of erroneous algorithms.</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Yep!  Wrong formulas;  </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Wrong Decision Logic Tables;  </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Incorrect descriptions in text</a:t>
            </a:r>
            <a:endParaRPr/>
          </a:p>
          <a:p>
            <a:pPr marL="742950" marR="0" lvl="1" indent="-28575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Process definitions:  procedures specified by systems analyst not accurately reflecting the real business process </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Note: all errors are not necessarily software errors.</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This seems like a procedural error, and likely not a part of the software system…But they are errors nonetheless!</a:t>
            </a:r>
            <a:endParaRPr/>
          </a:p>
          <a:p>
            <a:pPr marL="742950" marR="0" lvl="1" indent="-28575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Erroneous Definition of Boundary Condition – a common source of errors</a:t>
            </a:r>
            <a:endParaRPr/>
          </a:p>
          <a:p>
            <a:pPr marL="1143000" marR="0" lvl="2" indent="-228600" algn="l" rtl="0">
              <a:spcBef>
                <a:spcPts val="500"/>
              </a:spcBef>
              <a:spcAft>
                <a:spcPts val="0"/>
              </a:spcAft>
              <a:buClr>
                <a:srgbClr val="00B050"/>
              </a:buClr>
              <a:buSzPts val="2000"/>
              <a:buFont typeface="Arial"/>
              <a:buChar char="•"/>
            </a:pPr>
            <a:r>
              <a:rPr lang="en-US" sz="2000" b="0" i="0" u="none" strike="noStrike" cap="none">
                <a:solidFill>
                  <a:srgbClr val="00B050"/>
                </a:solidFill>
                <a:latin typeface="Times New Roman"/>
                <a:ea typeface="Times New Roman"/>
                <a:cs typeface="Times New Roman"/>
                <a:sym typeface="Times New Roman"/>
              </a:rPr>
              <a:t>The “absolutes” like ‘no more than’  “fewer than,” “n times or more;”  “the first time,” etc.</a:t>
            </a:r>
            <a:endParaRPr/>
          </a:p>
        </p:txBody>
      </p:sp>
      <p:sp>
        <p:nvSpPr>
          <p:cNvPr id="241" name="Google Shape;241;p21"/>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2"/>
          <p:cNvSpPr txBox="1"/>
          <p:nvPr/>
        </p:nvSpPr>
        <p:spPr>
          <a:xfrm>
            <a:off x="366713" y="1008063"/>
            <a:ext cx="8426450" cy="3554819"/>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US" sz="2000" b="1">
                <a:solidFill>
                  <a:srgbClr val="CC00CC"/>
                </a:solidFill>
                <a:latin typeface="Times New Roman"/>
                <a:ea typeface="Times New Roman"/>
                <a:cs typeface="Times New Roman"/>
                <a:sym typeface="Times New Roman"/>
              </a:rPr>
              <a:t>4.  Logical design errors</a:t>
            </a:r>
            <a:endParaRPr/>
          </a:p>
          <a:p>
            <a:pPr marL="742950" marR="0" lvl="1" indent="-285750" algn="l" rtl="0">
              <a:spcBef>
                <a:spcPts val="500"/>
              </a:spcBef>
              <a:spcAft>
                <a:spcPts val="0"/>
              </a:spcAft>
              <a:buClr>
                <a:srgbClr val="CC00CC"/>
              </a:buClr>
              <a:buSzPts val="2000"/>
              <a:buFont typeface="Arial"/>
              <a:buChar char="•"/>
            </a:pPr>
            <a:r>
              <a:rPr lang="en-US" sz="2000" b="0" i="0" u="none" strike="noStrike" cap="none">
                <a:solidFill>
                  <a:srgbClr val="CC00CC"/>
                </a:solidFill>
                <a:latin typeface="Times New Roman"/>
                <a:ea typeface="Times New Roman"/>
                <a:cs typeface="Times New Roman"/>
                <a:sym typeface="Times New Roman"/>
              </a:rPr>
              <a:t>Omission of required software </a:t>
            </a:r>
            <a:r>
              <a:rPr lang="en-US" sz="2000" b="0" i="0" u="sng" strike="noStrike" cap="none">
                <a:solidFill>
                  <a:srgbClr val="CC00CC"/>
                </a:solidFill>
                <a:latin typeface="Times New Roman"/>
                <a:ea typeface="Times New Roman"/>
                <a:cs typeface="Times New Roman"/>
                <a:sym typeface="Times New Roman"/>
              </a:rPr>
              <a:t>system states</a:t>
            </a:r>
            <a:endParaRPr/>
          </a:p>
          <a:p>
            <a:pPr marL="1143000" marR="0" lvl="2" indent="-228600" algn="l" rtl="0">
              <a:spcBef>
                <a:spcPts val="500"/>
              </a:spcBef>
              <a:spcAft>
                <a:spcPts val="0"/>
              </a:spcAft>
              <a:buClr>
                <a:srgbClr val="CC00CC"/>
              </a:buClr>
              <a:buSzPts val="2000"/>
              <a:buFont typeface="Arial"/>
              <a:buChar char="•"/>
            </a:pPr>
            <a:r>
              <a:rPr lang="en-US" sz="2000" b="0" i="0" u="none" strike="noStrike" cap="none">
                <a:solidFill>
                  <a:srgbClr val="CC00CC"/>
                </a:solidFill>
                <a:latin typeface="Times New Roman"/>
                <a:ea typeface="Times New Roman"/>
                <a:cs typeface="Times New Roman"/>
                <a:sym typeface="Times New Roman"/>
              </a:rPr>
              <a:t>If rank is &gt;= O1 </a:t>
            </a:r>
            <a:r>
              <a:rPr lang="en-US" sz="2000" b="0" i="0" u="sng" strike="noStrike" cap="none">
                <a:solidFill>
                  <a:srgbClr val="CC00CC"/>
                </a:solidFill>
                <a:latin typeface="Times New Roman"/>
                <a:ea typeface="Times New Roman"/>
                <a:cs typeface="Times New Roman"/>
                <a:sym typeface="Times New Roman"/>
              </a:rPr>
              <a:t>and</a:t>
            </a:r>
            <a:r>
              <a:rPr lang="en-US" sz="2000" b="0" i="0" u="none" strike="noStrike" cap="none">
                <a:solidFill>
                  <a:srgbClr val="CC00CC"/>
                </a:solidFill>
                <a:latin typeface="Times New Roman"/>
                <a:ea typeface="Times New Roman"/>
                <a:cs typeface="Times New Roman"/>
                <a:sym typeface="Times New Roman"/>
              </a:rPr>
              <a:t> RPI is numeric, then….easy to miss an </a:t>
            </a:r>
            <a:r>
              <a:rPr lang="en-US" sz="2000" b="0" i="0" u="sng" strike="noStrike" cap="none">
                <a:solidFill>
                  <a:srgbClr val="CC00CC"/>
                </a:solidFill>
                <a:latin typeface="Times New Roman"/>
                <a:ea typeface="Times New Roman"/>
                <a:cs typeface="Times New Roman"/>
                <a:sym typeface="Times New Roman"/>
              </a:rPr>
              <a:t>action</a:t>
            </a:r>
            <a:r>
              <a:rPr lang="en-US" sz="2000" b="0" i="0" u="none" strike="noStrike" cap="none">
                <a:solidFill>
                  <a:srgbClr val="CC00CC"/>
                </a:solidFill>
                <a:latin typeface="Times New Roman"/>
                <a:ea typeface="Times New Roman"/>
                <a:cs typeface="Times New Roman"/>
                <a:sym typeface="Times New Roman"/>
              </a:rPr>
              <a:t> based on the software system </a:t>
            </a:r>
            <a:r>
              <a:rPr lang="en-US" sz="2000" b="0" i="0" u="sng" strike="noStrike" cap="none">
                <a:solidFill>
                  <a:srgbClr val="CC00CC"/>
                </a:solidFill>
                <a:latin typeface="Times New Roman"/>
                <a:ea typeface="Times New Roman"/>
                <a:cs typeface="Times New Roman"/>
                <a:sym typeface="Times New Roman"/>
              </a:rPr>
              <a:t>state</a:t>
            </a:r>
            <a:r>
              <a:rPr lang="en-US" sz="2000" b="0" i="0" u="none" strike="noStrike" cap="none">
                <a:solidFill>
                  <a:srgbClr val="CC00CC"/>
                </a:solidFill>
                <a:latin typeface="Times New Roman"/>
                <a:ea typeface="Times New Roman"/>
                <a:cs typeface="Times New Roman"/>
                <a:sym typeface="Times New Roman"/>
              </a:rPr>
              <a:t>.</a:t>
            </a:r>
            <a:endParaRPr/>
          </a:p>
          <a:p>
            <a:pPr marL="742950" marR="0" lvl="1" indent="-285750" algn="l" rtl="0">
              <a:spcBef>
                <a:spcPts val="500"/>
              </a:spcBef>
              <a:spcAft>
                <a:spcPts val="0"/>
              </a:spcAft>
              <a:buClr>
                <a:srgbClr val="CC00CC"/>
              </a:buClr>
              <a:buSzPts val="2000"/>
              <a:buFont typeface="Arial"/>
              <a:buChar char="•"/>
            </a:pPr>
            <a:r>
              <a:rPr lang="en-US" sz="2000" b="0" i="0" u="none" strike="noStrike" cap="none">
                <a:solidFill>
                  <a:srgbClr val="CC00CC"/>
                </a:solidFill>
                <a:latin typeface="Times New Roman"/>
                <a:ea typeface="Times New Roman"/>
                <a:cs typeface="Times New Roman"/>
                <a:sym typeface="Times New Roman"/>
              </a:rPr>
              <a:t>Omission of </a:t>
            </a:r>
            <a:r>
              <a:rPr lang="en-US" sz="2000" b="0" i="0" u="sng" strike="noStrike" cap="none">
                <a:solidFill>
                  <a:srgbClr val="CC00CC"/>
                </a:solidFill>
                <a:latin typeface="Times New Roman"/>
                <a:ea typeface="Times New Roman"/>
                <a:cs typeface="Times New Roman"/>
                <a:sym typeface="Times New Roman"/>
              </a:rPr>
              <a:t>definitions</a:t>
            </a:r>
            <a:r>
              <a:rPr lang="en-US" sz="2000" b="0" i="0" u="none" strike="noStrike" cap="none">
                <a:solidFill>
                  <a:srgbClr val="CC00CC"/>
                </a:solidFill>
                <a:latin typeface="Times New Roman"/>
                <a:ea typeface="Times New Roman"/>
                <a:cs typeface="Times New Roman"/>
                <a:sym typeface="Times New Roman"/>
              </a:rPr>
              <a:t> / </a:t>
            </a:r>
            <a:r>
              <a:rPr lang="en-US" sz="2000" b="0" i="0" u="sng" strike="noStrike" cap="none">
                <a:solidFill>
                  <a:srgbClr val="CC00CC"/>
                </a:solidFill>
                <a:latin typeface="Times New Roman"/>
                <a:ea typeface="Times New Roman"/>
                <a:cs typeface="Times New Roman"/>
                <a:sym typeface="Times New Roman"/>
              </a:rPr>
              <a:t>procedures </a:t>
            </a:r>
            <a:r>
              <a:rPr lang="en-US" sz="2000" b="0" i="0" u="none" strike="noStrike" cap="none">
                <a:solidFill>
                  <a:srgbClr val="CC00CC"/>
                </a:solidFill>
                <a:latin typeface="Times New Roman"/>
                <a:ea typeface="Times New Roman"/>
                <a:cs typeface="Times New Roman"/>
                <a:sym typeface="Times New Roman"/>
              </a:rPr>
              <a:t>concerning </a:t>
            </a:r>
            <a:r>
              <a:rPr lang="en-US" sz="2000" b="0" i="0" u="sng" strike="noStrike" cap="none">
                <a:solidFill>
                  <a:srgbClr val="CC00CC"/>
                </a:solidFill>
                <a:latin typeface="Times New Roman"/>
                <a:ea typeface="Times New Roman"/>
                <a:cs typeface="Times New Roman"/>
                <a:sym typeface="Times New Roman"/>
              </a:rPr>
              <a:t>reactions</a:t>
            </a:r>
            <a:r>
              <a:rPr lang="en-US" sz="2000" b="0" i="0" u="none" strike="noStrike" cap="none">
                <a:solidFill>
                  <a:srgbClr val="CC00CC"/>
                </a:solidFill>
                <a:latin typeface="Times New Roman"/>
                <a:ea typeface="Times New Roman"/>
                <a:cs typeface="Times New Roman"/>
                <a:sym typeface="Times New Roman"/>
              </a:rPr>
              <a:t> to illegal operation of the software system.</a:t>
            </a:r>
            <a:endParaRPr/>
          </a:p>
          <a:p>
            <a:pPr marL="1143000" marR="0" lvl="2" indent="-228600" algn="l" rtl="0">
              <a:spcBef>
                <a:spcPts val="500"/>
              </a:spcBef>
              <a:spcAft>
                <a:spcPts val="0"/>
              </a:spcAft>
              <a:buClr>
                <a:srgbClr val="CC00CC"/>
              </a:buClr>
              <a:buSzPts val="2000"/>
              <a:buFont typeface="Arial"/>
              <a:buChar char="•"/>
            </a:pPr>
            <a:r>
              <a:rPr lang="en-US" sz="2000" b="0" i="0" u="none" strike="noStrike" cap="none">
                <a:solidFill>
                  <a:srgbClr val="CC00CC"/>
                </a:solidFill>
                <a:latin typeface="Times New Roman"/>
                <a:ea typeface="Times New Roman"/>
                <a:cs typeface="Times New Roman"/>
                <a:sym typeface="Times New Roman"/>
              </a:rPr>
              <a:t>Including not only code to detect an illegal operation but failure to design the computer software reaction to this: Gracefully terminate, sound 	alarm, etc. ??</a:t>
            </a:r>
            <a:endParaRPr/>
          </a:p>
          <a:p>
            <a:pPr marL="914400" marR="0" lvl="2" indent="0" algn="l" rtl="0">
              <a:spcBef>
                <a:spcPts val="500"/>
              </a:spcBef>
              <a:spcAft>
                <a:spcPts val="0"/>
              </a:spcAft>
              <a:buNone/>
            </a:pPr>
            <a:r>
              <a:rPr lang="en-US" sz="2000" b="0" i="0" u="none" strike="noStrike" cap="none">
                <a:solidFill>
                  <a:srgbClr val="CC00CC"/>
                </a:solidFill>
                <a:latin typeface="Times New Roman"/>
                <a:ea typeface="Times New Roman"/>
                <a:cs typeface="Times New Roman"/>
                <a:sym typeface="Times New Roman"/>
              </a:rPr>
              <a:t>  </a:t>
            </a:r>
            <a:endParaRPr/>
          </a:p>
        </p:txBody>
      </p:sp>
      <p:sp>
        <p:nvSpPr>
          <p:cNvPr id="247" name="Google Shape;247;p22"/>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3"/>
          <p:cNvSpPr txBox="1"/>
          <p:nvPr/>
        </p:nvSpPr>
        <p:spPr>
          <a:xfrm>
            <a:off x="366713" y="1204913"/>
            <a:ext cx="8426450" cy="4093428"/>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rgbClr val="FF0066"/>
              </a:buClr>
              <a:buSzPts val="2000"/>
              <a:buFont typeface="Times New Roman"/>
              <a:buAutoNum type="arabicPeriod" startAt="5"/>
            </a:pPr>
            <a:r>
              <a:rPr lang="en-US" sz="2000" b="1">
                <a:solidFill>
                  <a:srgbClr val="FF0066"/>
                </a:solidFill>
                <a:latin typeface="Times New Roman"/>
                <a:ea typeface="Times New Roman"/>
                <a:cs typeface="Times New Roman"/>
                <a:sym typeface="Times New Roman"/>
              </a:rPr>
              <a:t>Coding errors</a:t>
            </a:r>
            <a:endParaRPr sz="2000" b="1">
              <a:solidFill>
                <a:srgbClr val="008080"/>
              </a:solidFill>
              <a:latin typeface="Times New Roman"/>
              <a:ea typeface="Times New Roman"/>
              <a:cs typeface="Times New Roman"/>
              <a:sym typeface="Times New Roman"/>
            </a:endParaRPr>
          </a:p>
          <a:p>
            <a:pPr marL="742950" marR="0" lvl="1" indent="-28575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Too many to try to list.</a:t>
            </a:r>
            <a:endParaRPr/>
          </a:p>
          <a:p>
            <a:pPr marL="1143000" marR="0" lvl="2" indent="-2286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Syntax errors (grammatical errors)</a:t>
            </a:r>
            <a:endParaRPr/>
          </a:p>
          <a:p>
            <a:pPr marL="1143000" marR="0" lvl="2" indent="-2286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Logic errors (program runs;  results wrong)</a:t>
            </a:r>
            <a:endParaRPr/>
          </a:p>
          <a:p>
            <a:pPr marL="1143000" marR="0" lvl="2" indent="-2286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Run-time errors (crash during execution)</a:t>
            </a:r>
            <a:endParaRPr/>
          </a:p>
          <a:p>
            <a:pPr marL="1143000" marR="0" lvl="2" indent="-101600" algn="l" rtl="0">
              <a:spcBef>
                <a:spcPts val="500"/>
              </a:spcBef>
              <a:spcAft>
                <a:spcPts val="0"/>
              </a:spcAft>
              <a:buClr>
                <a:schemeClr val="dk1"/>
              </a:buClr>
              <a:buSzPts val="2000"/>
              <a:buFont typeface="Arial"/>
              <a:buNone/>
            </a:pPr>
            <a:endParaRPr sz="2000" b="0" i="0" u="none" strike="noStrike" cap="none">
              <a:solidFill>
                <a:srgbClr val="008080"/>
              </a:solidFill>
              <a:latin typeface="Times New Roman"/>
              <a:ea typeface="Times New Roman"/>
              <a:cs typeface="Times New Roman"/>
              <a:sym typeface="Times New Roman"/>
            </a:endParaRPr>
          </a:p>
          <a:p>
            <a:pPr marL="457200" marR="0" lvl="0" indent="-457200" algn="l" rtl="0">
              <a:spcBef>
                <a:spcPts val="500"/>
              </a:spcBef>
              <a:spcAft>
                <a:spcPts val="0"/>
              </a:spcAft>
              <a:buClr>
                <a:srgbClr val="008080"/>
              </a:buClr>
              <a:buSzPts val="2000"/>
              <a:buFont typeface="Arial"/>
              <a:buChar char="•"/>
            </a:pPr>
            <a:r>
              <a:rPr lang="en-US" sz="2000">
                <a:solidFill>
                  <a:srgbClr val="008080"/>
                </a:solidFill>
                <a:latin typeface="Times New Roman"/>
                <a:ea typeface="Times New Roman"/>
                <a:cs typeface="Times New Roman"/>
                <a:sym typeface="Times New Roman"/>
              </a:rPr>
              <a:t>Know the differences.  Be also able to supply an example.  Examples do not ‘define’ something, but they may be used to ‘support’ or ‘supplement’ a definition.</a:t>
            </a:r>
            <a:endParaRPr/>
          </a:p>
          <a:p>
            <a:pPr marL="1143000" marR="0" lvl="2" indent="-101600" algn="l" rtl="0">
              <a:spcBef>
                <a:spcPts val="500"/>
              </a:spcBef>
              <a:spcAft>
                <a:spcPts val="0"/>
              </a:spcAft>
              <a:buClr>
                <a:schemeClr val="dk1"/>
              </a:buClr>
              <a:buSzPts val="2000"/>
              <a:buFont typeface="Arial"/>
              <a:buNone/>
            </a:pPr>
            <a:endParaRPr sz="2000" b="1" i="0" u="none" strike="noStrike" cap="none">
              <a:solidFill>
                <a:srgbClr val="008080"/>
              </a:solidFill>
              <a:latin typeface="Times New Roman"/>
              <a:ea typeface="Times New Roman"/>
              <a:cs typeface="Times New Roman"/>
              <a:sym typeface="Times New Roman"/>
            </a:endParaRPr>
          </a:p>
          <a:p>
            <a:pPr marL="914400" marR="0" lvl="2" indent="0" algn="l" rtl="0">
              <a:spcBef>
                <a:spcPts val="500"/>
              </a:spcBef>
              <a:spcAft>
                <a:spcPts val="0"/>
              </a:spcAft>
              <a:buNone/>
            </a:pPr>
            <a:endParaRPr sz="2000" b="1" i="0" u="none" strike="noStrike" cap="none">
              <a:solidFill>
                <a:srgbClr val="FF0066"/>
              </a:solidFill>
              <a:latin typeface="Times New Roman"/>
              <a:ea typeface="Times New Roman"/>
              <a:cs typeface="Times New Roman"/>
              <a:sym typeface="Times New Roman"/>
            </a:endParaRPr>
          </a:p>
        </p:txBody>
      </p:sp>
      <p:sp>
        <p:nvSpPr>
          <p:cNvPr id="253" name="Google Shape;253;p23"/>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4"/>
          <p:cNvSpPr txBox="1"/>
          <p:nvPr/>
        </p:nvSpPr>
        <p:spPr>
          <a:xfrm>
            <a:off x="250825" y="1138238"/>
            <a:ext cx="8713788" cy="4401205"/>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rgbClr val="008080"/>
              </a:buClr>
              <a:buSzPts val="2000"/>
              <a:buFont typeface="Times New Roman"/>
              <a:buAutoNum type="arabicPeriod" startAt="6"/>
            </a:pPr>
            <a:r>
              <a:rPr lang="en-US" sz="2000" b="1" u="sng">
                <a:solidFill>
                  <a:srgbClr val="008080"/>
                </a:solidFill>
                <a:latin typeface="Times New Roman"/>
                <a:ea typeface="Times New Roman"/>
                <a:cs typeface="Times New Roman"/>
                <a:sym typeface="Times New Roman"/>
              </a:rPr>
              <a:t>Non-complianc</a:t>
            </a:r>
            <a:r>
              <a:rPr lang="en-US" sz="2000" b="1">
                <a:solidFill>
                  <a:srgbClr val="008080"/>
                </a:solidFill>
                <a:latin typeface="Times New Roman"/>
                <a:ea typeface="Times New Roman"/>
                <a:cs typeface="Times New Roman"/>
                <a:sym typeface="Times New Roman"/>
              </a:rPr>
              <a:t>e with documentation and coding instructions</a:t>
            </a:r>
            <a:endParaRPr/>
          </a:p>
          <a:p>
            <a:pPr marL="742950" marR="0" lvl="1" indent="-28575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Non-compliance with </a:t>
            </a:r>
            <a:r>
              <a:rPr lang="en-US" sz="2000" b="0" i="0" u="sng" strike="noStrike" cap="none">
                <a:solidFill>
                  <a:srgbClr val="008080"/>
                </a:solidFill>
                <a:latin typeface="Times New Roman"/>
                <a:ea typeface="Times New Roman"/>
                <a:cs typeface="Times New Roman"/>
                <a:sym typeface="Times New Roman"/>
              </a:rPr>
              <a:t>published</a:t>
            </a:r>
            <a:r>
              <a:rPr lang="en-US" sz="2000" b="0" i="0" u="none" strike="noStrike" cap="none">
                <a:solidFill>
                  <a:srgbClr val="008080"/>
                </a:solidFill>
                <a:latin typeface="Times New Roman"/>
                <a:ea typeface="Times New Roman"/>
                <a:cs typeface="Times New Roman"/>
                <a:sym typeface="Times New Roman"/>
              </a:rPr>
              <a:t> </a:t>
            </a:r>
            <a:r>
              <a:rPr lang="en-US" sz="2000" b="0" i="0" u="sng" strike="noStrike" cap="none">
                <a:solidFill>
                  <a:srgbClr val="008080"/>
                </a:solidFill>
                <a:latin typeface="Times New Roman"/>
                <a:ea typeface="Times New Roman"/>
                <a:cs typeface="Times New Roman"/>
                <a:sym typeface="Times New Roman"/>
              </a:rPr>
              <a:t>templates  (formats)</a:t>
            </a:r>
            <a:endParaRPr/>
          </a:p>
          <a:p>
            <a:pPr marL="742950" marR="0" lvl="1" indent="-28575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Non-compliance with </a:t>
            </a:r>
            <a:r>
              <a:rPr lang="en-US" sz="2000" b="0" i="0" u="sng" strike="noStrike" cap="none">
                <a:solidFill>
                  <a:srgbClr val="008080"/>
                </a:solidFill>
                <a:latin typeface="Times New Roman"/>
                <a:ea typeface="Times New Roman"/>
                <a:cs typeface="Times New Roman"/>
                <a:sym typeface="Times New Roman"/>
              </a:rPr>
              <a:t>coding standards</a:t>
            </a:r>
            <a:endParaRPr/>
          </a:p>
          <a:p>
            <a:pPr marL="1143000" marR="0" lvl="2" indent="-2286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(Standards and Integration Branch)</a:t>
            </a:r>
            <a:endParaRPr/>
          </a:p>
          <a:p>
            <a:pPr marL="1143000" marR="0" lvl="2" indent="-228600" algn="l" rtl="0">
              <a:spcBef>
                <a:spcPts val="500"/>
              </a:spcBef>
              <a:spcAft>
                <a:spcPts val="0"/>
              </a:spcAft>
              <a:buClr>
                <a:srgbClr val="008080"/>
              </a:buClr>
              <a:buSzPts val="2000"/>
              <a:buFont typeface="Arial"/>
              <a:buChar char="•"/>
            </a:pPr>
            <a:r>
              <a:rPr lang="en-US" sz="2000" b="0" i="0" u="sng" strike="noStrike" cap="none">
                <a:solidFill>
                  <a:srgbClr val="008080"/>
                </a:solidFill>
                <a:latin typeface="Times New Roman"/>
                <a:ea typeface="Times New Roman"/>
                <a:cs typeface="Times New Roman"/>
                <a:sym typeface="Times New Roman"/>
              </a:rPr>
              <a:t>Size</a:t>
            </a:r>
            <a:r>
              <a:rPr lang="en-US" sz="2000" b="0" i="0" u="none" strike="noStrike" cap="none">
                <a:solidFill>
                  <a:srgbClr val="008080"/>
                </a:solidFill>
                <a:latin typeface="Times New Roman"/>
                <a:ea typeface="Times New Roman"/>
                <a:cs typeface="Times New Roman"/>
                <a:sym typeface="Times New Roman"/>
              </a:rPr>
              <a:t> of program;  </a:t>
            </a:r>
            <a:endParaRPr/>
          </a:p>
          <a:p>
            <a:pPr marL="1600200" marR="0" lvl="3" indent="-2286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Other programs must be able to run in environment!</a:t>
            </a:r>
            <a:endParaRPr/>
          </a:p>
          <a:p>
            <a:pPr marL="1143000" marR="0" lvl="2" indent="-228600" algn="l" rtl="0">
              <a:spcBef>
                <a:spcPts val="500"/>
              </a:spcBef>
              <a:spcAft>
                <a:spcPts val="0"/>
              </a:spcAft>
              <a:buClr>
                <a:srgbClr val="008080"/>
              </a:buClr>
              <a:buSzPts val="2000"/>
              <a:buFont typeface="Arial"/>
              <a:buChar char="•"/>
            </a:pPr>
            <a:r>
              <a:rPr lang="en-US" sz="2000" b="0" i="0" u="sng" strike="noStrike" cap="none">
                <a:solidFill>
                  <a:srgbClr val="008080"/>
                </a:solidFill>
                <a:latin typeface="Times New Roman"/>
                <a:ea typeface="Times New Roman"/>
                <a:cs typeface="Times New Roman"/>
                <a:sym typeface="Times New Roman"/>
              </a:rPr>
              <a:t>Coding</a:t>
            </a:r>
            <a:r>
              <a:rPr lang="en-US" sz="2000" b="0" i="0" u="none" strike="noStrike" cap="none">
                <a:solidFill>
                  <a:srgbClr val="008080"/>
                </a:solidFill>
                <a:latin typeface="Times New Roman"/>
                <a:ea typeface="Times New Roman"/>
                <a:cs typeface="Times New Roman"/>
                <a:sym typeface="Times New Roman"/>
              </a:rPr>
              <a:t>:  Data Elements and Codes:  AFM 300-4;  </a:t>
            </a:r>
            <a:endParaRPr/>
          </a:p>
          <a:p>
            <a:pPr marL="1143000" marR="0" lvl="2" indent="-228600" algn="l" rtl="0">
              <a:spcBef>
                <a:spcPts val="500"/>
              </a:spcBef>
              <a:spcAft>
                <a:spcPts val="0"/>
              </a:spcAft>
              <a:buClr>
                <a:srgbClr val="008080"/>
              </a:buClr>
              <a:buSzPts val="2000"/>
              <a:buFont typeface="Arial"/>
              <a:buChar char="•"/>
            </a:pPr>
            <a:r>
              <a:rPr lang="en-US" sz="2000" b="0" i="0" u="sng" strike="noStrike" cap="none">
                <a:solidFill>
                  <a:srgbClr val="008080"/>
                </a:solidFill>
                <a:latin typeface="Times New Roman"/>
                <a:ea typeface="Times New Roman"/>
                <a:cs typeface="Times New Roman"/>
                <a:sym typeface="Times New Roman"/>
              </a:rPr>
              <a:t>Development Procedures:  </a:t>
            </a:r>
            <a:r>
              <a:rPr lang="en-US" sz="2000" b="0" i="0" u="none" strike="noStrike" cap="none">
                <a:solidFill>
                  <a:srgbClr val="008080"/>
                </a:solidFill>
                <a:latin typeface="Times New Roman"/>
                <a:ea typeface="Times New Roman"/>
                <a:cs typeface="Times New Roman"/>
                <a:sym typeface="Times New Roman"/>
              </a:rPr>
              <a:t>Required documentation manuals and operating instructions;  AFDSDCM 300-8, etc…</a:t>
            </a:r>
            <a:endParaRPr/>
          </a:p>
          <a:p>
            <a:pPr marL="742950" marR="0" lvl="1" indent="-285750" algn="l" rtl="0">
              <a:spcBef>
                <a:spcPts val="500"/>
              </a:spcBef>
              <a:spcAft>
                <a:spcPts val="0"/>
              </a:spcAft>
              <a:buClr>
                <a:srgbClr val="008080"/>
              </a:buClr>
              <a:buSzPts val="2000"/>
              <a:buFont typeface="Arial"/>
              <a:buChar char="•"/>
            </a:pPr>
            <a:r>
              <a:rPr lang="en-US" sz="2000" b="0" i="0" u="sng" strike="noStrike" cap="none">
                <a:solidFill>
                  <a:srgbClr val="008080"/>
                </a:solidFill>
                <a:latin typeface="Times New Roman"/>
                <a:ea typeface="Times New Roman"/>
                <a:cs typeface="Times New Roman"/>
                <a:sym typeface="Times New Roman"/>
              </a:rPr>
              <a:t>SQA Team</a:t>
            </a:r>
            <a:r>
              <a:rPr lang="en-US" sz="2000" b="0" i="0" u="none" strike="noStrike" cap="none">
                <a:solidFill>
                  <a:srgbClr val="008080"/>
                </a:solidFill>
                <a:latin typeface="Times New Roman"/>
                <a:ea typeface="Times New Roman"/>
                <a:cs typeface="Times New Roman"/>
                <a:sym typeface="Times New Roman"/>
              </a:rPr>
              <a:t>:  testing not only execution software but coding standards;  manuals, messages displayed;  resources needed;  resources named (file names, program names,…)</a:t>
            </a:r>
            <a:endParaRPr/>
          </a:p>
        </p:txBody>
      </p:sp>
      <p:sp>
        <p:nvSpPr>
          <p:cNvPr id="259" name="Google Shape;259;p24"/>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5"/>
          <p:cNvSpPr txBox="1"/>
          <p:nvPr/>
        </p:nvSpPr>
        <p:spPr>
          <a:xfrm>
            <a:off x="422275" y="1016000"/>
            <a:ext cx="8613775" cy="4555093"/>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990033"/>
                </a:solidFill>
                <a:latin typeface="Times New Roman"/>
                <a:ea typeface="Times New Roman"/>
                <a:cs typeface="Times New Roman"/>
                <a:sym typeface="Times New Roman"/>
              </a:rPr>
              <a:t>7.  Shortcomings of the Testing Process</a:t>
            </a:r>
            <a:endParaRPr sz="2000" b="1">
              <a:solidFill>
                <a:srgbClr val="9900CC"/>
              </a:solidFill>
              <a:latin typeface="Times New Roman"/>
              <a:ea typeface="Times New Roman"/>
              <a:cs typeface="Times New Roman"/>
              <a:sym typeface="Times New Roman"/>
            </a:endParaRPr>
          </a:p>
          <a:p>
            <a:pPr marL="742950" marR="0" lvl="1" indent="-28575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Likely the part of the development process cut short most frequently!</a:t>
            </a:r>
            <a:endParaRPr/>
          </a:p>
          <a:p>
            <a:pPr marL="742950" marR="0" lvl="1" indent="-28575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Incomplete test plans</a:t>
            </a:r>
            <a:endParaRPr/>
          </a:p>
          <a:p>
            <a:pPr marL="1143000" marR="0" lvl="2" indent="-22860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Parts of application not tested or tested thoroughly!</a:t>
            </a:r>
            <a:endParaRPr/>
          </a:p>
          <a:p>
            <a:pPr marL="1143000" marR="0" lvl="2" indent="-22860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Superficial;  boundary conditions…</a:t>
            </a:r>
            <a:endParaRPr/>
          </a:p>
          <a:p>
            <a:pPr marL="1143000" marR="0" lvl="2" indent="-22860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Path testing, branch testing … (coverage measures)</a:t>
            </a:r>
            <a:endParaRPr/>
          </a:p>
          <a:p>
            <a:pPr marL="742950" marR="0" lvl="1" indent="-28575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Failure to document and report detected errors and faults</a:t>
            </a:r>
            <a:endParaRPr/>
          </a:p>
          <a:p>
            <a:pPr marL="1143000" marR="0" lvl="2" indent="-22860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So many levels of testing….we will cover.</a:t>
            </a:r>
            <a:endParaRPr/>
          </a:p>
          <a:p>
            <a:pPr marL="742950" marR="0" lvl="1" indent="-28575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Failure to quickly correct detected faults due to unclear indications that there ‘was’ a fault</a:t>
            </a:r>
            <a:endParaRPr/>
          </a:p>
          <a:p>
            <a:pPr marL="742950" marR="0" lvl="1" indent="-28575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Failure to fix the error due to time constraints</a:t>
            </a:r>
            <a:endParaRPr/>
          </a:p>
          <a:p>
            <a:pPr marL="1143000" marR="0" lvl="2" indent="-228600" algn="l" rtl="0">
              <a:spcBef>
                <a:spcPts val="500"/>
              </a:spcBef>
              <a:spcAft>
                <a:spcPts val="0"/>
              </a:spcAft>
              <a:buClr>
                <a:srgbClr val="9900CC"/>
              </a:buClr>
              <a:buSzPts val="2000"/>
              <a:buFont typeface="Arial"/>
              <a:buChar char="•"/>
            </a:pPr>
            <a:r>
              <a:rPr lang="en-US" sz="2000" b="0" i="0" u="none" strike="noStrike" cap="none">
                <a:solidFill>
                  <a:srgbClr val="9900CC"/>
                </a:solidFill>
                <a:latin typeface="Times New Roman"/>
                <a:ea typeface="Times New Roman"/>
                <a:cs typeface="Times New Roman"/>
                <a:sym typeface="Times New Roman"/>
              </a:rPr>
              <a:t>Many philosophies here depending on severity of error.</a:t>
            </a:r>
            <a:endParaRPr sz="2000" b="0" i="0" u="none" strike="noStrike" cap="none">
              <a:solidFill>
                <a:srgbClr val="990033"/>
              </a:solidFill>
              <a:latin typeface="Times New Roman"/>
              <a:ea typeface="Times New Roman"/>
              <a:cs typeface="Times New Roman"/>
              <a:sym typeface="Times New Roman"/>
            </a:endParaRPr>
          </a:p>
        </p:txBody>
      </p:sp>
      <p:sp>
        <p:nvSpPr>
          <p:cNvPr id="265" name="Google Shape;265;p2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p:nvPr/>
        </p:nvSpPr>
        <p:spPr>
          <a:xfrm>
            <a:off x="358775" y="836712"/>
            <a:ext cx="8426450" cy="5940425"/>
          </a:xfrm>
          <a:prstGeom prst="rect">
            <a:avLst/>
          </a:prstGeom>
          <a:solidFill>
            <a:schemeClr val="lt1"/>
          </a:solidFill>
          <a:ln w="76200" cap="flat" cmpd="tri">
            <a:solidFill>
              <a:srgbClr val="FF7C80"/>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Clr>
                <a:srgbClr val="9900CC"/>
              </a:buClr>
              <a:buSzPts val="2000"/>
              <a:buFont typeface="Times New Roman"/>
              <a:buAutoNum type="arabicPeriod" startAt="8"/>
            </a:pPr>
            <a:r>
              <a:rPr lang="en-US" sz="2000" b="1">
                <a:solidFill>
                  <a:srgbClr val="9900CC"/>
                </a:solidFill>
                <a:latin typeface="Times New Roman"/>
                <a:ea typeface="Times New Roman"/>
                <a:cs typeface="Times New Roman"/>
                <a:sym typeface="Times New Roman"/>
              </a:rPr>
              <a:t>User Interface and Procedure errors</a:t>
            </a:r>
            <a:endParaRPr/>
          </a:p>
          <a:p>
            <a:pPr marL="0" marR="0" lvl="0" indent="0" algn="l" rtl="0">
              <a:spcBef>
                <a:spcPts val="500"/>
              </a:spcBef>
              <a:spcAft>
                <a:spcPts val="0"/>
              </a:spcAft>
              <a:buNone/>
            </a:pPr>
            <a:r>
              <a:rPr lang="en-US" sz="2000" b="1">
                <a:solidFill>
                  <a:srgbClr val="9900CC"/>
                </a:solidFill>
                <a:latin typeface="Times New Roman"/>
                <a:ea typeface="Times New Roman"/>
                <a:cs typeface="Times New Roman"/>
                <a:sym typeface="Times New Roman"/>
              </a:rPr>
              <a:t>	</a:t>
            </a:r>
            <a:r>
              <a:rPr lang="en-US" sz="2000">
                <a:solidFill>
                  <a:srgbClr val="9900CC"/>
                </a:solidFill>
                <a:latin typeface="Times New Roman"/>
                <a:ea typeface="Times New Roman"/>
                <a:cs typeface="Times New Roman"/>
                <a:sym typeface="Times New Roman"/>
              </a:rPr>
              <a:t>Remember:  to the user, the </a:t>
            </a:r>
            <a:r>
              <a:rPr lang="en-US" sz="2000" u="sng">
                <a:solidFill>
                  <a:srgbClr val="9900CC"/>
                </a:solidFill>
                <a:latin typeface="Times New Roman"/>
                <a:ea typeface="Times New Roman"/>
                <a:cs typeface="Times New Roman"/>
                <a:sym typeface="Times New Roman"/>
              </a:rPr>
              <a:t>interface</a:t>
            </a:r>
            <a:r>
              <a:rPr lang="en-US" sz="2000">
                <a:solidFill>
                  <a:srgbClr val="9900CC"/>
                </a:solidFill>
                <a:latin typeface="Times New Roman"/>
                <a:ea typeface="Times New Roman"/>
                <a:cs typeface="Times New Roman"/>
                <a:sym typeface="Times New Roman"/>
              </a:rPr>
              <a:t> </a:t>
            </a:r>
            <a:r>
              <a:rPr lang="en-US" sz="2000" u="sng">
                <a:solidFill>
                  <a:srgbClr val="9900CC"/>
                </a:solidFill>
                <a:latin typeface="Times New Roman"/>
                <a:ea typeface="Times New Roman"/>
                <a:cs typeface="Times New Roman"/>
                <a:sym typeface="Times New Roman"/>
              </a:rPr>
              <a:t>is</a:t>
            </a:r>
            <a:r>
              <a:rPr lang="en-US" sz="2000">
                <a:solidFill>
                  <a:srgbClr val="9900CC"/>
                </a:solidFill>
                <a:latin typeface="Times New Roman"/>
                <a:ea typeface="Times New Roman"/>
                <a:cs typeface="Times New Roman"/>
                <a:sym typeface="Times New Roman"/>
              </a:rPr>
              <a:t> the entire system.</a:t>
            </a:r>
            <a:endParaRPr/>
          </a:p>
          <a:p>
            <a:pPr marL="0" marR="0" lvl="0" indent="0" algn="l" rtl="0">
              <a:spcBef>
                <a:spcPts val="500"/>
              </a:spcBef>
              <a:spcAft>
                <a:spcPts val="0"/>
              </a:spcAft>
              <a:buNone/>
            </a:pPr>
            <a:r>
              <a:rPr lang="en-US" sz="2000">
                <a:solidFill>
                  <a:srgbClr val="9900CC"/>
                </a:solidFill>
                <a:latin typeface="Times New Roman"/>
                <a:ea typeface="Times New Roman"/>
                <a:cs typeface="Times New Roman"/>
                <a:sym typeface="Times New Roman"/>
              </a:rPr>
              <a:t>	If the Interface is unsatisfactory, this view will be absolutely 			conveyed ‘up the line.’</a:t>
            </a:r>
            <a:endParaRPr/>
          </a:p>
          <a:p>
            <a:pPr marL="0" marR="0" lvl="0" indent="0" algn="l" rtl="0">
              <a:spcBef>
                <a:spcPts val="500"/>
              </a:spcBef>
              <a:spcAft>
                <a:spcPts val="0"/>
              </a:spcAft>
              <a:buNone/>
            </a:pPr>
            <a:r>
              <a:rPr lang="en-US" sz="2000">
                <a:solidFill>
                  <a:srgbClr val="9900CC"/>
                </a:solidFill>
                <a:latin typeface="Times New Roman"/>
                <a:ea typeface="Times New Roman"/>
                <a:cs typeface="Times New Roman"/>
                <a:sym typeface="Times New Roman"/>
              </a:rPr>
              <a:t>	The ‘learnability,’ and utility of the interface.</a:t>
            </a:r>
            <a:endParaRPr/>
          </a:p>
          <a:p>
            <a:pPr marL="0" marR="0" lvl="0" indent="0" algn="l" rtl="0">
              <a:spcBef>
                <a:spcPts val="500"/>
              </a:spcBef>
              <a:spcAft>
                <a:spcPts val="0"/>
              </a:spcAft>
              <a:buNone/>
            </a:pPr>
            <a:endParaRPr sz="2000" b="1">
              <a:solidFill>
                <a:srgbClr val="008080"/>
              </a:solidFill>
              <a:latin typeface="Times New Roman"/>
              <a:ea typeface="Times New Roman"/>
              <a:cs typeface="Times New Roman"/>
              <a:sym typeface="Times New Roman"/>
            </a:endParaRPr>
          </a:p>
          <a:p>
            <a:pPr marL="457200" marR="0" lvl="0" indent="-457200" algn="l" rtl="0">
              <a:spcBef>
                <a:spcPts val="500"/>
              </a:spcBef>
              <a:spcAft>
                <a:spcPts val="0"/>
              </a:spcAft>
              <a:buClr>
                <a:srgbClr val="008080"/>
              </a:buClr>
              <a:buSzPts val="2000"/>
              <a:buFont typeface="Times New Roman"/>
              <a:buAutoNum type="arabicPeriod" startAt="9"/>
            </a:pPr>
            <a:r>
              <a:rPr lang="en-US" sz="2000" b="1">
                <a:solidFill>
                  <a:srgbClr val="008080"/>
                </a:solidFill>
                <a:latin typeface="Times New Roman"/>
                <a:ea typeface="Times New Roman"/>
                <a:cs typeface="Times New Roman"/>
                <a:sym typeface="Times New Roman"/>
              </a:rPr>
              <a:t>Documentation Errors</a:t>
            </a:r>
            <a:endParaRPr/>
          </a:p>
          <a:p>
            <a:pPr marL="800100" marR="0" lvl="1"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Errors in the design documents</a:t>
            </a:r>
            <a:endParaRPr/>
          </a:p>
          <a:p>
            <a:pPr marL="1200150" marR="0" lvl="2"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If Docs do not represent the implemented design, this is </a:t>
            </a:r>
            <a:r>
              <a:rPr lang="en-US" sz="2000" b="0" i="0" u="sng" strike="noStrike" cap="none">
                <a:solidFill>
                  <a:srgbClr val="008080"/>
                </a:solidFill>
                <a:latin typeface="Times New Roman"/>
                <a:ea typeface="Times New Roman"/>
                <a:cs typeface="Times New Roman"/>
                <a:sym typeface="Times New Roman"/>
              </a:rPr>
              <a:t>trouble</a:t>
            </a:r>
            <a:r>
              <a:rPr lang="en-US" sz="2000" b="0" i="0" u="none" strike="noStrike" cap="none">
                <a:solidFill>
                  <a:srgbClr val="008080"/>
                </a:solidFill>
                <a:latin typeface="Times New Roman"/>
                <a:ea typeface="Times New Roman"/>
                <a:cs typeface="Times New Roman"/>
                <a:sym typeface="Times New Roman"/>
              </a:rPr>
              <a:t> for subsequent redesign and reuse</a:t>
            </a:r>
            <a:endParaRPr/>
          </a:p>
          <a:p>
            <a:pPr marL="800100" marR="0" lvl="1"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Errors in the documentation in the User Manuals, Operators Manual, other manuals (Installation…)</a:t>
            </a:r>
            <a:endParaRPr/>
          </a:p>
          <a:p>
            <a:pPr marL="800100" marR="0" lvl="1"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Errors in on-line help, if available.</a:t>
            </a:r>
            <a:endParaRPr/>
          </a:p>
          <a:p>
            <a:pPr marL="800100" marR="0" lvl="1"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Listing of non-existing software functions</a:t>
            </a:r>
            <a:endParaRPr/>
          </a:p>
          <a:p>
            <a:pPr marL="1200150" marR="0" lvl="2" indent="-342900" algn="l" rtl="0">
              <a:spcBef>
                <a:spcPts val="500"/>
              </a:spcBef>
              <a:spcAft>
                <a:spcPts val="0"/>
              </a:spcAft>
              <a:buClr>
                <a:srgbClr val="008080"/>
              </a:buClr>
              <a:buSzPts val="2000"/>
              <a:buFont typeface="Arial"/>
              <a:buChar char="•"/>
            </a:pPr>
            <a:r>
              <a:rPr lang="en-US" sz="2000" b="0" i="0" u="none" strike="noStrike" cap="none">
                <a:solidFill>
                  <a:srgbClr val="008080"/>
                </a:solidFill>
                <a:latin typeface="Times New Roman"/>
                <a:ea typeface="Times New Roman"/>
                <a:cs typeface="Times New Roman"/>
                <a:sym typeface="Times New Roman"/>
              </a:rPr>
              <a:t>Planned early but dropped;  remain in documentation!</a:t>
            </a:r>
            <a:endParaRPr/>
          </a:p>
          <a:p>
            <a:pPr marL="514350" marR="0" lvl="0" indent="-342900" algn="l" rtl="0">
              <a:spcBef>
                <a:spcPts val="500"/>
              </a:spcBef>
              <a:spcAft>
                <a:spcPts val="0"/>
              </a:spcAft>
              <a:buClr>
                <a:srgbClr val="008080"/>
              </a:buClr>
              <a:buSzPts val="2000"/>
              <a:buFont typeface="Arial"/>
              <a:buChar char="•"/>
            </a:pPr>
            <a:r>
              <a:rPr lang="en-US" sz="2000">
                <a:solidFill>
                  <a:srgbClr val="008080"/>
                </a:solidFill>
                <a:latin typeface="Times New Roman"/>
                <a:ea typeface="Times New Roman"/>
                <a:cs typeface="Times New Roman"/>
                <a:sym typeface="Times New Roman"/>
              </a:rPr>
              <a:t>Many error messages are totally meaningless</a:t>
            </a:r>
            <a:endParaRPr/>
          </a:p>
        </p:txBody>
      </p:sp>
      <p:sp>
        <p:nvSpPr>
          <p:cNvPr id="271" name="Google Shape;271;p26"/>
          <p:cNvSpPr txBox="1">
            <a:spLocks noGrp="1"/>
          </p:cNvSpPr>
          <p:nvPr>
            <p:ph type="title"/>
          </p:nvPr>
        </p:nvSpPr>
        <p:spPr>
          <a:xfrm>
            <a:off x="457200" y="109549"/>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Causes of software errors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7"/>
          <p:cNvSpPr txBox="1">
            <a:spLocks noGrp="1"/>
          </p:cNvSpPr>
          <p:nvPr>
            <p:ph type="body" idx="1"/>
          </p:nvPr>
        </p:nvSpPr>
        <p:spPr>
          <a:xfrm>
            <a:off x="467544" y="980728"/>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200"/>
              <a:buChar char="•"/>
            </a:pPr>
            <a:r>
              <a:rPr lang="en-US" sz="2200">
                <a:latin typeface="Calibri"/>
                <a:ea typeface="Calibri"/>
                <a:cs typeface="Calibri"/>
                <a:sym typeface="Calibri"/>
              </a:rPr>
              <a:t>Notable consequences of software errors:</a:t>
            </a:r>
            <a:endParaRPr/>
          </a:p>
        </p:txBody>
      </p:sp>
      <p:sp>
        <p:nvSpPr>
          <p:cNvPr id="278" name="Google Shape;278;p27"/>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graphicFrame>
        <p:nvGraphicFramePr>
          <p:cNvPr id="279" name="Google Shape;279;p27"/>
          <p:cNvGraphicFramePr/>
          <p:nvPr/>
        </p:nvGraphicFramePr>
        <p:xfrm>
          <a:off x="467544" y="1556792"/>
          <a:ext cx="8424925" cy="3337650"/>
        </p:xfrm>
        <a:graphic>
          <a:graphicData uri="http://schemas.openxmlformats.org/drawingml/2006/table">
            <a:tbl>
              <a:tblPr firstRow="1" bandRow="1">
                <a:noFill/>
                <a:tableStyleId>{45576D59-A652-4677-8983-46820F983138}</a:tableStyleId>
              </a:tblPr>
              <a:tblGrid>
                <a:gridCol w="4752525">
                  <a:extLst>
                    <a:ext uri="{9D8B030D-6E8A-4147-A177-3AD203B41FA5}">
                      <a16:colId xmlns:a16="http://schemas.microsoft.com/office/drawing/2014/main" val="20000"/>
                    </a:ext>
                  </a:extLst>
                </a:gridCol>
                <a:gridCol w="36724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a:solidFill>
                            <a:schemeClr val="dk1"/>
                          </a:solidFill>
                        </a:rPr>
                        <a:t>Disaster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a:solidFill>
                            <a:schemeClr val="dk1"/>
                          </a:solidFill>
                        </a:rPr>
                        <a:t>Cause of software errors</a:t>
                      </a: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solidFill>
                            <a:schemeClr val="dk1"/>
                          </a:solidFill>
                        </a:rPr>
                        <a:t>1. Ariane Rocket Goes Boom (1996)</a:t>
                      </a: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solidFill>
                            <a:schemeClr val="dk1"/>
                          </a:solidFill>
                        </a:rPr>
                        <a:t>2. Pentium Fails Long Division (1993)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solidFill>
                            <a:schemeClr val="dk1"/>
                          </a:solidFill>
                        </a:rPr>
                        <a:t>3. </a:t>
                      </a:r>
                      <a:r>
                        <a:rPr lang="en-US" sz="1800"/>
                        <a:t>Patriot Fails Soldiers (1991)</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4. AT&amp;T Lines Go Dead (1990)</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5. Medical Machine Kills (1985)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6. Mars Climate Crasher (1998)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7. Y2K (1999)</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8. Love Virus (2000)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8"/>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Ariane 5, Europe’s newest unmanned rocket, was intentionally destroyed seconds after launch on its maiden flight.  Also destroyed was its cargo of four scientific satellites to study how the Earth’s magnetic field interacts with solar winds.</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Shutdown occurred when the guidance computer tried to convert the sideways rocket velocity from 64-bits to a 16-bit format.  The number was too big, and an overflow error resulted.  When the guidance system shut down, control passed to an identical redundant unit, which also failed because it was running the same algorithm.</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$500 million</a:t>
            </a:r>
            <a:endParaRPr>
              <a:latin typeface="Calibri"/>
              <a:ea typeface="Calibri"/>
              <a:cs typeface="Calibri"/>
              <a:sym typeface="Calibri"/>
            </a:endParaRPr>
          </a:p>
        </p:txBody>
      </p:sp>
      <p:sp>
        <p:nvSpPr>
          <p:cNvPr id="285" name="Google Shape;285;p28"/>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286" name="Google Shape;286;p28"/>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#1: Ariane 5 explosion June 4, 1996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Intel’s highly-promoted Pentium chip occasionally made mistakes when dividing floating-point numbers within a specific range. For example, dividing 4195835.0/3145727.0 yielded 1.33374 instead of 1.33382, an error of 0.006%.  Although the bug affected few users, it become a public relations nightmare.  With an estimated 5 million defective chips in circulation, Intel offered to replace Pentium chips only for consumers who could prove they needed high accuracy.  Eventually Intel replaced the chips for anyone who complained.</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The divider in the Pentium floating point unit had a flawed division table, missing about five of a thousand entries and resulting in these rounding errors.</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$475 million, corporate credibility</a:t>
            </a:r>
            <a:endParaRPr>
              <a:latin typeface="Calibri"/>
              <a:ea typeface="Calibri"/>
              <a:cs typeface="Calibri"/>
              <a:sym typeface="Calibri"/>
            </a:endParaRPr>
          </a:p>
        </p:txBody>
      </p:sp>
      <p:sp>
        <p:nvSpPr>
          <p:cNvPr id="292" name="Google Shape;292;p29"/>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293" name="Google Shape;293;p29"/>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#2: Pentium Fails Long Division (1993)</a:t>
            </a:r>
            <a:endParaRPr sz="24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0"/>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During the first Gulf War, an American Patriot Missile system in Saudi Arabia failed to intercept an incoming Iraqi Scud missile. The missile destroyed an American Army barracks.</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A software rounding error incorrectly calculated the time, causing the Patriot system to ignore the incoming Scud missile.</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28 soldiers dead, 100 injured</a:t>
            </a:r>
            <a:endParaRPr>
              <a:latin typeface="Calibri"/>
              <a:ea typeface="Calibri"/>
              <a:cs typeface="Calibri"/>
              <a:sym typeface="Calibri"/>
            </a:endParaRPr>
          </a:p>
        </p:txBody>
      </p:sp>
      <p:sp>
        <p:nvSpPr>
          <p:cNvPr id="299" name="Google Shape;299;p30"/>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00" name="Google Shape;300;p30"/>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#3: Patriot Fails Soldiers (1991)</a:t>
            </a:r>
            <a:endParaRPr sz="24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A single switch at one of AT&amp;T’s 114 switching centers suffered a minor mechanical problem and shut down the center.  When the center came back up, it sent a message to other switching centers, which in turn caused them to shut down and brought down the entire AT&amp;T network for 9 hours.</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A single line of buggy code in a complex software upgrade implemented to speed up calling caused a ripple effect that shut down the network.</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75 million phone calls missed, 200 thousand airline reservations lost</a:t>
            </a:r>
            <a:endParaRPr>
              <a:latin typeface="Calibri"/>
              <a:ea typeface="Calibri"/>
              <a:cs typeface="Calibri"/>
              <a:sym typeface="Calibri"/>
            </a:endParaRPr>
          </a:p>
        </p:txBody>
      </p:sp>
      <p:sp>
        <p:nvSpPr>
          <p:cNvPr id="306" name="Google Shape;306;p31"/>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07" name="Google Shape;307;p31"/>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#4: AT&amp;T Lines Go Dead (1990)</a:t>
            </a:r>
            <a:endParaRPr sz="24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2"/>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Canada’s Therac-25 radiation therapy machine malfunctioned and delivered lethal radiation doses to patients.</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Because of a subtle bug called a race condition, a technician could accidentally configure Therac-25 so the electron beam would fire in high-power mode without the proper patient shielding.</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Three people dead, three people critically injured</a:t>
            </a:r>
            <a:endParaRPr>
              <a:latin typeface="Calibri"/>
              <a:ea typeface="Calibri"/>
              <a:cs typeface="Calibri"/>
              <a:sym typeface="Calibri"/>
            </a:endParaRPr>
          </a:p>
        </p:txBody>
      </p:sp>
      <p:sp>
        <p:nvSpPr>
          <p:cNvPr id="313" name="Google Shape;313;p32"/>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14" name="Google Shape;314;p32"/>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#5: Medical Machine Kills (1985)</a:t>
            </a:r>
            <a:endParaRPr sz="24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3"/>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After a 286-day journey from Earth, the Mars Climate Orbiter fired its engines to push into orbit around Mars.  The engines fired, but the spacecraft fell too far into the planet’s atmosphere, likely causing it to crash on Mars.</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The  software that controlled the Orbiter thrusters used imperial units (pounds of force), rather than metric units (Newtons) as specified by NASA.</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$125 million</a:t>
            </a:r>
            <a:endParaRPr>
              <a:latin typeface="Calibri"/>
              <a:ea typeface="Calibri"/>
              <a:cs typeface="Calibri"/>
              <a:sym typeface="Calibri"/>
            </a:endParaRPr>
          </a:p>
        </p:txBody>
      </p:sp>
      <p:sp>
        <p:nvSpPr>
          <p:cNvPr id="320" name="Google Shape;320;p33"/>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21" name="Google Shape;321;p33"/>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#6:  Mars Climate Crasher (1998)</a:t>
            </a:r>
            <a:endParaRPr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4"/>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One man’s disaster is another man’s fortune, as demonstrated by the infamous Y2K bug.  Businesses spent billions on programmers to fix a glitch in legacy software.  While no significant computer failures occurred, preparation for the Y2K bug had a significant cost and time impact on all industries that use computer technology.</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To save computer storage space, legacy software often stored the year for dates as two digit numbers, such as “99” for 1999.  The software also interpreted “00” to mean 1900 rather than 2000, so when the year 2000 came along, bugs would result.</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$500 billion</a:t>
            </a:r>
            <a:endParaRPr>
              <a:latin typeface="Calibri"/>
              <a:ea typeface="Calibri"/>
              <a:cs typeface="Calibri"/>
              <a:sym typeface="Calibri"/>
            </a:endParaRPr>
          </a:p>
        </p:txBody>
      </p:sp>
      <p:sp>
        <p:nvSpPr>
          <p:cNvPr id="327" name="Google Shape;327;p34"/>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28" name="Google Shape;328;p34"/>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#7:  Y2K (1999)</a:t>
            </a:r>
            <a:endParaRPr sz="24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5"/>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Font typeface="Arial"/>
              <a:buNone/>
            </a:pPr>
            <a:endParaRPr sz="2000">
              <a:latin typeface="Calibri"/>
              <a:ea typeface="Calibri"/>
              <a:cs typeface="Calibri"/>
              <a:sym typeface="Calibri"/>
            </a:endParaRPr>
          </a:p>
          <a:p>
            <a:pPr marL="457200" lvl="1" indent="0" algn="l" rtl="0">
              <a:spcBef>
                <a:spcPts val="400"/>
              </a:spcBef>
              <a:spcAft>
                <a:spcPts val="0"/>
              </a:spcAft>
              <a:buClr>
                <a:schemeClr val="dk1"/>
              </a:buClr>
              <a:buSzPts val="2000"/>
              <a:buNone/>
            </a:pPr>
            <a:r>
              <a:rPr lang="en-US" sz="2000"/>
              <a:t>The LoveLetter worm infected millions of computers and caused more damage than any other computer virus in history.  The worm deleted files, changed home pages and messed with the Registry.</a:t>
            </a:r>
            <a:endParaRPr sz="2000">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Cause</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LoveLetter infected users via e-mail, Internet chat and shared file systems.  The email had an executable file attachment and subject line, “ILOVEYOU.”  When the user opened the attachment, the virus would infect the user’s computer and send itself to everyone in the address book.</a:t>
            </a:r>
            <a:endParaRPr>
              <a:latin typeface="Calibri"/>
              <a:ea typeface="Calibri"/>
              <a:cs typeface="Calibri"/>
              <a:sym typeface="Calibri"/>
            </a:endParaRPr>
          </a:p>
          <a:p>
            <a:pPr marL="742950" lvl="1" indent="-285750" algn="l" rtl="0">
              <a:spcBef>
                <a:spcPts val="400"/>
              </a:spcBef>
              <a:spcAft>
                <a:spcPts val="0"/>
              </a:spcAft>
              <a:buClr>
                <a:schemeClr val="dk1"/>
              </a:buClr>
              <a:buSzPts val="2000"/>
              <a:buChar char="–"/>
            </a:pPr>
            <a:r>
              <a:rPr lang="en-US" sz="2000" b="1">
                <a:latin typeface="Calibri"/>
                <a:ea typeface="Calibri"/>
                <a:cs typeface="Calibri"/>
                <a:sym typeface="Calibri"/>
              </a:rPr>
              <a:t>Implication</a:t>
            </a:r>
            <a:r>
              <a:rPr lang="en-US" sz="2000">
                <a:latin typeface="Calibri"/>
                <a:ea typeface="Calibri"/>
                <a:cs typeface="Calibri"/>
                <a:sym typeface="Calibri"/>
              </a:rPr>
              <a:t>:</a:t>
            </a:r>
            <a:endParaRPr/>
          </a:p>
          <a:p>
            <a:pPr marL="715963" lvl="2" indent="0" algn="l" rtl="0">
              <a:spcBef>
                <a:spcPts val="400"/>
              </a:spcBef>
              <a:spcAft>
                <a:spcPts val="0"/>
              </a:spcAft>
              <a:buClr>
                <a:schemeClr val="dk1"/>
              </a:buClr>
              <a:buSzPts val="2000"/>
              <a:buNone/>
            </a:pPr>
            <a:r>
              <a:rPr lang="en-US"/>
              <a:t>$8.75 billion, millions of computers infected, significant data loss</a:t>
            </a:r>
            <a:endParaRPr>
              <a:latin typeface="Calibri"/>
              <a:ea typeface="Calibri"/>
              <a:cs typeface="Calibri"/>
              <a:sym typeface="Calibri"/>
            </a:endParaRPr>
          </a:p>
        </p:txBody>
      </p:sp>
      <p:sp>
        <p:nvSpPr>
          <p:cNvPr id="334" name="Google Shape;334;p35"/>
          <p:cNvSpPr txBox="1"/>
          <p:nvPr/>
        </p:nvSpPr>
        <p:spPr>
          <a:xfrm>
            <a:off x="917257" y="116632"/>
            <a:ext cx="8229600"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Famous Software Disasters</a:t>
            </a:r>
            <a:endParaRPr/>
          </a:p>
        </p:txBody>
      </p:sp>
      <p:sp>
        <p:nvSpPr>
          <p:cNvPr id="335" name="Google Shape;335;p35"/>
          <p:cNvSpPr txBox="1"/>
          <p:nvPr/>
        </p:nvSpPr>
        <p:spPr>
          <a:xfrm>
            <a:off x="611560" y="988367"/>
            <a:ext cx="8208912" cy="46166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Case #8:  Love Virus (2000)</a:t>
            </a:r>
            <a:endParaRPr sz="24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340"/>
        <p:cNvGrpSpPr/>
        <p:nvPr/>
      </p:nvGrpSpPr>
      <p:grpSpPr>
        <a:xfrm>
          <a:off x="0" y="0"/>
          <a:ext cx="0" cy="0"/>
          <a:chOff x="0" y="0"/>
          <a:chExt cx="0" cy="0"/>
        </a:xfrm>
      </p:grpSpPr>
      <p:sp>
        <p:nvSpPr>
          <p:cNvPr id="341" name="Google Shape;341;p36"/>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Software fault, error and failure</a:t>
            </a:r>
            <a:endParaRPr/>
          </a:p>
        </p:txBody>
      </p:sp>
      <p:sp>
        <p:nvSpPr>
          <p:cNvPr id="342" name="Google Shape;342;p36"/>
          <p:cNvSpPr txBox="1">
            <a:spLocks noGrp="1"/>
          </p:cNvSpPr>
          <p:nvPr>
            <p:ph type="body" idx="1"/>
          </p:nvPr>
        </p:nvSpPr>
        <p:spPr>
          <a:xfrm>
            <a:off x="323850" y="980728"/>
            <a:ext cx="5269998" cy="251961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latin typeface="Calibri"/>
                <a:ea typeface="Calibri"/>
                <a:cs typeface="Calibri"/>
                <a:sym typeface="Calibri"/>
              </a:rPr>
              <a:t>Activity</a:t>
            </a:r>
            <a:r>
              <a:rPr lang="en-US" sz="2400">
                <a:latin typeface="Calibri"/>
                <a:ea typeface="Calibri"/>
                <a:cs typeface="Calibri"/>
                <a:sym typeface="Calibri"/>
              </a:rPr>
              <a:t>:</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Watch the following video.</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Think individually for 1 minute and complete the answer in a table below.</a:t>
            </a:r>
            <a:endParaRPr/>
          </a:p>
          <a:p>
            <a:pPr marL="342900" lvl="0" indent="-342900" algn="l" rtl="0">
              <a:spcBef>
                <a:spcPts val="480"/>
              </a:spcBef>
              <a:spcAft>
                <a:spcPts val="0"/>
              </a:spcAft>
              <a:buClr>
                <a:schemeClr val="dk1"/>
              </a:buClr>
              <a:buSzPts val="2400"/>
              <a:buChar char="•"/>
            </a:pPr>
            <a:r>
              <a:rPr lang="en-US" sz="2400" strike="sngStrike">
                <a:latin typeface="Calibri"/>
                <a:ea typeface="Calibri"/>
                <a:cs typeface="Calibri"/>
                <a:sym typeface="Calibri"/>
              </a:rPr>
              <a:t>Discuss with your neighbor for 2 minutes.</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Share with the class when asked</a:t>
            </a:r>
            <a:endParaRPr/>
          </a:p>
          <a:p>
            <a:pPr marL="609600" lvl="0" indent="-457200" algn="l" rtl="0">
              <a:spcBef>
                <a:spcPts val="480"/>
              </a:spcBef>
              <a:spcAft>
                <a:spcPts val="0"/>
              </a:spcAft>
              <a:buClr>
                <a:schemeClr val="dk1"/>
              </a:buClr>
              <a:buSzPts val="2400"/>
              <a:buNone/>
            </a:pPr>
            <a:endParaRPr sz="2400">
              <a:latin typeface="Calibri"/>
              <a:ea typeface="Calibri"/>
              <a:cs typeface="Calibri"/>
              <a:sym typeface="Calibri"/>
            </a:endParaRPr>
          </a:p>
        </p:txBody>
      </p:sp>
      <p:pic>
        <p:nvPicPr>
          <p:cNvPr id="343" name="Google Shape;343;p36">
            <a:hlinkClick r:id="rId3"/>
          </p:cNvPr>
          <p:cNvPicPr preferRelativeResize="0"/>
          <p:nvPr/>
        </p:nvPicPr>
        <p:blipFill rotWithShape="1">
          <a:blip r:embed="rId4">
            <a:alphaModFix/>
          </a:blip>
          <a:srcRect/>
          <a:stretch/>
        </p:blipFill>
        <p:spPr>
          <a:xfrm>
            <a:off x="5593848" y="1480518"/>
            <a:ext cx="3354518" cy="200635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graphicFrame>
        <p:nvGraphicFramePr>
          <p:cNvPr id="344" name="Google Shape;344;p36"/>
          <p:cNvGraphicFramePr/>
          <p:nvPr/>
        </p:nvGraphicFramePr>
        <p:xfrm>
          <a:off x="755576" y="4005064"/>
          <a:ext cx="8048775" cy="1483400"/>
        </p:xfrm>
        <a:graphic>
          <a:graphicData uri="http://schemas.openxmlformats.org/drawingml/2006/table">
            <a:tbl>
              <a:tblPr firstRow="1" bandRow="1">
                <a:noFill/>
                <a:tableStyleId>{45576D59-A652-4677-8983-46820F983138}</a:tableStyleId>
              </a:tblPr>
              <a:tblGrid>
                <a:gridCol w="2947325">
                  <a:extLst>
                    <a:ext uri="{9D8B030D-6E8A-4147-A177-3AD203B41FA5}">
                      <a16:colId xmlns:a16="http://schemas.microsoft.com/office/drawing/2014/main" val="20000"/>
                    </a:ext>
                  </a:extLst>
                </a:gridCol>
                <a:gridCol w="510145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solidFill>
                            <a:schemeClr val="dk1"/>
                          </a:solidFill>
                        </a:rPr>
                        <a:t>Category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rPr>
                        <a:t>Description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Software fault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solidFill>
                            <a:schemeClr val="dk1"/>
                          </a:solidFill>
                        </a:rPr>
                        <a:t>Software Error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chemeClr val="dk1"/>
                          </a:solidFill>
                        </a:rPr>
                        <a:t>Software failure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348"/>
        <p:cNvGrpSpPr/>
        <p:nvPr/>
      </p:nvGrpSpPr>
      <p:grpSpPr>
        <a:xfrm>
          <a:off x="0" y="0"/>
          <a:ext cx="0" cy="0"/>
          <a:chOff x="0" y="0"/>
          <a:chExt cx="0" cy="0"/>
        </a:xfrm>
      </p:grpSpPr>
      <p:sp>
        <p:nvSpPr>
          <p:cNvPr id="349" name="Google Shape;349;p3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Calibri"/>
                <a:ea typeface="Calibri"/>
                <a:cs typeface="Calibri"/>
                <a:sym typeface="Calibri"/>
              </a:rPr>
              <a:t>When are defects introduced?</a:t>
            </a:r>
            <a:endParaRPr/>
          </a:p>
        </p:txBody>
      </p:sp>
      <p:sp>
        <p:nvSpPr>
          <p:cNvPr id="350" name="Google Shape;350;p37"/>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a:latin typeface="Calibri"/>
                <a:ea typeface="Calibri"/>
                <a:cs typeface="Calibri"/>
                <a:sym typeface="Calibri"/>
              </a:rPr>
              <a:t>The majority of defects are introduced in earlier phases.</a:t>
            </a:r>
            <a:endParaRPr/>
          </a:p>
          <a:p>
            <a:pPr marL="742950" lvl="1" indent="-285750" algn="l" rtl="0">
              <a:spcBef>
                <a:spcPts val="480"/>
              </a:spcBef>
              <a:spcAft>
                <a:spcPts val="0"/>
              </a:spcAft>
              <a:buClr>
                <a:schemeClr val="dk1"/>
              </a:buClr>
              <a:buSzPts val="2400"/>
              <a:buChar char="–"/>
            </a:pPr>
            <a:r>
              <a:rPr lang="en-US">
                <a:latin typeface="Calibri"/>
                <a:ea typeface="Calibri"/>
                <a:cs typeface="Calibri"/>
                <a:sym typeface="Calibri"/>
              </a:rPr>
              <a:t>Requirements are the top factor in a project’s success or failure.</a:t>
            </a:r>
            <a:endParaRPr/>
          </a:p>
        </p:txBody>
      </p:sp>
      <p:graphicFrame>
        <p:nvGraphicFramePr>
          <p:cNvPr id="351" name="Google Shape;351;p37"/>
          <p:cNvGraphicFramePr/>
          <p:nvPr/>
        </p:nvGraphicFramePr>
        <p:xfrm>
          <a:off x="1154113" y="3762375"/>
          <a:ext cx="6694475" cy="2409875"/>
        </p:xfrm>
        <a:graphic>
          <a:graphicData uri="http://schemas.openxmlformats.org/drawingml/2006/table">
            <a:tbl>
              <a:tblPr>
                <a:noFill/>
                <a:tableStyleId>{2A6A8634-E6CD-4655-B582-E0A088364CC0}</a:tableStyleId>
              </a:tblPr>
              <a:tblGrid>
                <a:gridCol w="3087675">
                  <a:extLst>
                    <a:ext uri="{9D8B030D-6E8A-4147-A177-3AD203B41FA5}">
                      <a16:colId xmlns:a16="http://schemas.microsoft.com/office/drawing/2014/main" val="20000"/>
                    </a:ext>
                  </a:extLst>
                </a:gridCol>
                <a:gridCol w="1685925">
                  <a:extLst>
                    <a:ext uri="{9D8B030D-6E8A-4147-A177-3AD203B41FA5}">
                      <a16:colId xmlns:a16="http://schemas.microsoft.com/office/drawing/2014/main" val="20001"/>
                    </a:ext>
                  </a:extLst>
                </a:gridCol>
                <a:gridCol w="1920875">
                  <a:extLst>
                    <a:ext uri="{9D8B030D-6E8A-4147-A177-3AD203B41FA5}">
                      <a16:colId xmlns:a16="http://schemas.microsoft.com/office/drawing/2014/main" val="20002"/>
                    </a:ext>
                  </a:extLst>
                </a:gridCol>
              </a:tblGrid>
              <a:tr h="71437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Phase</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 of defects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 effort to fix</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2387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Requirements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56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82</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2387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Design</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27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13</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2387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Code</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2387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Other</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4</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355"/>
        <p:cNvGrpSpPr/>
        <p:nvPr/>
      </p:nvGrpSpPr>
      <p:grpSpPr>
        <a:xfrm>
          <a:off x="0" y="0"/>
          <a:ext cx="0" cy="0"/>
          <a:chOff x="0" y="0"/>
          <a:chExt cx="0" cy="0"/>
        </a:xfrm>
      </p:grpSpPr>
      <p:sp>
        <p:nvSpPr>
          <p:cNvPr id="356" name="Google Shape;356;p3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Calibri"/>
                <a:ea typeface="Calibri"/>
                <a:cs typeface="Calibri"/>
                <a:sym typeface="Calibri"/>
              </a:rPr>
              <a:t>Cost of fixing defects</a:t>
            </a:r>
            <a:endParaRPr/>
          </a:p>
        </p:txBody>
      </p:sp>
      <p:sp>
        <p:nvSpPr>
          <p:cNvPr id="357" name="Google Shape;357;p38"/>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a:latin typeface="Calibri"/>
                <a:ea typeface="Calibri"/>
                <a:cs typeface="Calibri"/>
                <a:sym typeface="Calibri"/>
              </a:rPr>
              <a:t>Relative cost of fixing defects</a:t>
            </a:r>
            <a:endParaRPr/>
          </a:p>
          <a:p>
            <a:pPr marL="742950" lvl="1" indent="-285750" algn="l" rtl="0">
              <a:spcBef>
                <a:spcPts val="400"/>
              </a:spcBef>
              <a:spcAft>
                <a:spcPts val="0"/>
              </a:spcAft>
              <a:buClr>
                <a:schemeClr val="dk1"/>
              </a:buClr>
              <a:buSzPts val="2000"/>
              <a:buChar char="–"/>
            </a:pPr>
            <a:r>
              <a:rPr lang="en-US" sz="2000">
                <a:latin typeface="Calibri"/>
                <a:ea typeface="Calibri"/>
                <a:cs typeface="Calibri"/>
                <a:sym typeface="Calibri"/>
              </a:rPr>
              <a:t>benchmark:  cost at requirements phase = 1</a:t>
            </a:r>
            <a:endParaRPr/>
          </a:p>
          <a:p>
            <a:pPr marL="342900" lvl="0" indent="-342900" algn="l" rtl="0">
              <a:spcBef>
                <a:spcPts val="560"/>
              </a:spcBef>
              <a:spcAft>
                <a:spcPts val="0"/>
              </a:spcAft>
              <a:buClr>
                <a:schemeClr val="dk1"/>
              </a:buClr>
              <a:buSzPts val="2800"/>
              <a:buFont typeface="Arial"/>
              <a:buNone/>
            </a:pPr>
            <a:endParaRPr>
              <a:latin typeface="Calibri"/>
              <a:ea typeface="Calibri"/>
              <a:cs typeface="Calibri"/>
              <a:sym typeface="Calibri"/>
            </a:endParaRPr>
          </a:p>
        </p:txBody>
      </p:sp>
      <p:graphicFrame>
        <p:nvGraphicFramePr>
          <p:cNvPr id="358" name="Google Shape;358;p38"/>
          <p:cNvGraphicFramePr/>
          <p:nvPr/>
        </p:nvGraphicFramePr>
        <p:xfrm>
          <a:off x="1447800" y="2803525"/>
          <a:ext cx="6096000" cy="2835250"/>
        </p:xfrm>
        <a:graphic>
          <a:graphicData uri="http://schemas.openxmlformats.org/drawingml/2006/table">
            <a:tbl>
              <a:tblPr>
                <a:noFill/>
                <a:tableStyleId>{2A6A8634-E6CD-4655-B582-E0A088364CC0}</a:tableStyleId>
              </a:tblPr>
              <a:tblGrid>
                <a:gridCol w="4343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457300">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Phase found</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Cost ratio</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Requirements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Design</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3 – 5</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Coding</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Unit / integration testing</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15 - 40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System / acceptance testing</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30 – 70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96325">
                <a:tc>
                  <a:txBody>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Production</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000"/>
                        <a:buFont typeface="Comic Sans MS"/>
                        <a:buNone/>
                      </a:pPr>
                      <a:r>
                        <a:rPr lang="en-US" sz="2000" b="0" i="0" u="none" strike="noStrike" cap="none">
                          <a:solidFill>
                            <a:schemeClr val="dk1"/>
                          </a:solidFill>
                          <a:latin typeface="Comic Sans MS"/>
                          <a:ea typeface="Comic Sans MS"/>
                          <a:cs typeface="Comic Sans MS"/>
                          <a:sym typeface="Comic Sans MS"/>
                        </a:rPr>
                        <a:t>40 - 1000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362"/>
        <p:cNvGrpSpPr/>
        <p:nvPr/>
      </p:nvGrpSpPr>
      <p:grpSpPr>
        <a:xfrm>
          <a:off x="0" y="0"/>
          <a:ext cx="0" cy="0"/>
          <a:chOff x="0" y="0"/>
          <a:chExt cx="0" cy="0"/>
        </a:xfrm>
      </p:grpSpPr>
      <p:sp>
        <p:nvSpPr>
          <p:cNvPr id="363" name="Google Shape;363;p39"/>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Calibri"/>
                <a:ea typeface="Calibri"/>
                <a:cs typeface="Calibri"/>
                <a:sym typeface="Calibri"/>
              </a:rPr>
              <a:t>Role of Customer</a:t>
            </a:r>
            <a:endParaRPr/>
          </a:p>
        </p:txBody>
      </p:sp>
      <p:sp>
        <p:nvSpPr>
          <p:cNvPr id="364" name="Google Shape;364;p39"/>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Char char="•"/>
            </a:pPr>
            <a:r>
              <a:rPr lang="en-US">
                <a:latin typeface="Calibri"/>
                <a:ea typeface="Calibri"/>
                <a:cs typeface="Calibri"/>
                <a:sym typeface="Calibri"/>
              </a:rPr>
              <a:t>Customers don’t buy products, they buy assurances that their expectations with the products would met.</a:t>
            </a:r>
            <a:endParaRPr/>
          </a:p>
          <a:p>
            <a:pPr marL="342900" lvl="0" indent="-342900" algn="l" rtl="0">
              <a:lnSpc>
                <a:spcPct val="90000"/>
              </a:lnSpc>
              <a:spcBef>
                <a:spcPts val="360"/>
              </a:spcBef>
              <a:spcAft>
                <a:spcPts val="0"/>
              </a:spcAft>
              <a:buClr>
                <a:schemeClr val="dk1"/>
              </a:buClr>
              <a:buSzPts val="1800"/>
              <a:buFont typeface="Calibri"/>
              <a:buNone/>
            </a:pPr>
            <a:endParaRPr sz="1800">
              <a:latin typeface="Calibri"/>
              <a:ea typeface="Calibri"/>
              <a:cs typeface="Calibri"/>
              <a:sym typeface="Calibri"/>
            </a:endParaRPr>
          </a:p>
          <a:p>
            <a:pPr marL="342900" lvl="0" indent="-342900" algn="l" rtl="0">
              <a:lnSpc>
                <a:spcPct val="90000"/>
              </a:lnSpc>
              <a:spcBef>
                <a:spcPts val="560"/>
              </a:spcBef>
              <a:spcAft>
                <a:spcPts val="0"/>
              </a:spcAft>
              <a:buClr>
                <a:schemeClr val="dk1"/>
              </a:buClr>
              <a:buSzPts val="2800"/>
              <a:buChar char="•"/>
            </a:pPr>
            <a:r>
              <a:rPr lang="en-US">
                <a:latin typeface="Calibri"/>
                <a:ea typeface="Calibri"/>
                <a:cs typeface="Calibri"/>
                <a:sym typeface="Calibri"/>
              </a:rPr>
              <a:t>You also, can only sell assurances – in other words, Quality.</a:t>
            </a:r>
            <a:endParaRPr/>
          </a:p>
          <a:p>
            <a:pPr marL="342900" lvl="0" indent="-342900" algn="l" rtl="0">
              <a:lnSpc>
                <a:spcPct val="90000"/>
              </a:lnSpc>
              <a:spcBef>
                <a:spcPts val="360"/>
              </a:spcBef>
              <a:spcAft>
                <a:spcPts val="0"/>
              </a:spcAft>
              <a:buClr>
                <a:schemeClr val="dk1"/>
              </a:buClr>
              <a:buSzPts val="1800"/>
              <a:buFont typeface="Calibri"/>
              <a:buNone/>
            </a:pPr>
            <a:endParaRPr sz="1800">
              <a:latin typeface="Calibri"/>
              <a:ea typeface="Calibri"/>
              <a:cs typeface="Calibri"/>
              <a:sym typeface="Calibri"/>
            </a:endParaRPr>
          </a:p>
          <a:p>
            <a:pPr marL="342900" lvl="0" indent="-342900" algn="l" rtl="0">
              <a:lnSpc>
                <a:spcPct val="90000"/>
              </a:lnSpc>
              <a:spcBef>
                <a:spcPts val="560"/>
              </a:spcBef>
              <a:spcAft>
                <a:spcPts val="0"/>
              </a:spcAft>
              <a:buClr>
                <a:schemeClr val="dk1"/>
              </a:buClr>
              <a:buSzPts val="2800"/>
              <a:buChar char="•"/>
            </a:pPr>
            <a:r>
              <a:rPr lang="en-US">
                <a:latin typeface="Calibri"/>
                <a:ea typeface="Calibri"/>
                <a:cs typeface="Calibri"/>
                <a:sym typeface="Calibri"/>
              </a:rPr>
              <a:t>Customer is in absolute position to judge the quality.</a:t>
            </a:r>
            <a:endParaRPr/>
          </a:p>
        </p:txBody>
      </p:sp>
      <p:sp>
        <p:nvSpPr>
          <p:cNvPr id="365" name="Google Shape;365;p39"/>
          <p:cNvSpPr txBox="1">
            <a:spLocks noGrp="1"/>
          </p:cNvSpPr>
          <p:nvPr>
            <p:ph type="ftr" idx="1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898989"/>
                </a:solidFill>
                <a:latin typeface="Calibri"/>
                <a:ea typeface="Calibri"/>
                <a:cs typeface="Calibri"/>
                <a:sym typeface="Calibri"/>
              </a:rPr>
              <a:t>© Business Beam (Pvt.) Limited</a:t>
            </a:r>
            <a:endParaRPr/>
          </a:p>
        </p:txBody>
      </p:sp>
      <p:sp>
        <p:nvSpPr>
          <p:cNvPr id="366" name="Google Shape;366;p39"/>
          <p:cNvSpPr txBox="1">
            <a:spLocks noGrp="1"/>
          </p:cNvSpPr>
          <p:nvPr>
            <p:ph type="sldNum" idx="12"/>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rgbClr val="898989"/>
                </a:solidFill>
                <a:latin typeface="Calibri"/>
                <a:ea typeface="Calibri"/>
                <a:cs typeface="Calibri"/>
                <a:sym typeface="Calibri"/>
              </a:rPr>
              <a:t>39</a:t>
            </a:fld>
            <a:endParaRPr sz="1200">
              <a:solidFill>
                <a:srgbClr val="898989"/>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0"/>
          <p:cNvSpPr txBox="1">
            <a:spLocks noGrp="1"/>
          </p:cNvSpPr>
          <p:nvPr>
            <p:ph type="ctrTitle"/>
          </p:nvPr>
        </p:nvSpPr>
        <p:spPr>
          <a:xfrm>
            <a:off x="685800" y="1268760"/>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SOFTWARE QUALITY ASSURANCE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1"/>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Char char="•"/>
            </a:pPr>
            <a:r>
              <a:rPr lang="en-US">
                <a:latin typeface="Calibri"/>
                <a:ea typeface="Calibri"/>
                <a:cs typeface="Calibri"/>
                <a:sym typeface="Calibri"/>
              </a:rPr>
              <a:t>Assuring, with acceptable levels of confidence, conformance to functional technical requirements. </a:t>
            </a:r>
            <a:endParaRPr/>
          </a:p>
          <a:p>
            <a:pPr marL="342900" lvl="0" indent="-342900" algn="l" rtl="0">
              <a:lnSpc>
                <a:spcPct val="90000"/>
              </a:lnSpc>
              <a:spcBef>
                <a:spcPts val="560"/>
              </a:spcBef>
              <a:spcAft>
                <a:spcPts val="0"/>
              </a:spcAft>
              <a:buClr>
                <a:schemeClr val="dk1"/>
              </a:buClr>
              <a:buSzPts val="2800"/>
              <a:buChar char="•"/>
            </a:pPr>
            <a:r>
              <a:rPr lang="en-US">
                <a:latin typeface="Calibri"/>
                <a:ea typeface="Calibri"/>
                <a:cs typeface="Calibri"/>
                <a:sym typeface="Calibri"/>
              </a:rPr>
              <a:t>Assuring, with acceptable levels of confidence, conformance to managerial requirements of scheduling and budgets. </a:t>
            </a:r>
            <a:endParaRPr/>
          </a:p>
          <a:p>
            <a:pPr marL="342900" lvl="0" indent="-342900" algn="l" rtl="0">
              <a:lnSpc>
                <a:spcPct val="90000"/>
              </a:lnSpc>
              <a:spcBef>
                <a:spcPts val="560"/>
              </a:spcBef>
              <a:spcAft>
                <a:spcPts val="0"/>
              </a:spcAft>
              <a:buClr>
                <a:schemeClr val="dk1"/>
              </a:buClr>
              <a:buSzPts val="2800"/>
              <a:buChar char="•"/>
            </a:pPr>
            <a:r>
              <a:rPr lang="en-US">
                <a:latin typeface="Calibri"/>
                <a:ea typeface="Calibri"/>
                <a:cs typeface="Calibri"/>
                <a:sym typeface="Calibri"/>
              </a:rPr>
              <a:t>Initiating and managing activities for the improvement and greater efficiency of software development and SQA activities. </a:t>
            </a:r>
            <a:endParaRPr/>
          </a:p>
          <a:p>
            <a:pPr marL="342900" lvl="0" indent="-165100" algn="l" rtl="0">
              <a:lnSpc>
                <a:spcPct val="90000"/>
              </a:lnSpc>
              <a:spcBef>
                <a:spcPts val="560"/>
              </a:spcBef>
              <a:spcAft>
                <a:spcPts val="0"/>
              </a:spcAft>
              <a:buClr>
                <a:schemeClr val="dk1"/>
              </a:buClr>
              <a:buSzPts val="2800"/>
              <a:buNone/>
            </a:pPr>
            <a:endParaRPr>
              <a:latin typeface="Calibri"/>
              <a:ea typeface="Calibri"/>
              <a:cs typeface="Calibri"/>
              <a:sym typeface="Calibri"/>
            </a:endParaRPr>
          </a:p>
        </p:txBody>
      </p:sp>
      <p:sp>
        <p:nvSpPr>
          <p:cNvPr id="377" name="Google Shape;377;p41"/>
          <p:cNvSpPr txBox="1">
            <a:spLocks noGrp="1"/>
          </p:cNvSpPr>
          <p:nvPr>
            <p:ph type="title"/>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SQA Activities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2"/>
          <p:cNvSpPr txBox="1">
            <a:spLocks noGrp="1"/>
          </p:cNvSpPr>
          <p:nvPr>
            <p:ph type="body" idx="1"/>
          </p:nvPr>
        </p:nvSpPr>
        <p:spPr>
          <a:xfrm>
            <a:off x="457200" y="1219201"/>
            <a:ext cx="8229600" cy="292988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latin typeface="Calibri"/>
                <a:ea typeface="Calibri"/>
                <a:cs typeface="Calibri"/>
                <a:sym typeface="Calibri"/>
              </a:rPr>
              <a:t>Review of documents developed by development team.</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Track the compliance with standards.</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Development of QA Plan (test plan + test cases).</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Implementation of test cases (Black Box or Glass Box Testing).</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Management of bug repository.</a:t>
            </a:r>
            <a:endParaRPr/>
          </a:p>
          <a:p>
            <a:pPr marL="342900" lvl="0" indent="-342900" algn="l" rtl="0">
              <a:spcBef>
                <a:spcPts val="480"/>
              </a:spcBef>
              <a:spcAft>
                <a:spcPts val="0"/>
              </a:spcAft>
              <a:buClr>
                <a:schemeClr val="dk1"/>
              </a:buClr>
              <a:buSzPts val="2400"/>
              <a:buChar char="•"/>
            </a:pPr>
            <a:r>
              <a:rPr lang="en-US" sz="2400">
                <a:latin typeface="Calibri"/>
                <a:ea typeface="Calibri"/>
                <a:cs typeface="Calibri"/>
                <a:sym typeface="Calibri"/>
              </a:rPr>
              <a:t>Participating in code and design reviews.</a:t>
            </a:r>
            <a:endParaRPr/>
          </a:p>
        </p:txBody>
      </p:sp>
      <p:sp>
        <p:nvSpPr>
          <p:cNvPr id="383" name="Google Shape;383;p42"/>
          <p:cNvSpPr txBox="1">
            <a:spLocks noGrp="1"/>
          </p:cNvSpPr>
          <p:nvPr>
            <p:ph type="ftr" idx="1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898989"/>
                </a:solidFill>
                <a:latin typeface="Calibri"/>
                <a:ea typeface="Calibri"/>
                <a:cs typeface="Calibri"/>
                <a:sym typeface="Calibri"/>
              </a:rPr>
              <a:t>© Business Beam (Pvt.) Limited</a:t>
            </a:r>
            <a:endParaRPr/>
          </a:p>
        </p:txBody>
      </p:sp>
      <p:sp>
        <p:nvSpPr>
          <p:cNvPr id="384" name="Google Shape;384;p42"/>
          <p:cNvSpPr txBox="1">
            <a:spLocks noGrp="1"/>
          </p:cNvSpPr>
          <p:nvPr>
            <p:ph type="sldNum" idx="12"/>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rgbClr val="898989"/>
                </a:solidFill>
                <a:latin typeface="Calibri"/>
                <a:ea typeface="Calibri"/>
                <a:cs typeface="Calibri"/>
                <a:sym typeface="Calibri"/>
              </a:rPr>
              <a:t>42</a:t>
            </a:fld>
            <a:endParaRPr sz="1200">
              <a:solidFill>
                <a:srgbClr val="898989"/>
              </a:solidFill>
              <a:latin typeface="Calibri"/>
              <a:ea typeface="Calibri"/>
              <a:cs typeface="Calibri"/>
              <a:sym typeface="Calibri"/>
            </a:endParaRPr>
          </a:p>
        </p:txBody>
      </p:sp>
      <p:sp>
        <p:nvSpPr>
          <p:cNvPr id="385" name="Google Shape;385;p42"/>
          <p:cNvSpPr txBox="1"/>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SQA Responsibilities for a Project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grpSp>
        <p:nvGrpSpPr>
          <p:cNvPr id="390" name="Google Shape;390;p43"/>
          <p:cNvGrpSpPr/>
          <p:nvPr/>
        </p:nvGrpSpPr>
        <p:grpSpPr>
          <a:xfrm>
            <a:off x="1547664" y="1988840"/>
            <a:ext cx="4495800" cy="4267200"/>
            <a:chOff x="1344" y="1152"/>
            <a:chExt cx="2832" cy="2688"/>
          </a:xfrm>
        </p:grpSpPr>
        <p:cxnSp>
          <p:nvCxnSpPr>
            <p:cNvPr id="391" name="Google Shape;391;p43"/>
            <p:cNvCxnSpPr>
              <a:stCxn id="392" idx="2"/>
              <a:endCxn id="393" idx="0"/>
            </p:cNvCxnSpPr>
            <p:nvPr/>
          </p:nvCxnSpPr>
          <p:spPr>
            <a:xfrm>
              <a:off x="2040" y="1440"/>
              <a:ext cx="0" cy="30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394" name="Google Shape;394;p43"/>
            <p:cNvCxnSpPr>
              <a:stCxn id="393" idx="2"/>
              <a:endCxn id="395" idx="0"/>
            </p:cNvCxnSpPr>
            <p:nvPr/>
          </p:nvCxnSpPr>
          <p:spPr>
            <a:xfrm>
              <a:off x="2040" y="1920"/>
              <a:ext cx="0" cy="30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396" name="Google Shape;396;p43"/>
            <p:cNvCxnSpPr>
              <a:stCxn id="395" idx="2"/>
              <a:endCxn id="397" idx="0"/>
            </p:cNvCxnSpPr>
            <p:nvPr/>
          </p:nvCxnSpPr>
          <p:spPr>
            <a:xfrm>
              <a:off x="2040" y="2400"/>
              <a:ext cx="0" cy="30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398" name="Google Shape;398;p43"/>
            <p:cNvCxnSpPr>
              <a:stCxn id="397" idx="2"/>
              <a:endCxn id="399" idx="0"/>
            </p:cNvCxnSpPr>
            <p:nvPr/>
          </p:nvCxnSpPr>
          <p:spPr>
            <a:xfrm>
              <a:off x="2040" y="2880"/>
              <a:ext cx="0" cy="30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00" name="Google Shape;400;p43"/>
            <p:cNvCxnSpPr>
              <a:stCxn id="399" idx="2"/>
              <a:endCxn id="401" idx="0"/>
            </p:cNvCxnSpPr>
            <p:nvPr/>
          </p:nvCxnSpPr>
          <p:spPr>
            <a:xfrm>
              <a:off x="2040" y="3360"/>
              <a:ext cx="0" cy="30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392" name="Google Shape;392;p43"/>
            <p:cNvSpPr/>
            <p:nvPr/>
          </p:nvSpPr>
          <p:spPr>
            <a:xfrm>
              <a:off x="1344" y="115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Requirements Collection</a:t>
              </a:r>
              <a:endParaRPr/>
            </a:p>
          </p:txBody>
        </p:sp>
        <p:sp>
          <p:nvSpPr>
            <p:cNvPr id="393" name="Google Shape;393;p43"/>
            <p:cNvSpPr/>
            <p:nvPr/>
          </p:nvSpPr>
          <p:spPr>
            <a:xfrm>
              <a:off x="1344" y="163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Analysis</a:t>
              </a:r>
              <a:endParaRPr/>
            </a:p>
          </p:txBody>
        </p:sp>
        <p:sp>
          <p:nvSpPr>
            <p:cNvPr id="395" name="Google Shape;395;p43"/>
            <p:cNvSpPr/>
            <p:nvPr/>
          </p:nvSpPr>
          <p:spPr>
            <a:xfrm>
              <a:off x="1344" y="211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Architecture &amp; Design</a:t>
              </a:r>
              <a:endParaRPr/>
            </a:p>
          </p:txBody>
        </p:sp>
        <p:sp>
          <p:nvSpPr>
            <p:cNvPr id="397" name="Google Shape;397;p43"/>
            <p:cNvSpPr/>
            <p:nvPr/>
          </p:nvSpPr>
          <p:spPr>
            <a:xfrm>
              <a:off x="1344" y="259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Development</a:t>
              </a:r>
              <a:endParaRPr/>
            </a:p>
          </p:txBody>
        </p:sp>
        <p:sp>
          <p:nvSpPr>
            <p:cNvPr id="399" name="Google Shape;399;p43"/>
            <p:cNvSpPr/>
            <p:nvPr/>
          </p:nvSpPr>
          <p:spPr>
            <a:xfrm>
              <a:off x="1344" y="307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Testing</a:t>
              </a:r>
              <a:endParaRPr/>
            </a:p>
          </p:txBody>
        </p:sp>
        <p:sp>
          <p:nvSpPr>
            <p:cNvPr id="401" name="Google Shape;401;p43"/>
            <p:cNvSpPr/>
            <p:nvPr/>
          </p:nvSpPr>
          <p:spPr>
            <a:xfrm>
              <a:off x="1344" y="3552"/>
              <a:ext cx="1392" cy="288"/>
            </a:xfrm>
            <a:prstGeom prst="rect">
              <a:avLst/>
            </a:prstGeom>
            <a:solidFill>
              <a:schemeClr val="lt1"/>
            </a:solidFill>
            <a:ln w="9525" cap="flat" cmpd="sng">
              <a:solidFill>
                <a:schemeClr val="hlink"/>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Deployment</a:t>
              </a:r>
              <a:endParaRPr/>
            </a:p>
          </p:txBody>
        </p:sp>
        <p:sp>
          <p:nvSpPr>
            <p:cNvPr id="402" name="Google Shape;402;p43"/>
            <p:cNvSpPr/>
            <p:nvPr/>
          </p:nvSpPr>
          <p:spPr>
            <a:xfrm>
              <a:off x="3024" y="1152"/>
              <a:ext cx="1152" cy="288"/>
            </a:xfrm>
            <a:prstGeom prst="roundRect">
              <a:avLst>
                <a:gd name="adj" fmla="val 16667"/>
              </a:avLst>
            </a:prstGeom>
            <a:solidFill>
              <a:srgbClr val="F2F2F2"/>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Requirement Specs</a:t>
              </a:r>
              <a:endParaRPr/>
            </a:p>
          </p:txBody>
        </p:sp>
        <p:sp>
          <p:nvSpPr>
            <p:cNvPr id="403" name="Google Shape;403;p43"/>
            <p:cNvSpPr/>
            <p:nvPr/>
          </p:nvSpPr>
          <p:spPr>
            <a:xfrm>
              <a:off x="3024" y="1632"/>
              <a:ext cx="1152" cy="288"/>
            </a:xfrm>
            <a:prstGeom prst="roundRect">
              <a:avLst>
                <a:gd name="adj" fmla="val 16667"/>
              </a:avLst>
            </a:prstGeom>
            <a:solidFill>
              <a:srgbClr val="F2F2F2"/>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Functional Specs</a:t>
              </a:r>
              <a:endParaRPr/>
            </a:p>
          </p:txBody>
        </p:sp>
        <p:sp>
          <p:nvSpPr>
            <p:cNvPr id="404" name="Google Shape;404;p43"/>
            <p:cNvSpPr/>
            <p:nvPr/>
          </p:nvSpPr>
          <p:spPr>
            <a:xfrm>
              <a:off x="3024" y="2112"/>
              <a:ext cx="1152" cy="288"/>
            </a:xfrm>
            <a:prstGeom prst="roundRect">
              <a:avLst>
                <a:gd name="adj" fmla="val 16667"/>
              </a:avLst>
            </a:prstGeom>
            <a:solidFill>
              <a:srgbClr val="F2F2F2"/>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Design Specs</a:t>
              </a:r>
              <a:endParaRPr/>
            </a:p>
          </p:txBody>
        </p:sp>
        <p:sp>
          <p:nvSpPr>
            <p:cNvPr id="405" name="Google Shape;405;p43"/>
            <p:cNvSpPr/>
            <p:nvPr/>
          </p:nvSpPr>
          <p:spPr>
            <a:xfrm>
              <a:off x="3024" y="2592"/>
              <a:ext cx="1152" cy="288"/>
            </a:xfrm>
            <a:prstGeom prst="roundRect">
              <a:avLst>
                <a:gd name="adj" fmla="val 16667"/>
              </a:avLst>
            </a:prstGeom>
            <a:solidFill>
              <a:srgbClr val="F2F2F2"/>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Code &amp; Executables</a:t>
              </a:r>
              <a:endParaRPr/>
            </a:p>
          </p:txBody>
        </p:sp>
        <p:sp>
          <p:nvSpPr>
            <p:cNvPr id="406" name="Google Shape;406;p43"/>
            <p:cNvSpPr/>
            <p:nvPr/>
          </p:nvSpPr>
          <p:spPr>
            <a:xfrm>
              <a:off x="3024" y="3552"/>
              <a:ext cx="1152" cy="288"/>
            </a:xfrm>
            <a:prstGeom prst="roundRect">
              <a:avLst>
                <a:gd name="adj" fmla="val 16667"/>
              </a:avLst>
            </a:prstGeom>
            <a:solidFill>
              <a:srgbClr val="F2F2F2"/>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Deployment Docs</a:t>
              </a:r>
              <a:endParaRPr/>
            </a:p>
          </p:txBody>
        </p:sp>
        <p:cxnSp>
          <p:nvCxnSpPr>
            <p:cNvPr id="407" name="Google Shape;407;p43"/>
            <p:cNvCxnSpPr>
              <a:stCxn id="401" idx="3"/>
              <a:endCxn id="406" idx="1"/>
            </p:cNvCxnSpPr>
            <p:nvPr/>
          </p:nvCxnSpPr>
          <p:spPr>
            <a:xfrm>
              <a:off x="2736" y="3696"/>
              <a:ext cx="300"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08" name="Google Shape;408;p43"/>
            <p:cNvCxnSpPr>
              <a:endCxn id="405" idx="1"/>
            </p:cNvCxnSpPr>
            <p:nvPr/>
          </p:nvCxnSpPr>
          <p:spPr>
            <a:xfrm>
              <a:off x="2724" y="2736"/>
              <a:ext cx="300"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09" name="Google Shape;409;p43"/>
            <p:cNvCxnSpPr/>
            <p:nvPr/>
          </p:nvCxnSpPr>
          <p:spPr>
            <a:xfrm>
              <a:off x="2736" y="2256"/>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10" name="Google Shape;410;p43"/>
            <p:cNvCxnSpPr/>
            <p:nvPr/>
          </p:nvCxnSpPr>
          <p:spPr>
            <a:xfrm>
              <a:off x="2736" y="1296"/>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11" name="Google Shape;411;p43"/>
            <p:cNvCxnSpPr/>
            <p:nvPr/>
          </p:nvCxnSpPr>
          <p:spPr>
            <a:xfrm>
              <a:off x="2736" y="1776"/>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grpSp>
      <p:grpSp>
        <p:nvGrpSpPr>
          <p:cNvPr id="412" name="Google Shape;412;p43"/>
          <p:cNvGrpSpPr/>
          <p:nvPr/>
        </p:nvGrpSpPr>
        <p:grpSpPr>
          <a:xfrm>
            <a:off x="3757464" y="1988840"/>
            <a:ext cx="4114800" cy="4267200"/>
            <a:chOff x="2736" y="1296"/>
            <a:chExt cx="2592" cy="2688"/>
          </a:xfrm>
        </p:grpSpPr>
        <p:sp>
          <p:nvSpPr>
            <p:cNvPr id="413" name="Google Shape;413;p43"/>
            <p:cNvSpPr/>
            <p:nvPr/>
          </p:nvSpPr>
          <p:spPr>
            <a:xfrm>
              <a:off x="4464" y="1296"/>
              <a:ext cx="864" cy="288"/>
            </a:xfrm>
            <a:prstGeom prst="flowChartAlternateProcess">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Reviews</a:t>
              </a:r>
              <a:endParaRPr/>
            </a:p>
          </p:txBody>
        </p:sp>
        <p:cxnSp>
          <p:nvCxnSpPr>
            <p:cNvPr id="414" name="Google Shape;414;p43"/>
            <p:cNvCxnSpPr/>
            <p:nvPr/>
          </p:nvCxnSpPr>
          <p:spPr>
            <a:xfrm>
              <a:off x="4176" y="1392"/>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15" name="Google Shape;415;p43"/>
            <p:cNvCxnSpPr/>
            <p:nvPr/>
          </p:nvCxnSpPr>
          <p:spPr>
            <a:xfrm rot="10800000">
              <a:off x="4176" y="1488"/>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16" name="Google Shape;416;p43"/>
            <p:cNvSpPr/>
            <p:nvPr/>
          </p:nvSpPr>
          <p:spPr>
            <a:xfrm>
              <a:off x="4464" y="1776"/>
              <a:ext cx="864" cy="288"/>
            </a:xfrm>
            <a:prstGeom prst="flowChartAlternateProcess">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Reviews</a:t>
              </a:r>
              <a:endParaRPr/>
            </a:p>
          </p:txBody>
        </p:sp>
        <p:cxnSp>
          <p:nvCxnSpPr>
            <p:cNvPr id="417" name="Google Shape;417;p43"/>
            <p:cNvCxnSpPr/>
            <p:nvPr/>
          </p:nvCxnSpPr>
          <p:spPr>
            <a:xfrm>
              <a:off x="4176" y="1872"/>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18" name="Google Shape;418;p43"/>
            <p:cNvCxnSpPr/>
            <p:nvPr/>
          </p:nvCxnSpPr>
          <p:spPr>
            <a:xfrm rot="10800000">
              <a:off x="4176" y="1968"/>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19" name="Google Shape;419;p43"/>
            <p:cNvSpPr/>
            <p:nvPr/>
          </p:nvSpPr>
          <p:spPr>
            <a:xfrm>
              <a:off x="4464" y="2256"/>
              <a:ext cx="864" cy="288"/>
            </a:xfrm>
            <a:prstGeom prst="flowChartAlternateProcess">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Reviews</a:t>
              </a:r>
              <a:endParaRPr/>
            </a:p>
          </p:txBody>
        </p:sp>
        <p:cxnSp>
          <p:nvCxnSpPr>
            <p:cNvPr id="420" name="Google Shape;420;p43"/>
            <p:cNvCxnSpPr/>
            <p:nvPr/>
          </p:nvCxnSpPr>
          <p:spPr>
            <a:xfrm>
              <a:off x="4176" y="2352"/>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21" name="Google Shape;421;p43"/>
            <p:cNvCxnSpPr/>
            <p:nvPr/>
          </p:nvCxnSpPr>
          <p:spPr>
            <a:xfrm rot="10800000">
              <a:off x="4176" y="2448"/>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22" name="Google Shape;422;p43"/>
            <p:cNvSpPr/>
            <p:nvPr/>
          </p:nvSpPr>
          <p:spPr>
            <a:xfrm>
              <a:off x="4464" y="2736"/>
              <a:ext cx="864" cy="720"/>
            </a:xfrm>
            <a:prstGeom prst="flowChartAlternateProcess">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Implement </a:t>
              </a:r>
              <a:endParaRPr/>
            </a:p>
            <a:p>
              <a:pPr marL="0" marR="0" lvl="0" indent="0" algn="ctr" rtl="0">
                <a:spcBef>
                  <a:spcPts val="0"/>
                </a:spcBef>
                <a:spcAft>
                  <a:spcPts val="0"/>
                </a:spcAft>
                <a:buNone/>
              </a:pPr>
              <a:r>
                <a:rPr lang="en-US" sz="1400" b="1">
                  <a:solidFill>
                    <a:schemeClr val="dk1"/>
                  </a:solidFill>
                  <a:latin typeface="Calibri"/>
                  <a:ea typeface="Calibri"/>
                  <a:cs typeface="Calibri"/>
                  <a:sym typeface="Calibri"/>
                </a:rPr>
                <a:t>Test Cases</a:t>
              </a:r>
              <a:endParaRPr/>
            </a:p>
          </p:txBody>
        </p:sp>
        <p:cxnSp>
          <p:nvCxnSpPr>
            <p:cNvPr id="423" name="Google Shape;423;p43"/>
            <p:cNvCxnSpPr/>
            <p:nvPr/>
          </p:nvCxnSpPr>
          <p:spPr>
            <a:xfrm>
              <a:off x="4176" y="2832"/>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24" name="Google Shape;424;p43"/>
            <p:cNvCxnSpPr/>
            <p:nvPr/>
          </p:nvCxnSpPr>
          <p:spPr>
            <a:xfrm rot="10800000">
              <a:off x="4176" y="2928"/>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25" name="Google Shape;425;p43"/>
            <p:cNvSpPr/>
            <p:nvPr/>
          </p:nvSpPr>
          <p:spPr>
            <a:xfrm>
              <a:off x="4464" y="3696"/>
              <a:ext cx="864" cy="288"/>
            </a:xfrm>
            <a:prstGeom prst="flowChartAlternateProcess">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Review</a:t>
              </a:r>
              <a:endParaRPr/>
            </a:p>
          </p:txBody>
        </p:sp>
        <p:cxnSp>
          <p:nvCxnSpPr>
            <p:cNvPr id="426" name="Google Shape;426;p43"/>
            <p:cNvCxnSpPr/>
            <p:nvPr/>
          </p:nvCxnSpPr>
          <p:spPr>
            <a:xfrm>
              <a:off x="4176" y="3792"/>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27" name="Google Shape;427;p43"/>
            <p:cNvCxnSpPr/>
            <p:nvPr/>
          </p:nvCxnSpPr>
          <p:spPr>
            <a:xfrm rot="10800000">
              <a:off x="4176" y="3888"/>
              <a:ext cx="28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28" name="Google Shape;428;p43"/>
            <p:cNvCxnSpPr/>
            <p:nvPr/>
          </p:nvCxnSpPr>
          <p:spPr>
            <a:xfrm>
              <a:off x="2736" y="3264"/>
              <a:ext cx="172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29" name="Google Shape;429;p43"/>
            <p:cNvCxnSpPr/>
            <p:nvPr/>
          </p:nvCxnSpPr>
          <p:spPr>
            <a:xfrm rot="10800000">
              <a:off x="2736" y="3360"/>
              <a:ext cx="1728"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grpSp>
      <p:sp>
        <p:nvSpPr>
          <p:cNvPr id="430" name="Google Shape;430;p43"/>
          <p:cNvSpPr txBox="1"/>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SQA Across the Life Cycle</a:t>
            </a:r>
            <a:endParaRPr/>
          </a:p>
        </p:txBody>
      </p:sp>
      <p:sp>
        <p:nvSpPr>
          <p:cNvPr id="431" name="Google Shape;431;p43"/>
          <p:cNvSpPr/>
          <p:nvPr/>
        </p:nvSpPr>
        <p:spPr>
          <a:xfrm>
            <a:off x="1499031" y="1190817"/>
            <a:ext cx="4516865" cy="40011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Calibri"/>
                <a:ea typeface="Calibri"/>
                <a:cs typeface="Calibri"/>
                <a:sym typeface="Calibri"/>
              </a:rPr>
              <a:t>Phases in SDLC and relevant artifacts</a:t>
            </a:r>
            <a:endParaRPr sz="2000" b="1">
              <a:solidFill>
                <a:schemeClr val="dk1"/>
              </a:solidFill>
              <a:latin typeface="Calibri"/>
              <a:ea typeface="Calibri"/>
              <a:cs typeface="Calibri"/>
              <a:sym typeface="Calibri"/>
            </a:endParaRPr>
          </a:p>
        </p:txBody>
      </p:sp>
      <p:sp>
        <p:nvSpPr>
          <p:cNvPr id="432" name="Google Shape;432;p43"/>
          <p:cNvSpPr/>
          <p:nvPr/>
        </p:nvSpPr>
        <p:spPr>
          <a:xfrm>
            <a:off x="6139607" y="1200958"/>
            <a:ext cx="2459091" cy="40011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Calibri"/>
                <a:ea typeface="Calibri"/>
                <a:cs typeface="Calibri"/>
                <a:sym typeface="Calibri"/>
              </a:rPr>
              <a:t>SQA Responsibilities</a:t>
            </a:r>
            <a:endParaRPr sz="20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anim calcmode="lin" valueType="num">
                                      <p:cBhvr additive="base">
                                        <p:cTn id="7" dur="500"/>
                                        <p:tgtEl>
                                          <p:spTgt spid="41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4"/>
          <p:cNvSpPr txBox="1">
            <a:spLocks noGrp="1"/>
          </p:cNvSpPr>
          <p:nvPr>
            <p:ph type="ftr" idx="1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898989"/>
                </a:solidFill>
                <a:latin typeface="Calibri"/>
                <a:ea typeface="Calibri"/>
                <a:cs typeface="Calibri"/>
                <a:sym typeface="Calibri"/>
              </a:rPr>
              <a:t>© Business Beam (Pvt.) Limited</a:t>
            </a:r>
            <a:endParaRPr/>
          </a:p>
        </p:txBody>
      </p:sp>
      <p:sp>
        <p:nvSpPr>
          <p:cNvPr id="438" name="Google Shape;438;p44"/>
          <p:cNvSpPr txBox="1">
            <a:spLocks noGrp="1"/>
          </p:cNvSpPr>
          <p:nvPr>
            <p:ph type="sldNum" idx="12"/>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rgbClr val="898989"/>
                </a:solidFill>
                <a:latin typeface="Calibri"/>
                <a:ea typeface="Calibri"/>
                <a:cs typeface="Calibri"/>
                <a:sym typeface="Calibri"/>
              </a:rPr>
              <a:t>44</a:t>
            </a:fld>
            <a:endParaRPr sz="1200">
              <a:solidFill>
                <a:srgbClr val="898989"/>
              </a:solidFill>
              <a:latin typeface="Calibri"/>
              <a:ea typeface="Calibri"/>
              <a:cs typeface="Calibri"/>
              <a:sym typeface="Calibri"/>
            </a:endParaRPr>
          </a:p>
        </p:txBody>
      </p:sp>
      <p:grpSp>
        <p:nvGrpSpPr>
          <p:cNvPr id="439" name="Google Shape;439;p44"/>
          <p:cNvGrpSpPr/>
          <p:nvPr/>
        </p:nvGrpSpPr>
        <p:grpSpPr>
          <a:xfrm>
            <a:off x="2195736" y="2171700"/>
            <a:ext cx="3733800" cy="3505200"/>
            <a:chOff x="1440" y="1440"/>
            <a:chExt cx="2352" cy="2208"/>
          </a:xfrm>
        </p:grpSpPr>
        <p:cxnSp>
          <p:nvCxnSpPr>
            <p:cNvPr id="440" name="Google Shape;440;p44"/>
            <p:cNvCxnSpPr/>
            <p:nvPr/>
          </p:nvCxnSpPr>
          <p:spPr>
            <a:xfrm>
              <a:off x="2592" y="1584"/>
              <a:ext cx="336"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41" name="Google Shape;441;p44"/>
            <p:cNvCxnSpPr/>
            <p:nvPr/>
          </p:nvCxnSpPr>
          <p:spPr>
            <a:xfrm>
              <a:off x="2592" y="2064"/>
              <a:ext cx="336"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42" name="Google Shape;442;p44"/>
            <p:cNvCxnSpPr/>
            <p:nvPr/>
          </p:nvCxnSpPr>
          <p:spPr>
            <a:xfrm>
              <a:off x="2592" y="2544"/>
              <a:ext cx="336"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43" name="Google Shape;443;p44"/>
            <p:cNvCxnSpPr/>
            <p:nvPr/>
          </p:nvCxnSpPr>
          <p:spPr>
            <a:xfrm>
              <a:off x="2592" y="3024"/>
              <a:ext cx="336"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44" name="Google Shape;444;p44"/>
            <p:cNvCxnSpPr/>
            <p:nvPr/>
          </p:nvCxnSpPr>
          <p:spPr>
            <a:xfrm>
              <a:off x="2592" y="3504"/>
              <a:ext cx="336" cy="0"/>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45" name="Google Shape;445;p44"/>
            <p:cNvSpPr/>
            <p:nvPr/>
          </p:nvSpPr>
          <p:spPr>
            <a:xfrm>
              <a:off x="1440" y="1440"/>
              <a:ext cx="1152" cy="288"/>
            </a:xfrm>
            <a:prstGeom prst="roundRect">
              <a:avLst>
                <a:gd name="adj" fmla="val 16667"/>
              </a:avLst>
            </a:prstGeom>
            <a:solidFill>
              <a:schemeClr val="lt1"/>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Requirement Specs</a:t>
              </a:r>
              <a:endParaRPr/>
            </a:p>
          </p:txBody>
        </p:sp>
        <p:sp>
          <p:nvSpPr>
            <p:cNvPr id="446" name="Google Shape;446;p44"/>
            <p:cNvSpPr/>
            <p:nvPr/>
          </p:nvSpPr>
          <p:spPr>
            <a:xfrm>
              <a:off x="1440" y="1920"/>
              <a:ext cx="1152" cy="288"/>
            </a:xfrm>
            <a:prstGeom prst="roundRect">
              <a:avLst>
                <a:gd name="adj" fmla="val 16667"/>
              </a:avLst>
            </a:prstGeom>
            <a:solidFill>
              <a:schemeClr val="lt1"/>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Functional Specs</a:t>
              </a:r>
              <a:endParaRPr/>
            </a:p>
          </p:txBody>
        </p:sp>
        <p:sp>
          <p:nvSpPr>
            <p:cNvPr id="447" name="Google Shape;447;p44"/>
            <p:cNvSpPr/>
            <p:nvPr/>
          </p:nvSpPr>
          <p:spPr>
            <a:xfrm>
              <a:off x="1440" y="2400"/>
              <a:ext cx="1152" cy="288"/>
            </a:xfrm>
            <a:prstGeom prst="roundRect">
              <a:avLst>
                <a:gd name="adj" fmla="val 16667"/>
              </a:avLst>
            </a:prstGeom>
            <a:solidFill>
              <a:schemeClr val="lt1"/>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Design Specs</a:t>
              </a:r>
              <a:endParaRPr/>
            </a:p>
          </p:txBody>
        </p:sp>
        <p:sp>
          <p:nvSpPr>
            <p:cNvPr id="448" name="Google Shape;448;p44"/>
            <p:cNvSpPr/>
            <p:nvPr/>
          </p:nvSpPr>
          <p:spPr>
            <a:xfrm>
              <a:off x="1440" y="2880"/>
              <a:ext cx="1152" cy="288"/>
            </a:xfrm>
            <a:prstGeom prst="roundRect">
              <a:avLst>
                <a:gd name="adj" fmla="val 16667"/>
              </a:avLst>
            </a:prstGeom>
            <a:solidFill>
              <a:schemeClr val="lt1"/>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Code &amp; Executables</a:t>
              </a:r>
              <a:endParaRPr/>
            </a:p>
          </p:txBody>
        </p:sp>
        <p:sp>
          <p:nvSpPr>
            <p:cNvPr id="449" name="Google Shape;449;p44"/>
            <p:cNvSpPr/>
            <p:nvPr/>
          </p:nvSpPr>
          <p:spPr>
            <a:xfrm>
              <a:off x="1440" y="3360"/>
              <a:ext cx="1152" cy="288"/>
            </a:xfrm>
            <a:prstGeom prst="roundRect">
              <a:avLst>
                <a:gd name="adj" fmla="val 16667"/>
              </a:avLst>
            </a:prstGeom>
            <a:solidFill>
              <a:schemeClr val="lt1"/>
            </a:solidFill>
            <a:ln w="9525" cap="flat" cmpd="sng">
              <a:solidFill>
                <a:srgbClr val="66CCFF"/>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Deployment Docs</a:t>
              </a:r>
              <a:endParaRPr/>
            </a:p>
          </p:txBody>
        </p:sp>
        <p:sp>
          <p:nvSpPr>
            <p:cNvPr id="450" name="Google Shape;450;p44"/>
            <p:cNvSpPr/>
            <p:nvPr/>
          </p:nvSpPr>
          <p:spPr>
            <a:xfrm>
              <a:off x="2928" y="1440"/>
              <a:ext cx="864" cy="288"/>
            </a:xfrm>
            <a:prstGeom prst="roundRect">
              <a:avLst>
                <a:gd name="adj" fmla="val 16667"/>
              </a:avLst>
            </a:prstGeom>
            <a:solidFill>
              <a:srgbClr val="F2F2F2"/>
            </a:solidFill>
            <a:ln w="9525" cap="flat" cmpd="sng">
              <a:solidFill>
                <a:schemeClr val="folHlink"/>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RS Reviews</a:t>
              </a:r>
              <a:endParaRPr/>
            </a:p>
          </p:txBody>
        </p:sp>
        <p:sp>
          <p:nvSpPr>
            <p:cNvPr id="451" name="Google Shape;451;p44"/>
            <p:cNvSpPr/>
            <p:nvPr/>
          </p:nvSpPr>
          <p:spPr>
            <a:xfrm>
              <a:off x="2928" y="1920"/>
              <a:ext cx="864" cy="288"/>
            </a:xfrm>
            <a:prstGeom prst="roundRect">
              <a:avLst>
                <a:gd name="adj" fmla="val 16667"/>
              </a:avLst>
            </a:prstGeom>
            <a:solidFill>
              <a:srgbClr val="F2F2F2"/>
            </a:solidFill>
            <a:ln w="9525" cap="flat" cmpd="sng">
              <a:solidFill>
                <a:schemeClr val="folHlink"/>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FS Reviews</a:t>
              </a:r>
              <a:endParaRPr/>
            </a:p>
          </p:txBody>
        </p:sp>
        <p:sp>
          <p:nvSpPr>
            <p:cNvPr id="452" name="Google Shape;452;p44"/>
            <p:cNvSpPr/>
            <p:nvPr/>
          </p:nvSpPr>
          <p:spPr>
            <a:xfrm>
              <a:off x="2928" y="2400"/>
              <a:ext cx="864" cy="288"/>
            </a:xfrm>
            <a:prstGeom prst="roundRect">
              <a:avLst>
                <a:gd name="adj" fmla="val 16667"/>
              </a:avLst>
            </a:prstGeom>
            <a:solidFill>
              <a:srgbClr val="F2F2F2"/>
            </a:solidFill>
            <a:ln w="9525" cap="flat" cmpd="sng">
              <a:solidFill>
                <a:schemeClr val="folHlink"/>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DS Reviews</a:t>
              </a:r>
              <a:endParaRPr/>
            </a:p>
          </p:txBody>
        </p:sp>
        <p:sp>
          <p:nvSpPr>
            <p:cNvPr id="453" name="Google Shape;453;p44"/>
            <p:cNvSpPr/>
            <p:nvPr/>
          </p:nvSpPr>
          <p:spPr>
            <a:xfrm>
              <a:off x="2928" y="2880"/>
              <a:ext cx="864" cy="288"/>
            </a:xfrm>
            <a:prstGeom prst="roundRect">
              <a:avLst>
                <a:gd name="adj" fmla="val 16667"/>
              </a:avLst>
            </a:prstGeom>
            <a:solidFill>
              <a:srgbClr val="F2F2F2"/>
            </a:solidFill>
            <a:ln w="9525" cap="flat" cmpd="sng">
              <a:solidFill>
                <a:schemeClr val="folHlink"/>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Bug Reports</a:t>
              </a:r>
              <a:endParaRPr/>
            </a:p>
          </p:txBody>
        </p:sp>
        <p:sp>
          <p:nvSpPr>
            <p:cNvPr id="454" name="Google Shape;454;p44"/>
            <p:cNvSpPr/>
            <p:nvPr/>
          </p:nvSpPr>
          <p:spPr>
            <a:xfrm>
              <a:off x="2928" y="3360"/>
              <a:ext cx="864" cy="288"/>
            </a:xfrm>
            <a:prstGeom prst="roundRect">
              <a:avLst>
                <a:gd name="adj" fmla="val 16667"/>
              </a:avLst>
            </a:prstGeom>
            <a:solidFill>
              <a:srgbClr val="F2F2F2"/>
            </a:solidFill>
            <a:ln w="9525" cap="flat" cmpd="sng">
              <a:solidFill>
                <a:schemeClr val="folHlink"/>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DD Reviews</a:t>
              </a:r>
              <a:endParaRPr/>
            </a:p>
          </p:txBody>
        </p:sp>
      </p:grpSp>
      <p:grpSp>
        <p:nvGrpSpPr>
          <p:cNvPr id="455" name="Google Shape;455;p44"/>
          <p:cNvGrpSpPr/>
          <p:nvPr/>
        </p:nvGrpSpPr>
        <p:grpSpPr>
          <a:xfrm>
            <a:off x="5929536" y="3162300"/>
            <a:ext cx="2209800" cy="2057400"/>
            <a:chOff x="3792" y="2064"/>
            <a:chExt cx="1392" cy="1296"/>
          </a:xfrm>
        </p:grpSpPr>
        <p:cxnSp>
          <p:nvCxnSpPr>
            <p:cNvPr id="456" name="Google Shape;456;p44"/>
            <p:cNvCxnSpPr/>
            <p:nvPr/>
          </p:nvCxnSpPr>
          <p:spPr>
            <a:xfrm>
              <a:off x="3792" y="2064"/>
              <a:ext cx="336" cy="192"/>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57" name="Google Shape;457;p44"/>
            <p:cNvCxnSpPr/>
            <p:nvPr/>
          </p:nvCxnSpPr>
          <p:spPr>
            <a:xfrm>
              <a:off x="3792" y="2544"/>
              <a:ext cx="336" cy="192"/>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cxnSp>
          <p:nvCxnSpPr>
            <p:cNvPr id="458" name="Google Shape;458;p44"/>
            <p:cNvCxnSpPr/>
            <p:nvPr/>
          </p:nvCxnSpPr>
          <p:spPr>
            <a:xfrm>
              <a:off x="3792" y="3024"/>
              <a:ext cx="336" cy="192"/>
            </a:xfrm>
            <a:prstGeom prst="straightConnector1">
              <a:avLst/>
            </a:prstGeom>
            <a:noFill/>
            <a:ln w="38100" cap="flat" cmpd="sng">
              <a:solidFill>
                <a:schemeClr val="accent2"/>
              </a:solidFill>
              <a:prstDash val="solid"/>
              <a:round/>
              <a:headEnd type="none" w="med" len="med"/>
              <a:tailEnd type="triangle" w="med" len="med"/>
            </a:ln>
            <a:effectLst>
              <a:outerShdw dist="107763" dir="2700000" algn="ctr" rotWithShape="0">
                <a:schemeClr val="lt2">
                  <a:alpha val="49803"/>
                </a:schemeClr>
              </a:outerShdw>
            </a:effectLst>
          </p:spPr>
        </p:cxnSp>
        <p:sp>
          <p:nvSpPr>
            <p:cNvPr id="459" name="Google Shape;459;p44"/>
            <p:cNvSpPr/>
            <p:nvPr/>
          </p:nvSpPr>
          <p:spPr>
            <a:xfrm>
              <a:off x="4128" y="2112"/>
              <a:ext cx="1056" cy="288"/>
            </a:xfrm>
            <a:prstGeom prst="roundRect">
              <a:avLst>
                <a:gd name="adj" fmla="val 16667"/>
              </a:avLst>
            </a:prstGeom>
            <a:noFill/>
            <a:ln w="9525" cap="flat" cmpd="sng">
              <a:solidFill>
                <a:schemeClr val="accent1"/>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Test Plan</a:t>
              </a:r>
              <a:endParaRPr/>
            </a:p>
          </p:txBody>
        </p:sp>
        <p:sp>
          <p:nvSpPr>
            <p:cNvPr id="460" name="Google Shape;460;p44"/>
            <p:cNvSpPr/>
            <p:nvPr/>
          </p:nvSpPr>
          <p:spPr>
            <a:xfrm>
              <a:off x="4128" y="2592"/>
              <a:ext cx="1056" cy="288"/>
            </a:xfrm>
            <a:prstGeom prst="roundRect">
              <a:avLst>
                <a:gd name="adj" fmla="val 16667"/>
              </a:avLst>
            </a:prstGeom>
            <a:noFill/>
            <a:ln w="9525" cap="flat" cmpd="sng">
              <a:solidFill>
                <a:schemeClr val="accent1"/>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Test Cases</a:t>
              </a:r>
              <a:endParaRPr/>
            </a:p>
          </p:txBody>
        </p:sp>
        <p:sp>
          <p:nvSpPr>
            <p:cNvPr id="461" name="Google Shape;461;p44"/>
            <p:cNvSpPr/>
            <p:nvPr/>
          </p:nvSpPr>
          <p:spPr>
            <a:xfrm>
              <a:off x="4128" y="3072"/>
              <a:ext cx="1056" cy="288"/>
            </a:xfrm>
            <a:prstGeom prst="roundRect">
              <a:avLst>
                <a:gd name="adj" fmla="val 16667"/>
              </a:avLst>
            </a:prstGeom>
            <a:noFill/>
            <a:ln w="9525" cap="flat" cmpd="sng">
              <a:solidFill>
                <a:schemeClr val="accent1"/>
              </a:solidFill>
              <a:prstDash val="solid"/>
              <a:round/>
              <a:headEnd type="none" w="sm" len="sm"/>
              <a:tailEnd type="none" w="sm" len="sm"/>
            </a:ln>
            <a:effectLst>
              <a:outerShdw dist="107763" dir="2700000" algn="ctr" rotWithShape="0">
                <a:schemeClr val="lt2">
                  <a:alpha val="49803"/>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Calibri"/>
                  <a:ea typeface="Calibri"/>
                  <a:cs typeface="Calibri"/>
                  <a:sym typeface="Calibri"/>
                </a:rPr>
                <a:t>More Test Cases</a:t>
              </a:r>
              <a:endParaRPr/>
            </a:p>
          </p:txBody>
        </p:sp>
      </p:grpSp>
      <p:sp>
        <p:nvSpPr>
          <p:cNvPr id="462" name="Google Shape;462;p44"/>
          <p:cNvSpPr txBox="1"/>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SQA Artifacts for a Project</a:t>
            </a:r>
            <a:endParaRPr/>
          </a:p>
        </p:txBody>
      </p:sp>
      <p:sp>
        <p:nvSpPr>
          <p:cNvPr id="463" name="Google Shape;463;p44"/>
          <p:cNvSpPr/>
          <p:nvPr/>
        </p:nvSpPr>
        <p:spPr>
          <a:xfrm>
            <a:off x="2239413" y="1130270"/>
            <a:ext cx="1741446" cy="40011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Calibri"/>
                <a:ea typeface="Calibri"/>
                <a:cs typeface="Calibri"/>
                <a:sym typeface="Calibri"/>
              </a:rPr>
              <a:t>Dev. artifacts</a:t>
            </a:r>
            <a:endParaRPr sz="2000" b="1">
              <a:solidFill>
                <a:schemeClr val="dk1"/>
              </a:solidFill>
              <a:latin typeface="Calibri"/>
              <a:ea typeface="Calibri"/>
              <a:cs typeface="Calibri"/>
              <a:sym typeface="Calibri"/>
            </a:endParaRPr>
          </a:p>
        </p:txBody>
      </p:sp>
      <p:sp>
        <p:nvSpPr>
          <p:cNvPr id="464" name="Google Shape;464;p44"/>
          <p:cNvSpPr/>
          <p:nvPr/>
        </p:nvSpPr>
        <p:spPr>
          <a:xfrm>
            <a:off x="4373013" y="1130270"/>
            <a:ext cx="1741446" cy="40011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Calibri"/>
                <a:ea typeface="Calibri"/>
                <a:cs typeface="Calibri"/>
                <a:sym typeface="Calibri"/>
              </a:rPr>
              <a:t>SQA artifacts</a:t>
            </a:r>
            <a:endParaRPr sz="2000" b="1">
              <a:solidFill>
                <a:schemeClr val="dk1"/>
              </a:solidFill>
              <a:latin typeface="Calibri"/>
              <a:ea typeface="Calibri"/>
              <a:cs typeface="Calibri"/>
              <a:sym typeface="Calibri"/>
            </a:endParaRPr>
          </a:p>
        </p:txBody>
      </p:sp>
      <p:sp>
        <p:nvSpPr>
          <p:cNvPr id="465" name="Google Shape;465;p44"/>
          <p:cNvSpPr/>
          <p:nvPr/>
        </p:nvSpPr>
        <p:spPr>
          <a:xfrm>
            <a:off x="6430413" y="1130270"/>
            <a:ext cx="1741446" cy="707886"/>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dk1"/>
                </a:solidFill>
                <a:latin typeface="Calibri"/>
                <a:ea typeface="Calibri"/>
                <a:cs typeface="Calibri"/>
                <a:sym typeface="Calibri"/>
              </a:rPr>
              <a:t>SQA artifacts</a:t>
            </a:r>
            <a:endParaRPr/>
          </a:p>
          <a:p>
            <a:pPr marL="0" marR="0" lvl="0" indent="0" algn="ctr" rtl="0">
              <a:spcBef>
                <a:spcPts val="0"/>
              </a:spcBef>
              <a:spcAft>
                <a:spcPts val="0"/>
              </a:spcAft>
              <a:buNone/>
            </a:pPr>
            <a:r>
              <a:rPr lang="en-US" sz="2000" b="1">
                <a:solidFill>
                  <a:schemeClr val="dk1"/>
                </a:solidFill>
                <a:latin typeface="Calibri"/>
                <a:ea typeface="Calibri"/>
                <a:cs typeface="Calibri"/>
                <a:sym typeface="Calibri"/>
              </a:rPr>
              <a:t>(more)</a:t>
            </a:r>
            <a:endParaRPr sz="2000" b="1">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39"/>
                                        </p:tgtEl>
                                        <p:attrNameLst>
                                          <p:attrName>style.visibility</p:attrName>
                                        </p:attrNameLst>
                                      </p:cBhvr>
                                      <p:to>
                                        <p:strVal val="visible"/>
                                      </p:to>
                                    </p:set>
                                    <p:anim calcmode="lin" valueType="num">
                                      <p:cBhvr additive="base">
                                        <p:cTn id="7" dur="500"/>
                                        <p:tgtEl>
                                          <p:spTgt spid="43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55"/>
                                        </p:tgtEl>
                                        <p:attrNameLst>
                                          <p:attrName>style.visibility</p:attrName>
                                        </p:attrNameLst>
                                      </p:cBhvr>
                                      <p:to>
                                        <p:strVal val="visible"/>
                                      </p:to>
                                    </p:set>
                                    <p:anim calcmode="lin" valueType="num">
                                      <p:cBhvr additive="base">
                                        <p:cTn id="12" dur="500"/>
                                        <p:tgtEl>
                                          <p:spTgt spid="45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Shape 470"/>
        <p:cNvGrpSpPr/>
        <p:nvPr/>
      </p:nvGrpSpPr>
      <p:grpSpPr>
        <a:xfrm>
          <a:off x="0" y="0"/>
          <a:ext cx="0" cy="0"/>
          <a:chOff x="0" y="0"/>
          <a:chExt cx="0" cy="0"/>
        </a:xfrm>
      </p:grpSpPr>
      <p:sp>
        <p:nvSpPr>
          <p:cNvPr id="471" name="Google Shape;471;p45"/>
          <p:cNvSpPr/>
          <p:nvPr/>
        </p:nvSpPr>
        <p:spPr>
          <a:xfrm>
            <a:off x="2893235" y="908720"/>
            <a:ext cx="648072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SQA is an </a:t>
            </a:r>
            <a:r>
              <a:rPr lang="en-US" sz="1800" u="sng">
                <a:solidFill>
                  <a:schemeClr val="dk1"/>
                </a:solidFill>
                <a:latin typeface="Calibri"/>
                <a:ea typeface="Calibri"/>
                <a:cs typeface="Calibri"/>
                <a:sym typeface="Calibri"/>
              </a:rPr>
              <a:t>ongoing process within</a:t>
            </a:r>
            <a:r>
              <a:rPr lang="en-US" sz="1800">
                <a:solidFill>
                  <a:schemeClr val="dk1"/>
                </a:solidFill>
                <a:latin typeface="Calibri"/>
                <a:ea typeface="Calibri"/>
                <a:cs typeface="Calibri"/>
                <a:sym typeface="Calibri"/>
              </a:rPr>
              <a:t> the software development life cycle (</a:t>
            </a:r>
            <a:r>
              <a:rPr lang="en-US" sz="1800" u="sng">
                <a:solidFill>
                  <a:schemeClr val="dk1"/>
                </a:solidFill>
                <a:latin typeface="Calibri"/>
                <a:ea typeface="Calibri"/>
                <a:cs typeface="Calibri"/>
                <a:sym typeface="Calibri"/>
              </a:rPr>
              <a:t>SDLC</a:t>
            </a:r>
            <a:r>
              <a:rPr lang="en-US" sz="1800">
                <a:solidFill>
                  <a:schemeClr val="dk1"/>
                </a:solidFill>
                <a:latin typeface="Calibri"/>
                <a:ea typeface="Calibri"/>
                <a:cs typeface="Calibri"/>
                <a:sym typeface="Calibri"/>
              </a:rPr>
              <a:t>) that </a:t>
            </a:r>
            <a:r>
              <a:rPr lang="en-US" sz="1800" u="sng">
                <a:solidFill>
                  <a:schemeClr val="dk1"/>
                </a:solidFill>
                <a:latin typeface="Calibri"/>
                <a:ea typeface="Calibri"/>
                <a:cs typeface="Calibri"/>
                <a:sym typeface="Calibri"/>
              </a:rPr>
              <a:t>routinely checks </a:t>
            </a:r>
            <a:r>
              <a:rPr lang="en-US" sz="1800">
                <a:solidFill>
                  <a:schemeClr val="dk1"/>
                </a:solidFill>
                <a:latin typeface="Calibri"/>
                <a:ea typeface="Calibri"/>
                <a:cs typeface="Calibri"/>
                <a:sym typeface="Calibri"/>
              </a:rPr>
              <a:t>the </a:t>
            </a:r>
            <a:r>
              <a:rPr lang="en-US" sz="1800" u="sng">
                <a:solidFill>
                  <a:schemeClr val="dk1"/>
                </a:solidFill>
                <a:latin typeface="Calibri"/>
                <a:ea typeface="Calibri"/>
                <a:cs typeface="Calibri"/>
                <a:sym typeface="Calibri"/>
              </a:rPr>
              <a:t>developed software </a:t>
            </a:r>
            <a:r>
              <a:rPr lang="en-US" sz="1800">
                <a:solidFill>
                  <a:schemeClr val="dk1"/>
                </a:solidFill>
                <a:latin typeface="Calibri"/>
                <a:ea typeface="Calibri"/>
                <a:cs typeface="Calibri"/>
                <a:sym typeface="Calibri"/>
              </a:rPr>
              <a:t>to ensure it </a:t>
            </a:r>
            <a:r>
              <a:rPr lang="en-US" sz="1800" u="sng">
                <a:solidFill>
                  <a:schemeClr val="dk1"/>
                </a:solidFill>
                <a:latin typeface="Calibri"/>
                <a:ea typeface="Calibri"/>
                <a:cs typeface="Calibri"/>
                <a:sym typeface="Calibri"/>
              </a:rPr>
              <a:t>meets desired quality measures.</a:t>
            </a:r>
            <a:endParaRPr sz="1800">
              <a:solidFill>
                <a:schemeClr val="dk1"/>
              </a:solidFill>
              <a:latin typeface="Calibri"/>
              <a:ea typeface="Calibri"/>
              <a:cs typeface="Calibri"/>
              <a:sym typeface="Calibri"/>
            </a:endParaRPr>
          </a:p>
        </p:txBody>
      </p:sp>
      <p:sp>
        <p:nvSpPr>
          <p:cNvPr id="472" name="Google Shape;472;p45"/>
          <p:cNvSpPr txBox="1">
            <a:spLocks noGrp="1"/>
          </p:cNvSpPr>
          <p:nvPr>
            <p:ph type="title"/>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Software Quality Assurance</a:t>
            </a:r>
            <a:endParaRPr/>
          </a:p>
        </p:txBody>
      </p:sp>
      <p:sp>
        <p:nvSpPr>
          <p:cNvPr id="473" name="Google Shape;473;p45"/>
          <p:cNvSpPr/>
          <p:nvPr/>
        </p:nvSpPr>
        <p:spPr>
          <a:xfrm>
            <a:off x="595098" y="1085275"/>
            <a:ext cx="2160240" cy="584775"/>
          </a:xfrm>
          <a:prstGeom prst="rect">
            <a:avLst/>
          </a:prstGeom>
          <a:solidFill>
            <a:srgbClr val="FFFF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Calibri"/>
                <a:ea typeface="Calibri"/>
                <a:cs typeface="Calibri"/>
                <a:sym typeface="Calibri"/>
              </a:rPr>
              <a:t>What?</a:t>
            </a:r>
            <a:endParaRPr sz="3200" b="1">
              <a:solidFill>
                <a:schemeClr val="dk1"/>
              </a:solidFill>
              <a:latin typeface="Calibri"/>
              <a:ea typeface="Calibri"/>
              <a:cs typeface="Calibri"/>
              <a:sym typeface="Calibri"/>
            </a:endParaRPr>
          </a:p>
        </p:txBody>
      </p:sp>
      <p:pic>
        <p:nvPicPr>
          <p:cNvPr id="474" name="Google Shape;474;p45"/>
          <p:cNvPicPr preferRelativeResize="0"/>
          <p:nvPr/>
        </p:nvPicPr>
        <p:blipFill rotWithShape="1">
          <a:blip r:embed="rId3">
            <a:alphaModFix/>
          </a:blip>
          <a:srcRect/>
          <a:stretch/>
        </p:blipFill>
        <p:spPr>
          <a:xfrm>
            <a:off x="683568" y="2507704"/>
            <a:ext cx="2232248" cy="4033560"/>
          </a:xfrm>
          <a:prstGeom prst="rect">
            <a:avLst/>
          </a:prstGeom>
          <a:noFill/>
          <a:ln>
            <a:noFill/>
          </a:ln>
        </p:spPr>
      </p:pic>
      <p:sp>
        <p:nvSpPr>
          <p:cNvPr id="475" name="Google Shape;475;p45"/>
          <p:cNvSpPr/>
          <p:nvPr/>
        </p:nvSpPr>
        <p:spPr>
          <a:xfrm>
            <a:off x="163050" y="2046039"/>
            <a:ext cx="3024336" cy="461665"/>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Phases in SDLC</a:t>
            </a:r>
            <a:endParaRPr sz="2400" b="1">
              <a:solidFill>
                <a:schemeClr val="dk1"/>
              </a:solidFill>
              <a:latin typeface="Calibri"/>
              <a:ea typeface="Calibri"/>
              <a:cs typeface="Calibri"/>
              <a:sym typeface="Calibri"/>
            </a:endParaRPr>
          </a:p>
        </p:txBody>
      </p:sp>
      <p:cxnSp>
        <p:nvCxnSpPr>
          <p:cNvPr id="476" name="Google Shape;476;p45"/>
          <p:cNvCxnSpPr/>
          <p:nvPr/>
        </p:nvCxnSpPr>
        <p:spPr>
          <a:xfrm rot="10800000" flipH="1">
            <a:off x="0" y="1832050"/>
            <a:ext cx="9144000" cy="84782"/>
          </a:xfrm>
          <a:prstGeom prst="straightConnector1">
            <a:avLst/>
          </a:prstGeom>
          <a:noFill/>
          <a:ln w="9525" cap="flat" cmpd="sng">
            <a:solidFill>
              <a:srgbClr val="4A7DBA"/>
            </a:solidFill>
            <a:prstDash val="solid"/>
            <a:round/>
            <a:headEnd type="none" w="sm" len="sm"/>
            <a:tailEnd type="none" w="sm" len="sm"/>
          </a:ln>
        </p:spPr>
      </p:cxnSp>
      <p:graphicFrame>
        <p:nvGraphicFramePr>
          <p:cNvPr id="477" name="Google Shape;477;p45"/>
          <p:cNvGraphicFramePr/>
          <p:nvPr/>
        </p:nvGraphicFramePr>
        <p:xfrm>
          <a:off x="4860032" y="2666065"/>
          <a:ext cx="3096350" cy="3840540"/>
        </p:xfrm>
        <a:graphic>
          <a:graphicData uri="http://schemas.openxmlformats.org/drawingml/2006/table">
            <a:tbl>
              <a:tblPr firstRow="1" bandRow="1">
                <a:noFill/>
                <a:tableStyleId>{45576D59-A652-4677-8983-46820F983138}</a:tableStyleId>
              </a:tblPr>
              <a:tblGrid>
                <a:gridCol w="309635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solidFill>
                            <a:schemeClr val="dk1"/>
                          </a:solidFill>
                        </a:rPr>
                        <a:t>?</a:t>
                      </a:r>
                      <a:endParaRPr/>
                    </a:p>
                    <a:p>
                      <a:pPr marL="0" marR="0" lvl="0" indent="0" algn="l" rtl="0">
                        <a:spcBef>
                          <a:spcPts val="0"/>
                        </a:spcBef>
                        <a:spcAft>
                          <a:spcPts val="0"/>
                        </a:spcAft>
                        <a:buNone/>
                      </a:pPr>
                      <a:r>
                        <a:rPr lang="en-US" sz="1800">
                          <a:solidFill>
                            <a:schemeClr val="dk1"/>
                          </a:solidFill>
                        </a:rPr>
                        <a: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78" name="Google Shape;478;p45"/>
          <p:cNvSpPr/>
          <p:nvPr/>
        </p:nvSpPr>
        <p:spPr>
          <a:xfrm>
            <a:off x="3995936" y="2046039"/>
            <a:ext cx="4824536" cy="461665"/>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SQA activities (checking process)</a:t>
            </a:r>
            <a:endParaRPr sz="2400" b="1">
              <a:solidFill>
                <a:schemeClr val="dk1"/>
              </a:solidFill>
              <a:latin typeface="Calibri"/>
              <a:ea typeface="Calibri"/>
              <a:cs typeface="Calibri"/>
              <a:sym typeface="Calibri"/>
            </a:endParaRPr>
          </a:p>
        </p:txBody>
      </p:sp>
      <p:cxnSp>
        <p:nvCxnSpPr>
          <p:cNvPr id="479" name="Google Shape;479;p45"/>
          <p:cNvCxnSpPr/>
          <p:nvPr/>
        </p:nvCxnSpPr>
        <p:spPr>
          <a:xfrm>
            <a:off x="2893235" y="2780928"/>
            <a:ext cx="1966800" cy="288000"/>
          </a:xfrm>
          <a:prstGeom prst="bentConnector3">
            <a:avLst>
              <a:gd name="adj1" fmla="val 50000"/>
            </a:avLst>
          </a:prstGeom>
          <a:noFill/>
          <a:ln w="9525" cap="flat" cmpd="sng">
            <a:solidFill>
              <a:schemeClr val="dk2"/>
            </a:solidFill>
            <a:prstDash val="solid"/>
            <a:round/>
            <a:headEnd type="none" w="sm" len="sm"/>
            <a:tailEnd type="triangle" w="med" len="med"/>
          </a:ln>
        </p:spPr>
      </p:cxnSp>
      <p:cxnSp>
        <p:nvCxnSpPr>
          <p:cNvPr id="480" name="Google Shape;480;p45"/>
          <p:cNvCxnSpPr/>
          <p:nvPr/>
        </p:nvCxnSpPr>
        <p:spPr>
          <a:xfrm>
            <a:off x="2893235" y="3356992"/>
            <a:ext cx="1966800" cy="347700"/>
          </a:xfrm>
          <a:prstGeom prst="bentConnector3">
            <a:avLst>
              <a:gd name="adj1" fmla="val 50000"/>
            </a:avLst>
          </a:prstGeom>
          <a:noFill/>
          <a:ln w="9525" cap="flat" cmpd="sng">
            <a:solidFill>
              <a:schemeClr val="dk2"/>
            </a:solidFill>
            <a:prstDash val="solid"/>
            <a:round/>
            <a:headEnd type="none" w="sm" len="sm"/>
            <a:tailEnd type="triangle" w="med" len="med"/>
          </a:ln>
        </p:spPr>
      </p:cxnSp>
      <p:cxnSp>
        <p:nvCxnSpPr>
          <p:cNvPr id="481" name="Google Shape;481;p45"/>
          <p:cNvCxnSpPr/>
          <p:nvPr/>
        </p:nvCxnSpPr>
        <p:spPr>
          <a:xfrm>
            <a:off x="2868611" y="3777745"/>
            <a:ext cx="1966800" cy="461400"/>
          </a:xfrm>
          <a:prstGeom prst="bentConnector3">
            <a:avLst>
              <a:gd name="adj1" fmla="val 50000"/>
            </a:avLst>
          </a:prstGeom>
          <a:noFill/>
          <a:ln w="9525" cap="flat" cmpd="sng">
            <a:solidFill>
              <a:schemeClr val="dk2"/>
            </a:solidFill>
            <a:prstDash val="solid"/>
            <a:round/>
            <a:headEnd type="none" w="sm" len="sm"/>
            <a:tailEnd type="triangle" w="med" len="med"/>
          </a:ln>
        </p:spPr>
      </p:cxnSp>
      <p:cxnSp>
        <p:nvCxnSpPr>
          <p:cNvPr id="482" name="Google Shape;482;p45"/>
          <p:cNvCxnSpPr/>
          <p:nvPr/>
        </p:nvCxnSpPr>
        <p:spPr>
          <a:xfrm>
            <a:off x="2745710" y="4440261"/>
            <a:ext cx="2138700" cy="367800"/>
          </a:xfrm>
          <a:prstGeom prst="bentConnector3">
            <a:avLst>
              <a:gd name="adj1" fmla="val 50000"/>
            </a:avLst>
          </a:prstGeom>
          <a:noFill/>
          <a:ln w="9525" cap="flat" cmpd="sng">
            <a:solidFill>
              <a:schemeClr val="dk2"/>
            </a:solidFill>
            <a:prstDash val="solid"/>
            <a:round/>
            <a:headEnd type="none" w="sm" len="sm"/>
            <a:tailEnd type="triangle" w="med" len="med"/>
          </a:ln>
        </p:spPr>
      </p:cxnSp>
      <p:cxnSp>
        <p:nvCxnSpPr>
          <p:cNvPr id="483" name="Google Shape;483;p45"/>
          <p:cNvCxnSpPr/>
          <p:nvPr/>
        </p:nvCxnSpPr>
        <p:spPr>
          <a:xfrm rot="10800000" flipH="1">
            <a:off x="2868611" y="5373232"/>
            <a:ext cx="1966800" cy="144000"/>
          </a:xfrm>
          <a:prstGeom prst="bentConnector3">
            <a:avLst>
              <a:gd name="adj1" fmla="val 50000"/>
            </a:avLst>
          </a:prstGeom>
          <a:noFill/>
          <a:ln w="9525" cap="flat" cmpd="sng">
            <a:solidFill>
              <a:schemeClr val="dk2"/>
            </a:solidFill>
            <a:prstDash val="solid"/>
            <a:round/>
            <a:headEnd type="none" w="sm" len="sm"/>
            <a:tailEnd type="triangle" w="med" len="med"/>
          </a:ln>
        </p:spPr>
      </p:cxnSp>
      <p:cxnSp>
        <p:nvCxnSpPr>
          <p:cNvPr id="484" name="Google Shape;484;p45"/>
          <p:cNvCxnSpPr/>
          <p:nvPr/>
        </p:nvCxnSpPr>
        <p:spPr>
          <a:xfrm rot="10800000" flipH="1">
            <a:off x="2868611" y="6093312"/>
            <a:ext cx="1966800" cy="144000"/>
          </a:xfrm>
          <a:prstGeom prst="bentConnector3">
            <a:avLst>
              <a:gd name="adj1" fmla="val 50000"/>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489"/>
        <p:cNvGrpSpPr/>
        <p:nvPr/>
      </p:nvGrpSpPr>
      <p:grpSpPr>
        <a:xfrm>
          <a:off x="0" y="0"/>
          <a:ext cx="0" cy="0"/>
          <a:chOff x="0" y="0"/>
          <a:chExt cx="0" cy="0"/>
        </a:xfrm>
      </p:grpSpPr>
      <p:pic>
        <p:nvPicPr>
          <p:cNvPr id="490" name="Google Shape;490;p46"/>
          <p:cNvPicPr preferRelativeResize="0"/>
          <p:nvPr/>
        </p:nvPicPr>
        <p:blipFill rotWithShape="1">
          <a:blip r:embed="rId3">
            <a:alphaModFix/>
          </a:blip>
          <a:srcRect/>
          <a:stretch/>
        </p:blipFill>
        <p:spPr>
          <a:xfrm>
            <a:off x="687263" y="1913930"/>
            <a:ext cx="8277225" cy="4629150"/>
          </a:xfrm>
          <a:prstGeom prst="rect">
            <a:avLst/>
          </a:prstGeom>
          <a:noFill/>
          <a:ln>
            <a:noFill/>
          </a:ln>
        </p:spPr>
      </p:pic>
      <p:sp>
        <p:nvSpPr>
          <p:cNvPr id="491" name="Google Shape;491;p46"/>
          <p:cNvSpPr txBox="1">
            <a:spLocks noGrp="1"/>
          </p:cNvSpPr>
          <p:nvPr>
            <p:ph type="title"/>
          </p:nvPr>
        </p:nvSpPr>
        <p:spPr>
          <a:xfrm>
            <a:off x="457200" y="274638"/>
            <a:ext cx="8507288"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latin typeface="Calibri"/>
                <a:ea typeface="Calibri"/>
                <a:cs typeface="Calibri"/>
                <a:sym typeface="Calibri"/>
              </a:rPr>
              <a:t>Software Quality Assurance </a:t>
            </a:r>
            <a:r>
              <a:rPr lang="en-US" b="1" i="1">
                <a:solidFill>
                  <a:srgbClr val="FF0000"/>
                </a:solidFill>
                <a:latin typeface="Calibri"/>
                <a:ea typeface="Calibri"/>
                <a:cs typeface="Calibri"/>
                <a:sym typeface="Calibri"/>
              </a:rPr>
              <a:t>(Answer)</a:t>
            </a:r>
            <a:endParaRPr/>
          </a:p>
        </p:txBody>
      </p:sp>
      <p:sp>
        <p:nvSpPr>
          <p:cNvPr id="492" name="Google Shape;492;p46"/>
          <p:cNvSpPr/>
          <p:nvPr/>
        </p:nvSpPr>
        <p:spPr>
          <a:xfrm>
            <a:off x="755576" y="1208477"/>
            <a:ext cx="2448272" cy="47462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Phases in SDLC</a:t>
            </a:r>
            <a:endParaRPr sz="2400" b="1">
              <a:solidFill>
                <a:schemeClr val="dk1"/>
              </a:solidFill>
              <a:latin typeface="Calibri"/>
              <a:ea typeface="Calibri"/>
              <a:cs typeface="Calibri"/>
              <a:sym typeface="Calibri"/>
            </a:endParaRPr>
          </a:p>
        </p:txBody>
      </p:sp>
      <p:sp>
        <p:nvSpPr>
          <p:cNvPr id="493" name="Google Shape;493;p46"/>
          <p:cNvSpPr/>
          <p:nvPr/>
        </p:nvSpPr>
        <p:spPr>
          <a:xfrm>
            <a:off x="3347864" y="1208477"/>
            <a:ext cx="5400600" cy="474620"/>
          </a:xfrm>
          <a:prstGeom prst="rect">
            <a:avLst/>
          </a:prstGeom>
          <a:solidFill>
            <a:srgbClr val="00B0F0"/>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Calibri"/>
                <a:ea typeface="Calibri"/>
                <a:cs typeface="Calibri"/>
                <a:sym typeface="Calibri"/>
              </a:rPr>
              <a:t>SQA activities (checking process)</a:t>
            </a:r>
            <a:endParaRPr sz="2400" b="1">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latin typeface="Calibri"/>
                <a:ea typeface="Calibri"/>
                <a:cs typeface="Calibri"/>
                <a:sym typeface="Calibri"/>
              </a:rPr>
              <a:t>Summary</a:t>
            </a:r>
            <a:endParaRPr/>
          </a:p>
        </p:txBody>
      </p:sp>
      <p:sp>
        <p:nvSpPr>
          <p:cNvPr id="499" name="Google Shape;499;p47"/>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a:latin typeface="Calibri"/>
                <a:ea typeface="Calibri"/>
                <a:cs typeface="Calibri"/>
                <a:sym typeface="Calibri"/>
              </a:rPr>
              <a:t>Relationship of software, software quality, SQA &amp; software testing</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Importance of SQA</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Causes of software errors</a:t>
            </a:r>
            <a:endParaRPr/>
          </a:p>
          <a:p>
            <a:pPr marL="342900" lvl="0" indent="-342900" algn="l" rtl="0">
              <a:spcBef>
                <a:spcPts val="560"/>
              </a:spcBef>
              <a:spcAft>
                <a:spcPts val="0"/>
              </a:spcAft>
              <a:buClr>
                <a:schemeClr val="dk1"/>
              </a:buClr>
              <a:buSzPts val="2800"/>
              <a:buChar char="•"/>
            </a:pPr>
            <a:r>
              <a:rPr lang="en-US">
                <a:latin typeface="Calibri"/>
                <a:ea typeface="Calibri"/>
                <a:cs typeface="Calibri"/>
                <a:sym typeface="Calibri"/>
              </a:rPr>
              <a:t>SQA and SDLC</a:t>
            </a:r>
            <a:endParaRPr/>
          </a:p>
        </p:txBody>
      </p:sp>
    </p:spTree>
  </p:cSld>
  <p:clrMapOvr>
    <a:masterClrMapping/>
  </p:clrMapOvr>
</p:sld>
</file>

<file path=ppt/theme/theme1.xml><?xml version="1.0" encoding="utf-8"?>
<a:theme xmlns:a="http://schemas.openxmlformats.org/drawingml/2006/main" name="UTM">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4110</Words>
  <Application>Microsoft Office PowerPoint</Application>
  <PresentationFormat>On-screen Show (4:3)</PresentationFormat>
  <Paragraphs>524</Paragraphs>
  <Slides>47</Slides>
  <Notes>47</Notes>
  <HiddenSlides>13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Comic Sans MS</vt:lpstr>
      <vt:lpstr>Noto Sans Symbols</vt:lpstr>
      <vt:lpstr>Times New Roman</vt:lpstr>
      <vt:lpstr>UTM</vt:lpstr>
      <vt:lpstr>Introduction to Software Quality and Testing</vt:lpstr>
      <vt:lpstr>Expectation</vt:lpstr>
      <vt:lpstr>Assessment</vt:lpstr>
      <vt:lpstr>SQA Section 3 Rules</vt:lpstr>
      <vt:lpstr>Objectives</vt:lpstr>
      <vt:lpstr>PowerPoint Presentation</vt:lpstr>
      <vt:lpstr>What is Software?</vt:lpstr>
      <vt:lpstr>What is Software Quality?</vt:lpstr>
      <vt:lpstr>What is Software Quality Assurance?</vt:lpstr>
      <vt:lpstr>Basic Questions</vt:lpstr>
      <vt:lpstr>Basic Questions</vt:lpstr>
      <vt:lpstr>What is Software Testing?</vt:lpstr>
      <vt:lpstr>Difference between SQA and software testing</vt:lpstr>
      <vt:lpstr>IMPORTANCE OF SOFTWARE QUALITY</vt:lpstr>
      <vt:lpstr>Importance of Software Quality</vt:lpstr>
      <vt:lpstr>Causes of software errors</vt:lpstr>
      <vt:lpstr>Causes of Software Errors (Example of Instruction)</vt:lpstr>
      <vt:lpstr>Causes of software errors</vt:lpstr>
      <vt:lpstr>Causes of software errors</vt:lpstr>
      <vt:lpstr>Causes of software errors</vt:lpstr>
      <vt:lpstr>Causes of software errors</vt:lpstr>
      <vt:lpstr>Causes of software errors</vt:lpstr>
      <vt:lpstr>Causes of software errors</vt:lpstr>
      <vt:lpstr>Causes of software errors</vt:lpstr>
      <vt:lpstr>Causes of software errors</vt:lpstr>
      <vt:lpstr>Causes of software errors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fault, error and failure</vt:lpstr>
      <vt:lpstr>When are defects introduced?</vt:lpstr>
      <vt:lpstr>Cost of fixing defects</vt:lpstr>
      <vt:lpstr>Role of Customer</vt:lpstr>
      <vt:lpstr>SOFTWARE QUALITY ASSURANCE</vt:lpstr>
      <vt:lpstr>SQA Activities</vt:lpstr>
      <vt:lpstr>PowerPoint Presentation</vt:lpstr>
      <vt:lpstr>PowerPoint Presentation</vt:lpstr>
      <vt:lpstr>PowerPoint Presentation</vt:lpstr>
      <vt:lpstr>Software Quality Assurance</vt:lpstr>
      <vt:lpstr>Software Quality Assurance (Answer)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Quality and Testing</dc:title>
  <dc:creator>webteam1</dc:creator>
  <cp:lastModifiedBy>ALIF RIDZUAN BIN KHAIRUDDIN 16784</cp:lastModifiedBy>
  <cp:revision>1</cp:revision>
  <dcterms:created xsi:type="dcterms:W3CDTF">2012-02-09T00:44:16Z</dcterms:created>
  <dcterms:modified xsi:type="dcterms:W3CDTF">2024-03-17T05:10:01Z</dcterms:modified>
</cp:coreProperties>
</file>