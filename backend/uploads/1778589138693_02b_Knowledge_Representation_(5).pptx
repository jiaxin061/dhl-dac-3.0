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Default Extension="wdp" ContentType="image/vnd.ms-photo"/>
  <Override PartName="/ppt/slideLayouts/slideLayout10.xml" ContentType="application/vnd.openxmlformats-officedocument.presentationml.slideLayout+xml"/>
  <Override PartName="/ppt/slides/slide89.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98"/>
  </p:notesMasterIdLst>
  <p:handoutMasterIdLst>
    <p:handoutMasterId r:id="rId99"/>
  </p:handoutMasterIdLst>
  <p:sldIdLst>
    <p:sldId id="256" r:id="rId3"/>
    <p:sldId id="257" r:id="rId4"/>
    <p:sldId id="349" r:id="rId5"/>
    <p:sldId id="352" r:id="rId6"/>
    <p:sldId id="353" r:id="rId7"/>
    <p:sldId id="354" r:id="rId8"/>
    <p:sldId id="356" r:id="rId9"/>
    <p:sldId id="364" r:id="rId10"/>
    <p:sldId id="365" r:id="rId11"/>
    <p:sldId id="261" r:id="rId12"/>
    <p:sldId id="262" r:id="rId13"/>
    <p:sldId id="263" r:id="rId14"/>
    <p:sldId id="264" r:id="rId15"/>
    <p:sldId id="265" r:id="rId16"/>
    <p:sldId id="266" r:id="rId17"/>
    <p:sldId id="350" r:id="rId18"/>
    <p:sldId id="355" r:id="rId19"/>
    <p:sldId id="277" r:id="rId20"/>
    <p:sldId id="368" r:id="rId21"/>
    <p:sldId id="369" r:id="rId22"/>
    <p:sldId id="370" r:id="rId23"/>
    <p:sldId id="278" r:id="rId24"/>
    <p:sldId id="279" r:id="rId25"/>
    <p:sldId id="281" r:id="rId26"/>
    <p:sldId id="280" r:id="rId27"/>
    <p:sldId id="357"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73" r:id="rId52"/>
    <p:sldId id="305" r:id="rId53"/>
    <p:sldId id="306" r:id="rId54"/>
    <p:sldId id="351" r:id="rId55"/>
    <p:sldId id="360" r:id="rId56"/>
    <p:sldId id="371" r:id="rId57"/>
    <p:sldId id="372" r:id="rId58"/>
    <p:sldId id="361" r:id="rId59"/>
    <p:sldId id="362" r:id="rId60"/>
    <p:sldId id="363"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74"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2642"/>
    <a:srgbClr val="0070C0"/>
    <a:srgbClr val="F79646"/>
    <a:srgbClr val="FFE1AD"/>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98" autoAdjust="0"/>
    <p:restoredTop sz="93970" autoAdjust="0"/>
  </p:normalViewPr>
  <p:slideViewPr>
    <p:cSldViewPr>
      <p:cViewPr varScale="1">
        <p:scale>
          <a:sx n="84" d="100"/>
          <a:sy n="84" d="100"/>
        </p:scale>
        <p:origin x="-318" y="-90"/>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16596"/>
    </p:cViewPr>
  </p:sorterViewPr>
  <p:notesViewPr>
    <p:cSldViewPr>
      <p:cViewPr varScale="1">
        <p:scale>
          <a:sx n="79" d="100"/>
          <a:sy n="79" d="100"/>
        </p:scale>
        <p:origin x="2394" y="96"/>
      </p:cViewPr>
      <p:guideLst/>
    </p:cSldViewPr>
  </p:notes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102"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handoutMaster" Target="handoutMasters/handoutMaster1.xml"/><Relationship Id="rId10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0241EC-F0A5-4FA7-AED7-3F1F668CCC7B}" type="datetimeFigureOut">
              <a:rPr lang="en-GB" smtClean="0"/>
              <a:pPr/>
              <a:t>23/09/2019</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0A1736-348F-48DA-BE69-B51A8D70A279}" type="slidenum">
              <a:rPr lang="en-GB" smtClean="0"/>
              <a:pPr/>
              <a:t>‹#›</a:t>
            </a:fld>
            <a:endParaRPr lang="en-GB"/>
          </a:p>
        </p:txBody>
      </p:sp>
    </p:spTree>
    <p:extLst>
      <p:ext uri="{BB962C8B-B14F-4D97-AF65-F5344CB8AC3E}">
        <p14:creationId xmlns:p14="http://schemas.microsoft.com/office/powerpoint/2010/main" xmlns="" val="25032185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ED72AD-98F2-48AA-9584-1CD8673FAED1}" type="datetimeFigureOut">
              <a:rPr lang="en-US" smtClean="0"/>
              <a:pPr/>
              <a:t>23-Sep-19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18F6A6-5BDF-41D7-9B84-3DCB4D0C04F4}" type="slidenum">
              <a:rPr lang="en-US" smtClean="0"/>
              <a:pPr/>
              <a:t>‹#›</a:t>
            </a:fld>
            <a:endParaRPr lang="en-US"/>
          </a:p>
        </p:txBody>
      </p:sp>
    </p:spTree>
    <p:extLst>
      <p:ext uri="{BB962C8B-B14F-4D97-AF65-F5344CB8AC3E}">
        <p14:creationId xmlns:p14="http://schemas.microsoft.com/office/powerpoint/2010/main" xmlns="" val="338730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MY" b="1" dirty="0"/>
              <a:t>Application : </a:t>
            </a:r>
            <a:r>
              <a:rPr lang="en-MY" dirty="0"/>
              <a:t>Example by using text processing, text mining, image processing, natural language processing, speech recognition, video.</a:t>
            </a:r>
          </a:p>
          <a:p>
            <a:endParaRPr lang="en-MY" dirty="0"/>
          </a:p>
        </p:txBody>
      </p:sp>
      <p:sp>
        <p:nvSpPr>
          <p:cNvPr id="4" name="Slide Number Placeholder 3"/>
          <p:cNvSpPr>
            <a:spLocks noGrp="1"/>
          </p:cNvSpPr>
          <p:nvPr>
            <p:ph type="sldNum" sz="quarter" idx="10"/>
          </p:nvPr>
        </p:nvSpPr>
        <p:spPr/>
        <p:txBody>
          <a:bodyPr/>
          <a:lstStyle/>
          <a:p>
            <a:fld id="{2818F6A6-5BDF-41D7-9B84-3DCB4D0C04F4}" type="slidenum">
              <a:rPr lang="en-US" smtClean="0"/>
              <a:pPr/>
              <a:t>2</a:t>
            </a:fld>
            <a:endParaRPr lang="en-US"/>
          </a:p>
        </p:txBody>
      </p:sp>
    </p:spTree>
    <p:extLst>
      <p:ext uri="{BB962C8B-B14F-4D97-AF65-F5344CB8AC3E}">
        <p14:creationId xmlns:p14="http://schemas.microsoft.com/office/powerpoint/2010/main" xmlns="" val="1700409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2818F6A6-5BDF-41D7-9B84-3DCB4D0C04F4}" type="slidenum">
              <a:rPr lang="en-US" smtClean="0"/>
              <a:pPr/>
              <a:t>75</a:t>
            </a:fld>
            <a:endParaRPr lang="en-US"/>
          </a:p>
        </p:txBody>
      </p:sp>
    </p:spTree>
    <p:extLst>
      <p:ext uri="{BB962C8B-B14F-4D97-AF65-F5344CB8AC3E}">
        <p14:creationId xmlns:p14="http://schemas.microsoft.com/office/powerpoint/2010/main" xmlns="" val="19557374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MECQ1203: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MECQ1203: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MECQ1203: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2019</a:t>
            </a:r>
          </a:p>
        </p:txBody>
      </p:sp>
      <p:sp>
        <p:nvSpPr>
          <p:cNvPr id="6" name="Footer Placeholder 5"/>
          <p:cNvSpPr>
            <a:spLocks noGrp="1"/>
          </p:cNvSpPr>
          <p:nvPr>
            <p:ph type="ftr" sz="quarter" idx="11"/>
          </p:nvPr>
        </p:nvSpPr>
        <p:spPr/>
        <p:txBody>
          <a:bodyPr/>
          <a:lstStyle/>
          <a:p>
            <a:r>
              <a:rPr lang="en-US"/>
              <a:t>MECQ1203: Artificial Intelligence</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2019</a:t>
            </a:r>
          </a:p>
        </p:txBody>
      </p:sp>
      <p:sp>
        <p:nvSpPr>
          <p:cNvPr id="8" name="Footer Placeholder 7"/>
          <p:cNvSpPr>
            <a:spLocks noGrp="1"/>
          </p:cNvSpPr>
          <p:nvPr>
            <p:ph type="ftr" sz="quarter" idx="11"/>
          </p:nvPr>
        </p:nvSpPr>
        <p:spPr/>
        <p:txBody>
          <a:bodyPr/>
          <a:lstStyle/>
          <a:p>
            <a:r>
              <a:rPr lang="en-US"/>
              <a:t>MECQ1203: Artificial Intelligence</a:t>
            </a:r>
          </a:p>
        </p:txBody>
      </p:sp>
      <p:sp>
        <p:nvSpPr>
          <p:cNvPr id="9" name="Slide Number Placeholder 8"/>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2019</a:t>
            </a:r>
          </a:p>
        </p:txBody>
      </p:sp>
      <p:sp>
        <p:nvSpPr>
          <p:cNvPr id="4" name="Footer Placeholder 3"/>
          <p:cNvSpPr>
            <a:spLocks noGrp="1"/>
          </p:cNvSpPr>
          <p:nvPr>
            <p:ph type="ftr" sz="quarter" idx="11"/>
          </p:nvPr>
        </p:nvSpPr>
        <p:spPr/>
        <p:txBody>
          <a:bodyPr/>
          <a:lstStyle/>
          <a:p>
            <a:r>
              <a:rPr lang="en-US"/>
              <a:t>MECQ1203: Artificial Intelligence</a:t>
            </a:r>
          </a:p>
        </p:txBody>
      </p:sp>
      <p:sp>
        <p:nvSpPr>
          <p:cNvPr id="5" name="Slide Number Placeholder 4"/>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MECQ1203: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2019</a:t>
            </a:r>
          </a:p>
        </p:txBody>
      </p:sp>
      <p:sp>
        <p:nvSpPr>
          <p:cNvPr id="6" name="Footer Placeholder 5"/>
          <p:cNvSpPr>
            <a:spLocks noGrp="1"/>
          </p:cNvSpPr>
          <p:nvPr>
            <p:ph type="ftr" sz="quarter" idx="11"/>
          </p:nvPr>
        </p:nvSpPr>
        <p:spPr/>
        <p:txBody>
          <a:bodyPr/>
          <a:lstStyle/>
          <a:p>
            <a:r>
              <a:rPr lang="en-US"/>
              <a:t>MECQ1203: Artificial Intelligence</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2019</a:t>
            </a:r>
          </a:p>
        </p:txBody>
      </p:sp>
      <p:sp>
        <p:nvSpPr>
          <p:cNvPr id="6" name="Footer Placeholder 5"/>
          <p:cNvSpPr>
            <a:spLocks noGrp="1"/>
          </p:cNvSpPr>
          <p:nvPr>
            <p:ph type="ftr" sz="quarter" idx="11"/>
          </p:nvPr>
        </p:nvSpPr>
        <p:spPr/>
        <p:txBody>
          <a:bodyPr/>
          <a:lstStyle/>
          <a:p>
            <a:r>
              <a:rPr lang="en-US"/>
              <a:t>MECQ1203: Artificial Intelligence</a:t>
            </a:r>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MECQ1203: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MECQ1203: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277813"/>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914400" y="1600200"/>
            <a:ext cx="38100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876800" y="1600200"/>
            <a:ext cx="38100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876800" y="3941763"/>
            <a:ext cx="38100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9">
            <a:extLst>
              <a:ext uri="{FF2B5EF4-FFF2-40B4-BE49-F238E27FC236}">
                <a16:creationId xmlns:a16="http://schemas.microsoft.com/office/drawing/2014/main" xmlns="" id="{E3D3EA85-68BA-4B6C-91E7-23B7DF6EA358}"/>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10">
            <a:extLst>
              <a:ext uri="{FF2B5EF4-FFF2-40B4-BE49-F238E27FC236}">
                <a16:creationId xmlns:a16="http://schemas.microsoft.com/office/drawing/2014/main" xmlns="" id="{8A367525-D72A-48B9-B78E-4F4800758AC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11">
            <a:extLst>
              <a:ext uri="{FF2B5EF4-FFF2-40B4-BE49-F238E27FC236}">
                <a16:creationId xmlns:a16="http://schemas.microsoft.com/office/drawing/2014/main" xmlns="" id="{C57282FB-7617-4E64-BAFE-B05EACE4FB2D}"/>
              </a:ext>
            </a:extLst>
          </p:cNvPr>
          <p:cNvSpPr>
            <a:spLocks noGrp="1" noChangeArrowheads="1"/>
          </p:cNvSpPr>
          <p:nvPr>
            <p:ph type="sldNum" sz="quarter" idx="12"/>
          </p:nvPr>
        </p:nvSpPr>
        <p:spPr>
          <a:ln/>
        </p:spPr>
        <p:txBody>
          <a:bodyPr/>
          <a:lstStyle>
            <a:lvl1pPr>
              <a:defRPr/>
            </a:lvl1pPr>
          </a:lstStyle>
          <a:p>
            <a:pPr>
              <a:defRPr/>
            </a:pPr>
            <a:fld id="{74FBCFFE-7DD8-4B7A-9010-3844179922CA}" type="slidenum">
              <a:rPr lang="en-US" altLang="en-US"/>
              <a:pPr>
                <a:defRPr/>
              </a:pPr>
              <a:t>‹#›</a:t>
            </a:fld>
            <a:endParaRPr lang="en-US" altLang="en-US"/>
          </a:p>
        </p:txBody>
      </p:sp>
    </p:spTree>
    <p:extLst>
      <p:ext uri="{BB962C8B-B14F-4D97-AF65-F5344CB8AC3E}">
        <p14:creationId xmlns:p14="http://schemas.microsoft.com/office/powerpoint/2010/main" xmlns="" val="21876824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277813"/>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914400" y="1600200"/>
            <a:ext cx="38100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76800" y="1600200"/>
            <a:ext cx="38100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xmlns="" id="{E3D3EA85-68BA-4B6C-91E7-23B7DF6EA35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0">
            <a:extLst>
              <a:ext uri="{FF2B5EF4-FFF2-40B4-BE49-F238E27FC236}">
                <a16:creationId xmlns:a16="http://schemas.microsoft.com/office/drawing/2014/main" xmlns="" id="{8A367525-D72A-48B9-B78E-4F4800758AC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1">
            <a:extLst>
              <a:ext uri="{FF2B5EF4-FFF2-40B4-BE49-F238E27FC236}">
                <a16:creationId xmlns:a16="http://schemas.microsoft.com/office/drawing/2014/main" xmlns="" id="{C57282FB-7617-4E64-BAFE-B05EACE4FB2D}"/>
              </a:ext>
            </a:extLst>
          </p:cNvPr>
          <p:cNvSpPr>
            <a:spLocks noGrp="1" noChangeArrowheads="1"/>
          </p:cNvSpPr>
          <p:nvPr>
            <p:ph type="sldNum" sz="quarter" idx="12"/>
          </p:nvPr>
        </p:nvSpPr>
        <p:spPr>
          <a:ln/>
        </p:spPr>
        <p:txBody>
          <a:bodyPr/>
          <a:lstStyle>
            <a:lvl1pPr>
              <a:defRPr/>
            </a:lvl1pPr>
          </a:lstStyle>
          <a:p>
            <a:pPr>
              <a:defRPr/>
            </a:pPr>
            <a:fld id="{0BE9C28C-806A-4C5C-B2D3-B5B0A1A8CB15}" type="slidenum">
              <a:rPr lang="en-US" altLang="en-US"/>
              <a:pPr>
                <a:defRPr/>
              </a:pPr>
              <a:t>‹#›</a:t>
            </a:fld>
            <a:endParaRPr lang="en-US" altLang="en-US"/>
          </a:p>
        </p:txBody>
      </p:sp>
    </p:spTree>
    <p:extLst>
      <p:ext uri="{BB962C8B-B14F-4D97-AF65-F5344CB8AC3E}">
        <p14:creationId xmlns:p14="http://schemas.microsoft.com/office/powerpoint/2010/main" xmlns="" val="911093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heme" Target="../theme/theme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userDrawn="1"/>
        </p:nvPicPr>
        <p:blipFill>
          <a:blip r:embed="rId15" cstate="print"/>
          <a:srcRect/>
          <a:stretch>
            <a:fillRect/>
          </a:stretch>
        </p:blipFill>
        <p:spPr bwMode="auto">
          <a:xfrm>
            <a:off x="-747" y="6487366"/>
            <a:ext cx="9131300" cy="357187"/>
          </a:xfrm>
          <a:prstGeom prst="rect">
            <a:avLst/>
          </a:prstGeom>
          <a:noFill/>
          <a:ln w="9525">
            <a:noFill/>
            <a:miter lim="800000"/>
            <a:headEnd/>
            <a:tailEnd/>
          </a:ln>
        </p:spPr>
      </p:pic>
      <p:sp>
        <p:nvSpPr>
          <p:cNvPr id="9"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a:ea typeface="ＭＳ Ｐゴシック" pitchFamily="-112" charset="-128"/>
            </a:endParaRPr>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pic>
        <p:nvPicPr>
          <p:cNvPr id="10" name="Picture 20" descr="header_UTM"/>
          <p:cNvPicPr>
            <a:picLocks noChangeAspect="1" noChangeArrowheads="1"/>
          </p:cNvPicPr>
          <p:nvPr userDrawn="1"/>
        </p:nvPicPr>
        <p:blipFill>
          <a:blip r:embed="rId16" cstate="print"/>
          <a:srcRect/>
          <a:stretch>
            <a:fillRect/>
          </a:stretch>
        </p:blipFill>
        <p:spPr bwMode="auto">
          <a:xfrm>
            <a:off x="63500" y="106363"/>
            <a:ext cx="1195388" cy="395287"/>
          </a:xfrm>
          <a:prstGeom prst="rect">
            <a:avLst/>
          </a:prstGeom>
          <a:noFill/>
          <a:ln w="9525">
            <a:noFill/>
            <a:miter lim="800000"/>
            <a:headEnd/>
            <a:tailEnd/>
          </a:ln>
        </p:spPr>
      </p:pic>
      <p:pic>
        <p:nvPicPr>
          <p:cNvPr id="11" name="Picture 22" descr="header_url"/>
          <p:cNvPicPr>
            <a:picLocks noChangeAspect="1" noChangeArrowheads="1"/>
          </p:cNvPicPr>
          <p:nvPr userDrawn="1"/>
        </p:nvPicPr>
        <p:blipFill>
          <a:blip r:embed="rId17" cstate="print"/>
          <a:srcRect/>
          <a:stretch>
            <a:fillRect/>
          </a:stretch>
        </p:blipFill>
        <p:spPr bwMode="auto">
          <a:xfrm>
            <a:off x="0" y="1169894"/>
            <a:ext cx="2376488" cy="255588"/>
          </a:xfrm>
          <a:prstGeom prst="rect">
            <a:avLst/>
          </a:prstGeom>
          <a:noFill/>
          <a:ln w="9525">
            <a:noFill/>
            <a:miter lim="800000"/>
            <a:headEnd/>
            <a:tailEnd/>
          </a:ln>
        </p:spPr>
      </p:pic>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598396"/>
            <a:ext cx="2133600" cy="365125"/>
          </a:xfrm>
          <a:prstGeom prst="rect">
            <a:avLst/>
          </a:prstGeom>
        </p:spPr>
        <p:txBody>
          <a:bodyPr vert="horz" lIns="91440" tIns="45720" rIns="91440" bIns="45720" rtlCol="0" anchor="ctr"/>
          <a:lstStyle>
            <a:lvl1pPr algn="l">
              <a:defRPr sz="1100">
                <a:solidFill>
                  <a:sysClr val="windowText" lastClr="000000"/>
                </a:solidFill>
              </a:defRPr>
            </a:lvl1pPr>
          </a:lstStyle>
          <a:p>
            <a:r>
              <a:rPr lang="en-US"/>
              <a:t>2019</a:t>
            </a:r>
            <a:endParaRPr lang="en-US" dirty="0"/>
          </a:p>
        </p:txBody>
      </p:sp>
      <p:sp>
        <p:nvSpPr>
          <p:cNvPr id="5" name="Footer Placeholder 4"/>
          <p:cNvSpPr>
            <a:spLocks noGrp="1"/>
          </p:cNvSpPr>
          <p:nvPr>
            <p:ph type="ftr" sz="quarter" idx="3"/>
          </p:nvPr>
        </p:nvSpPr>
        <p:spPr>
          <a:xfrm>
            <a:off x="2469777" y="6620436"/>
            <a:ext cx="4191000" cy="304800"/>
          </a:xfrm>
          <a:prstGeom prst="rect">
            <a:avLst/>
          </a:prstGeom>
        </p:spPr>
        <p:txBody>
          <a:bodyPr vert="horz" lIns="91440" tIns="45720" rIns="91440" bIns="45720" rtlCol="0" anchor="ctr"/>
          <a:lstStyle>
            <a:lvl1pPr algn="ctr">
              <a:defRPr sz="1100">
                <a:solidFill>
                  <a:sysClr val="windowText" lastClr="000000"/>
                </a:solidFill>
              </a:defRPr>
            </a:lvl1pPr>
          </a:lstStyle>
          <a:p>
            <a:r>
              <a:rPr lang="en-US"/>
              <a:t>MECQ1203: Artificial Intelligence</a:t>
            </a:r>
          </a:p>
        </p:txBody>
      </p:sp>
      <p:sp>
        <p:nvSpPr>
          <p:cNvPr id="6" name="Slide Number Placeholder 5"/>
          <p:cNvSpPr>
            <a:spLocks noGrp="1"/>
          </p:cNvSpPr>
          <p:nvPr>
            <p:ph type="sldNum" sz="quarter" idx="4"/>
          </p:nvPr>
        </p:nvSpPr>
        <p:spPr>
          <a:xfrm>
            <a:off x="6553200" y="6598396"/>
            <a:ext cx="2133600" cy="365125"/>
          </a:xfrm>
          <a:prstGeom prst="rect">
            <a:avLst/>
          </a:prstGeom>
        </p:spPr>
        <p:txBody>
          <a:bodyPr vert="horz" lIns="91440" tIns="45720" rIns="91440" bIns="45720" rtlCol="0" anchor="ctr"/>
          <a:lstStyle>
            <a:lvl1pPr algn="r">
              <a:defRPr sz="1100">
                <a:solidFill>
                  <a:sysClr val="windowText" lastClr="000000"/>
                </a:solidFill>
              </a:defRPr>
            </a:lvl1pPr>
          </a:lstStyle>
          <a:p>
            <a:fld id="{0362C787-829C-4B6B-B21B-90D8981190F3}" type="slidenum">
              <a:rPr lang="en-US" smtClean="0"/>
              <a:pPr/>
              <a:t>‹#›</a:t>
            </a:fld>
            <a:endParaRPr lang="en-US"/>
          </a:p>
        </p:txBody>
      </p:sp>
      <p:pic>
        <p:nvPicPr>
          <p:cNvPr id="12" name="Picture 3" descr="A close up of a logo&#10;&#10;Description automatically generated">
            <a:extLst>
              <a:ext uri="{FF2B5EF4-FFF2-40B4-BE49-F238E27FC236}">
                <a16:creationId xmlns:a16="http://schemas.microsoft.com/office/drawing/2014/main" xmlns="" id="{5A3AE759-D010-43EB-8C5F-B95307ECC8E4}"/>
              </a:ext>
            </a:extLst>
          </p:cNvPr>
          <p:cNvPicPr>
            <a:picLocks noChangeAspect="1" noChangeArrowheads="1"/>
          </p:cNvPicPr>
          <p:nvPr userDrawn="1"/>
        </p:nvPicPr>
        <p:blipFill>
          <a:blip r:embed="rId18" cstate="print">
            <a:extLst>
              <a:ext uri="{28A0092B-C50C-407E-A947-70E740481C1C}">
                <a14:useLocalDpi xmlns:a14="http://schemas.microsoft.com/office/drawing/2010/main" xmlns="" val="0"/>
              </a:ext>
            </a:extLst>
          </a:blip>
          <a:srcRect/>
          <a:stretch>
            <a:fillRect/>
          </a:stretch>
        </p:blipFill>
        <p:spPr bwMode="auto">
          <a:xfrm>
            <a:off x="7630160" y="6021985"/>
            <a:ext cx="1392237" cy="433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Content Placeholder 2"/>
          <p:cNvSpPr txBox="1">
            <a:spLocks/>
          </p:cNvSpPr>
          <p:nvPr userDrawn="1"/>
        </p:nvSpPr>
        <p:spPr>
          <a:xfrm>
            <a:off x="457200" y="1600200"/>
            <a:ext cx="8229600" cy="4525963"/>
          </a:xfrm>
          <a:prstGeom prst="rect">
            <a:avLst/>
          </a:prstGeom>
        </p:spPr>
        <p:txBody>
          <a:bodyPr/>
          <a:lstStyle/>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5400" b="0" i="0" u="none" strike="noStrike" kern="1200" cap="none" spc="0" normalizeH="0" baseline="0" noProof="0">
              <a:ln>
                <a:noFill/>
              </a:ln>
              <a:solidFill>
                <a:schemeClr val="tx1"/>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5400" b="1" i="0" u="none" strike="noStrike" kern="1200" cap="none" spc="0" normalizeH="0" baseline="0" noProof="0">
                <a:ln>
                  <a:noFill/>
                </a:ln>
                <a:solidFill>
                  <a:schemeClr val="tx1"/>
                </a:solidFill>
                <a:effectLst/>
                <a:uLnTx/>
                <a:uFillTx/>
                <a:latin typeface="+mn-lt"/>
                <a:ea typeface="+mn-ea"/>
                <a:cs typeface="+mn-cs"/>
              </a:rPr>
              <a:t>Terima Kasih</a:t>
            </a: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800" b="0" i="0" u="none" strike="noStrike" kern="1200" cap="none" spc="0" normalizeH="0" baseline="0" noProof="0">
                <a:ln>
                  <a:noFill/>
                </a:ln>
                <a:solidFill>
                  <a:srgbClr val="C00000"/>
                </a:solidFill>
                <a:effectLst/>
                <a:uLnTx/>
                <a:uFillTx/>
                <a:latin typeface="+mn-lt"/>
                <a:ea typeface="+mn-ea"/>
                <a:cs typeface="+mn-cs"/>
              </a:rPr>
              <a:t>atas keprihatinan anda</a:t>
            </a: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2800" b="0" i="0" u="none" strike="noStrike" kern="1200" cap="none" spc="0" normalizeH="0" baseline="0" noProof="0">
              <a:ln>
                <a:noFill/>
              </a:ln>
              <a:solidFill>
                <a:srgbClr val="C00000"/>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3600" b="1" i="0" u="none" strike="noStrike" kern="1200" cap="none" spc="0" normalizeH="0" baseline="0" noProof="0">
                <a:ln>
                  <a:noFill/>
                </a:ln>
                <a:solidFill>
                  <a:srgbClr val="002060"/>
                </a:solidFill>
                <a:effectLst/>
                <a:uLnTx/>
                <a:uFillTx/>
                <a:latin typeface="Baskerville Old Face" pitchFamily="18" charset="0"/>
                <a:ea typeface="+mn-ea"/>
                <a:cs typeface="+mn-cs"/>
              </a:rPr>
              <a:t>“I Care, You Care, We Care”</a:t>
            </a:r>
            <a:endParaRPr kumimoji="0" lang="en-US" sz="3600" b="1" i="0" u="none" strike="noStrike" kern="1200" cap="none" spc="0" normalizeH="0" baseline="0" noProof="0" dirty="0">
              <a:ln>
                <a:noFill/>
              </a:ln>
              <a:solidFill>
                <a:srgbClr val="002060"/>
              </a:solidFill>
              <a:effectLst/>
              <a:uLnTx/>
              <a:uFillTx/>
              <a:latin typeface="Baskerville Old Face" pitchFamily="18" charset="0"/>
              <a:ea typeface="+mn-ea"/>
              <a:cs typeface="+mn-cs"/>
            </a:endParaRPr>
          </a:p>
        </p:txBody>
      </p:sp>
      <p:pic>
        <p:nvPicPr>
          <p:cNvPr id="13" name="Picture 10"/>
          <p:cNvPicPr>
            <a:picLocks noChangeAspect="1" noChangeArrowheads="1"/>
          </p:cNvPicPr>
          <p:nvPr userDrawn="1"/>
        </p:nvPicPr>
        <p:blipFill>
          <a:blip r:embed="rId2" cstate="print"/>
          <a:srcRect/>
          <a:stretch>
            <a:fillRect/>
          </a:stretch>
        </p:blipFill>
        <p:spPr bwMode="auto">
          <a:xfrm>
            <a:off x="-747" y="6487366"/>
            <a:ext cx="9131300" cy="357187"/>
          </a:xfrm>
          <a:prstGeom prst="rect">
            <a:avLst/>
          </a:prstGeom>
          <a:noFill/>
          <a:ln w="9525">
            <a:noFill/>
            <a:miter lim="800000"/>
            <a:headEnd/>
            <a:tailEnd/>
          </a:ln>
        </p:spPr>
      </p:pic>
      <p:sp>
        <p:nvSpPr>
          <p:cNvPr id="14" name="Date Placeholder 3"/>
          <p:cNvSpPr>
            <a:spLocks noGrp="1"/>
          </p:cNvSpPr>
          <p:nvPr>
            <p:ph type="dt" sz="half" idx="2"/>
          </p:nvPr>
        </p:nvSpPr>
        <p:spPr>
          <a:xfrm>
            <a:off x="0" y="6600451"/>
            <a:ext cx="1547664"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solidFill>
                <a:latin typeface="+mn-lt"/>
              </a:defRPr>
            </a:lvl1pPr>
          </a:lstStyle>
          <a:p>
            <a:pPr>
              <a:defRPr/>
            </a:pPr>
            <a:r>
              <a:rPr lang="en-US"/>
              <a:t>2019</a:t>
            </a:r>
            <a:endParaRPr lang="en-US" dirty="0"/>
          </a:p>
        </p:txBody>
      </p:sp>
      <p:sp>
        <p:nvSpPr>
          <p:cNvPr id="15" name="Slide Number Placeholder 5"/>
          <p:cNvSpPr>
            <a:spLocks noGrp="1"/>
          </p:cNvSpPr>
          <p:nvPr>
            <p:ph type="sldNum" sz="quarter" idx="4"/>
          </p:nvPr>
        </p:nvSpPr>
        <p:spPr>
          <a:xfrm>
            <a:off x="8316416" y="6600451"/>
            <a:ext cx="4572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solidFill>
                <a:latin typeface="+mn-lt"/>
              </a:defRPr>
            </a:lvl1pPr>
          </a:lstStyle>
          <a:p>
            <a:pPr>
              <a:defRPr/>
            </a:pPr>
            <a:fld id="{C038A795-CA2C-4B96-A1E0-C7053193AEE8}" type="slidenum">
              <a:rPr lang="en-US"/>
              <a:pPr>
                <a:defRPr/>
              </a:pPr>
              <a:t>‹#›</a:t>
            </a:fld>
            <a:endParaRPr lang="en-US"/>
          </a:p>
        </p:txBody>
      </p:sp>
      <p:sp>
        <p:nvSpPr>
          <p:cNvPr id="16"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a:ea typeface="ＭＳ Ｐゴシック" pitchFamily="-112" charset="-128"/>
            </a:endParaRPr>
          </a:p>
        </p:txBody>
      </p:sp>
      <p:pic>
        <p:nvPicPr>
          <p:cNvPr id="17" name="Picture 20" descr="header_UTM"/>
          <p:cNvPicPr>
            <a:picLocks noChangeAspect="1" noChangeArrowheads="1"/>
          </p:cNvPicPr>
          <p:nvPr userDrawn="1"/>
        </p:nvPicPr>
        <p:blipFill>
          <a:blip r:embed="rId3" cstate="print"/>
          <a:srcRect/>
          <a:stretch>
            <a:fillRect/>
          </a:stretch>
        </p:blipFill>
        <p:spPr bwMode="auto">
          <a:xfrm>
            <a:off x="63500" y="106363"/>
            <a:ext cx="1195388" cy="395287"/>
          </a:xfrm>
          <a:prstGeom prst="rect">
            <a:avLst/>
          </a:prstGeom>
          <a:noFill/>
          <a:ln w="9525">
            <a:noFill/>
            <a:miter lim="800000"/>
            <a:headEnd/>
            <a:tailEnd/>
          </a:ln>
        </p:spPr>
      </p:pic>
      <p:pic>
        <p:nvPicPr>
          <p:cNvPr id="18" name="Picture 22" descr="header_url"/>
          <p:cNvPicPr>
            <a:picLocks noChangeAspect="1" noChangeArrowheads="1"/>
          </p:cNvPicPr>
          <p:nvPr userDrawn="1"/>
        </p:nvPicPr>
        <p:blipFill>
          <a:blip r:embed="rId4" cstate="print"/>
          <a:srcRect/>
          <a:stretch>
            <a:fillRect/>
          </a:stretch>
        </p:blipFill>
        <p:spPr bwMode="auto">
          <a:xfrm>
            <a:off x="0" y="1009650"/>
            <a:ext cx="2376488" cy="388938"/>
          </a:xfrm>
          <a:prstGeom prst="rect">
            <a:avLst/>
          </a:prstGeom>
          <a:noFill/>
          <a:ln w="9525">
            <a:noFill/>
            <a:miter lim="800000"/>
            <a:headEnd/>
            <a:tailEnd/>
          </a:ln>
        </p:spPr>
      </p:pic>
      <p:pic>
        <p:nvPicPr>
          <p:cNvPr id="19" name="Picture 7"/>
          <p:cNvPicPr>
            <a:picLocks noChangeAspect="1" noChangeArrowheads="1"/>
          </p:cNvPicPr>
          <p:nvPr userDrawn="1"/>
        </p:nvPicPr>
        <p:blipFill>
          <a:blip r:embed="rId5" cstate="print"/>
          <a:srcRect/>
          <a:stretch>
            <a:fillRect/>
          </a:stretch>
        </p:blipFill>
        <p:spPr bwMode="auto">
          <a:xfrm>
            <a:off x="1873008" y="53788"/>
            <a:ext cx="580837" cy="438130"/>
          </a:xfrm>
          <a:prstGeom prst="rect">
            <a:avLst/>
          </a:prstGeom>
          <a:noFill/>
          <a:ln w="9525">
            <a:noFill/>
            <a:miter lim="800000"/>
            <a:headEnd/>
            <a:tailEnd/>
          </a:ln>
        </p:spPr>
      </p:pic>
      <p:pic>
        <p:nvPicPr>
          <p:cNvPr id="20" name="Picture 8" descr="PNG_newlogo"/>
          <p:cNvPicPr>
            <a:picLocks noChangeAspect="1" noChangeArrowheads="1"/>
          </p:cNvPicPr>
          <p:nvPr userDrawn="1"/>
        </p:nvPicPr>
        <p:blipFill>
          <a:blip r:embed="rId6" cstate="print"/>
          <a:srcRect/>
          <a:stretch>
            <a:fillRect/>
          </a:stretch>
        </p:blipFill>
        <p:spPr bwMode="auto">
          <a:xfrm>
            <a:off x="1354633" y="26894"/>
            <a:ext cx="504056" cy="477366"/>
          </a:xfrm>
          <a:prstGeom prst="rect">
            <a:avLst/>
          </a:prstGeom>
          <a:noFill/>
          <a:ln w="9525" algn="in">
            <a:noFill/>
            <a:miter lim="800000"/>
            <a:headEnd/>
            <a:tailEnd/>
          </a:ln>
        </p:spPr>
      </p:pic>
      <p:sp>
        <p:nvSpPr>
          <p:cNvPr id="21" name="Footer Placeholder 4"/>
          <p:cNvSpPr>
            <a:spLocks noGrp="1"/>
          </p:cNvSpPr>
          <p:nvPr>
            <p:ph type="ftr" sz="quarter" idx="3"/>
          </p:nvPr>
        </p:nvSpPr>
        <p:spPr>
          <a:xfrm>
            <a:off x="2281520" y="6647328"/>
            <a:ext cx="4704928" cy="365125"/>
          </a:xfrm>
          <a:prstGeom prst="rect">
            <a:avLst/>
          </a:prstGeom>
        </p:spPr>
        <p:txBody>
          <a:bodyPr/>
          <a:lstStyle>
            <a:lvl1pPr algn="ctr">
              <a:defRPr sz="1100"/>
            </a:lvl1pPr>
          </a:lstStyle>
          <a:p>
            <a:pPr>
              <a:defRPr/>
            </a:pPr>
            <a:r>
              <a:rPr lang="en-US"/>
              <a:t>MECQ1203: Artificial Intelligence</a:t>
            </a:r>
            <a:endParaRPr lang="en-US" dirty="0"/>
          </a:p>
        </p:txBody>
      </p:sp>
    </p:spTree>
  </p:cSld>
  <p:clrMap bg1="lt1" tx1="dk1" bg2="lt2" tx2="dk2" accent1="accent1" accent2="accent2" accent3="accent3" accent4="accent4" accent5="accent5" accent6="accent6" hlink="hlink" folHlink="folHlink"/>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youtube.com/watch?v=zdoIfEKw3eU"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dictionary.reference.com/browse/propositions" TargetMode="External"/><Relationship Id="rId2" Type="http://schemas.openxmlformats.org/officeDocument/2006/relationships/hyperlink" Target="http://dictionary.reference.com/browse/symbolic%20logic" TargetMode="External"/><Relationship Id="rId1" Type="http://schemas.openxmlformats.org/officeDocument/2006/relationships/slideLayout" Target="../slideLayouts/slideLayout2.xml"/><Relationship Id="rId5" Type="http://schemas.openxmlformats.org/officeDocument/2006/relationships/hyperlink" Target="http://dictionary.reference.com/browse/predicate%20logic" TargetMode="External"/><Relationship Id="rId4" Type="http://schemas.openxmlformats.org/officeDocument/2006/relationships/hyperlink" Target="http://dictionary.reference.com/browse/logical%20connective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image" Target="../media/image14.wmf"/><Relationship Id="rId7" Type="http://schemas.openxmlformats.org/officeDocument/2006/relationships/image" Target="../media/image18.wmf"/><Relationship Id="rId2" Type="http://schemas.openxmlformats.org/officeDocument/2006/relationships/image" Target="../media/image13.wmf"/><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wmf"/><Relationship Id="rId4" Type="http://schemas.openxmlformats.org/officeDocument/2006/relationships/image" Target="../media/image15.wmf"/></Relationships>
</file>

<file path=ppt/slides/_rels/slide2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5.wmf"/><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wmf"/><Relationship Id="rId4" Type="http://schemas.openxmlformats.org/officeDocument/2006/relationships/image" Target="../media/image13.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slideLayout" Target="../slideLayouts/slideLayout12.xml"/><Relationship Id="rId4" Type="http://schemas.openxmlformats.org/officeDocument/2006/relationships/image" Target="../media/image13.wmf"/></Relationships>
</file>

<file path=ppt/slides/_rels/slide33.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slideLayout" Target="../slideLayouts/slideLayout12.xml"/><Relationship Id="rId4" Type="http://schemas.openxmlformats.org/officeDocument/2006/relationships/image" Target="../media/image25.wmf"/></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png"/><Relationship Id="rId1" Type="http://schemas.openxmlformats.org/officeDocument/2006/relationships/slideLayout" Target="../slideLayouts/slideLayout12.xml"/><Relationship Id="rId4" Type="http://schemas.openxmlformats.org/officeDocument/2006/relationships/image" Target="../media/image29.wmf"/></Relationships>
</file>

<file path=ppt/slides/_rels/slide38.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slideLayout" Target="../slideLayouts/slideLayout12.xml"/><Relationship Id="rId4" Type="http://schemas.openxmlformats.org/officeDocument/2006/relationships/image" Target="../media/image32.wmf"/></Relationships>
</file>

<file path=ppt/slides/_rels/slide40.x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31.wmf"/><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2.xml"/><Relationship Id="rId4" Type="http://schemas.openxmlformats.org/officeDocument/2006/relationships/image" Target="../media/image41.w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png"/><Relationship Id="rId1" Type="http://schemas.openxmlformats.org/officeDocument/2006/relationships/slideLayout" Target="../slideLayouts/slideLayout12.xml"/><Relationship Id="rId6" Type="http://schemas.openxmlformats.org/officeDocument/2006/relationships/image" Target="../media/image46.wmf"/><Relationship Id="rId5" Type="http://schemas.openxmlformats.org/officeDocument/2006/relationships/image" Target="../media/image45.png"/><Relationship Id="rId4" Type="http://schemas.openxmlformats.org/officeDocument/2006/relationships/image" Target="../media/image44.png"/></Relationships>
</file>

<file path=ppt/slides/_rels/slide5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hyperlink" Target="https://cs.stackexchange.com/questions/68168/in-refutation-resolution-can-we-use-a-clause-that-have-been-resolved" TargetMode="Externa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hyperlink" Target="https://en.wikipedia.org/wiki/Davis%E2%80%93Putnam_algorithm" TargetMode="Externa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76.emf"/><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130425"/>
            <a:ext cx="9220200" cy="936625"/>
          </a:xfrm>
        </p:spPr>
        <p:txBody>
          <a:bodyPr>
            <a:normAutofit fontScale="90000"/>
          </a:bodyPr>
          <a:lstStyle/>
          <a:p>
            <a:r>
              <a:rPr lang="en-GB" sz="5400" dirty="0"/>
              <a:t>Knowledge Representation</a:t>
            </a:r>
            <a:r>
              <a:rPr lang="en-US" sz="5400" dirty="0">
                <a:solidFill>
                  <a:srgbClr val="FF0000"/>
                </a:solidFill>
              </a:rPr>
              <a:t/>
            </a:r>
            <a:br>
              <a:rPr lang="en-US" sz="5400" dirty="0">
                <a:solidFill>
                  <a:srgbClr val="FF0000"/>
                </a:solidFill>
              </a:rPr>
            </a:br>
            <a:endParaRPr lang="en-US" sz="5400" b="1" dirty="0">
              <a:latin typeface="Roboto" pitchFamily="2" charset="0"/>
              <a:ea typeface="Roboto" pitchFamily="2" charset="0"/>
            </a:endParaRPr>
          </a:p>
        </p:txBody>
      </p:sp>
      <p:sp>
        <p:nvSpPr>
          <p:cNvPr id="3" name="Subtitle 2"/>
          <p:cNvSpPr>
            <a:spLocks noGrp="1"/>
          </p:cNvSpPr>
          <p:nvPr>
            <p:ph type="subTitle" idx="1"/>
          </p:nvPr>
        </p:nvSpPr>
        <p:spPr>
          <a:xfrm>
            <a:off x="0" y="3886200"/>
            <a:ext cx="9144000" cy="1752600"/>
          </a:xfrm>
          <a:solidFill>
            <a:srgbClr val="FFE1AD"/>
          </a:solidFill>
        </p:spPr>
        <p:txBody>
          <a:bodyPr>
            <a:normAutofit lnSpcReduction="10000"/>
          </a:bodyPr>
          <a:lstStyle/>
          <a:p>
            <a:r>
              <a:rPr lang="en-US" sz="4000" b="1" dirty="0">
                <a:solidFill>
                  <a:srgbClr val="0070C0"/>
                </a:solidFill>
              </a:rPr>
              <a:t>Artificial Intelligence</a:t>
            </a:r>
          </a:p>
          <a:p>
            <a:endParaRPr lang="en-US" sz="1100" b="1" dirty="0">
              <a:solidFill>
                <a:srgbClr val="0070C0"/>
              </a:solidFill>
            </a:endParaRPr>
          </a:p>
          <a:p>
            <a:pPr>
              <a:spcBef>
                <a:spcPts val="0"/>
              </a:spcBef>
            </a:pPr>
            <a:r>
              <a:rPr lang="en-US" sz="2800" i="1" spc="-150" dirty="0"/>
              <a:t>School of Computing</a:t>
            </a:r>
          </a:p>
          <a:p>
            <a:pPr>
              <a:spcBef>
                <a:spcPts val="0"/>
              </a:spcBef>
            </a:pPr>
            <a:r>
              <a:rPr lang="en-US" sz="2800" i="1" spc="-150" dirty="0"/>
              <a:t>Universiti Teknologi Malaysia</a:t>
            </a:r>
          </a:p>
        </p:txBody>
      </p:sp>
      <p:pic>
        <p:nvPicPr>
          <p:cNvPr id="5" name="Picture 2" descr="Image result for artificial intelligence icon"/>
          <p:cNvPicPr>
            <a:picLocks noChangeAspect="1" noChangeArrowheads="1"/>
          </p:cNvPicPr>
          <p:nvPr/>
        </p:nvPicPr>
        <p:blipFill rotWithShape="1">
          <a:blip r:embed="rId2" cstate="print">
            <a:duotone>
              <a:prstClr val="black"/>
              <a:schemeClr val="accent2">
                <a:tint val="45000"/>
                <a:satMod val="400000"/>
              </a:schemeClr>
            </a:duotone>
            <a:extLst>
              <a:ext uri="{BEBA8EAE-BF5A-486C-A8C5-ECC9F3942E4B}">
                <a14:imgProps xmlns:a14="http://schemas.microsoft.com/office/drawing/2010/main" xmlns="">
                  <a14:imgLayer r:embed="rId3">
                    <a14:imgEffect>
                      <a14:backgroundRemoval t="5429" b="69497" l="10000" r="90000">
                        <a14:foregroundMark x1="65976" y1="28727" x2="65976" y2="28727"/>
                        <a14:foregroundMark x1="58293" y1="30997" x2="58293" y2="30997"/>
                        <a14:foregroundMark x1="60732" y1="35933" x2="60732" y2="35933"/>
                        <a14:foregroundMark x1="58293" y1="41165" x2="58293" y2="41165"/>
                        <a14:foregroundMark x1="65122" y1="41757" x2="65122" y2="41757"/>
                        <a14:foregroundMark x1="69634" y1="36130" x2="69634" y2="36130"/>
                        <a14:foregroundMark x1="61220" y1="48963" x2="61220" y2="48963"/>
                        <a14:foregroundMark x1="50854" y1="66732" x2="50854" y2="66732"/>
                        <a14:foregroundMark x1="51098" y1="5429" x2="51098" y2="5429"/>
                      </a14:backgroundRemoval>
                    </a14:imgEffect>
                  </a14:imgLayer>
                </a14:imgProps>
              </a:ext>
              <a:ext uri="{28A0092B-C50C-407E-A947-70E740481C1C}">
                <a14:useLocalDpi xmlns:a14="http://schemas.microsoft.com/office/drawing/2010/main" xmlns="" val="0"/>
              </a:ext>
            </a:extLst>
          </a:blip>
          <a:srcRect l="14092" r="15445" b="29337"/>
          <a:stretch/>
        </p:blipFill>
        <p:spPr bwMode="auto">
          <a:xfrm>
            <a:off x="1" y="3429000"/>
            <a:ext cx="2071412" cy="2566251"/>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a:latin typeface="Roboto" pitchFamily="2" charset="0"/>
                <a:ea typeface="Roboto" pitchFamily="2" charset="0"/>
              </a:rPr>
              <a:t>Outline</a:t>
            </a:r>
          </a:p>
        </p:txBody>
      </p:sp>
      <p:sp>
        <p:nvSpPr>
          <p:cNvPr id="3" name="Content Placeholder 2"/>
          <p:cNvSpPr>
            <a:spLocks noGrp="1"/>
          </p:cNvSpPr>
          <p:nvPr>
            <p:ph idx="1"/>
          </p:nvPr>
        </p:nvSpPr>
        <p:spPr>
          <a:xfrm>
            <a:off x="457200" y="1600200"/>
            <a:ext cx="8001000" cy="4525963"/>
          </a:xfrm>
        </p:spPr>
        <p:txBody>
          <a:bodyPr>
            <a:normAutofit/>
          </a:bodyPr>
          <a:lstStyle/>
          <a:p>
            <a:pPr lvl="2">
              <a:lnSpc>
                <a:spcPct val="90000"/>
              </a:lnSpc>
            </a:pPr>
            <a:endParaRPr lang="en-US" altLang="en-US" dirty="0"/>
          </a:p>
          <a:p>
            <a:pPr marL="0" indent="0">
              <a:lnSpc>
                <a:spcPct val="80000"/>
              </a:lnSpc>
              <a:buClr>
                <a:schemeClr val="tx1"/>
              </a:buClr>
              <a:buSzPct val="90000"/>
              <a:buNone/>
            </a:pPr>
            <a:r>
              <a:rPr lang="en-GB" dirty="0"/>
              <a:t>We will learn these topics:</a:t>
            </a:r>
          </a:p>
          <a:p>
            <a:pPr marL="0" indent="0">
              <a:lnSpc>
                <a:spcPct val="80000"/>
              </a:lnSpc>
              <a:buClr>
                <a:schemeClr val="tx1"/>
              </a:buClr>
              <a:buSzPct val="90000"/>
              <a:buNone/>
            </a:pPr>
            <a:endParaRPr lang="en-GB" dirty="0"/>
          </a:p>
          <a:p>
            <a:pPr marL="514350" indent="-514350">
              <a:lnSpc>
                <a:spcPct val="80000"/>
              </a:lnSpc>
              <a:buClr>
                <a:schemeClr val="tx1"/>
              </a:buClr>
              <a:buSzPct val="90000"/>
              <a:buAutoNum type="arabicPeriod"/>
            </a:pPr>
            <a:r>
              <a:rPr lang="en-GB" dirty="0"/>
              <a:t>AI-based knowledge representation</a:t>
            </a:r>
          </a:p>
          <a:p>
            <a:pPr marL="514350" indent="-514350">
              <a:lnSpc>
                <a:spcPct val="80000"/>
              </a:lnSpc>
              <a:buClr>
                <a:schemeClr val="tx1"/>
              </a:buClr>
              <a:buSzPct val="90000"/>
              <a:buAutoNum type="arabicPeriod"/>
            </a:pPr>
            <a:r>
              <a:rPr lang="en-GB" dirty="0"/>
              <a:t>Propositional Logic</a:t>
            </a:r>
          </a:p>
          <a:p>
            <a:pPr marL="514350" indent="-514350">
              <a:lnSpc>
                <a:spcPct val="80000"/>
              </a:lnSpc>
              <a:buClr>
                <a:schemeClr val="tx1"/>
              </a:buClr>
              <a:buSzPct val="90000"/>
              <a:buAutoNum type="arabicPeriod"/>
            </a:pPr>
            <a:r>
              <a:rPr lang="en-GB" dirty="0"/>
              <a:t>Predicate Logic</a:t>
            </a:r>
          </a:p>
          <a:p>
            <a:pPr marL="0" indent="0">
              <a:lnSpc>
                <a:spcPct val="80000"/>
              </a:lnSpc>
              <a:buClr>
                <a:schemeClr val="tx1"/>
              </a:buClr>
              <a:buSzPct val="90000"/>
              <a:buNone/>
            </a:pPr>
            <a:endParaRPr lang="en-GB" dirty="0"/>
          </a:p>
          <a:p>
            <a:pPr marL="0" indent="0">
              <a:buNone/>
            </a:pPr>
            <a:endParaRPr lang="en-MY" dirty="0"/>
          </a:p>
          <a:p>
            <a:endParaRPr lang="en-US" dirty="0"/>
          </a:p>
        </p:txBody>
      </p:sp>
      <p:sp>
        <p:nvSpPr>
          <p:cNvPr id="4" name="Date Placeholder 3"/>
          <p:cNvSpPr>
            <a:spLocks noGrp="1"/>
          </p:cNvSpPr>
          <p:nvPr>
            <p:ph type="dt" sz="half" idx="10"/>
          </p:nvPr>
        </p:nvSpPr>
        <p:spPr>
          <a:xfrm>
            <a:off x="228600" y="6437873"/>
            <a:ext cx="2133600" cy="365125"/>
          </a:xfrm>
        </p:spPr>
        <p:txBody>
          <a:bodyPr/>
          <a:lstStyle/>
          <a:p>
            <a:r>
              <a:rPr lang="en-US"/>
              <a:t>2019</a:t>
            </a:r>
            <a:endParaRPr lang="en-US" dirty="0"/>
          </a:p>
        </p:txBody>
      </p:sp>
      <p:sp>
        <p:nvSpPr>
          <p:cNvPr id="5" name="Footer Placeholder 4"/>
          <p:cNvSpPr>
            <a:spLocks noGrp="1"/>
          </p:cNvSpPr>
          <p:nvPr>
            <p:ph type="ftr" sz="quarter" idx="11"/>
          </p:nvPr>
        </p:nvSpPr>
        <p:spPr/>
        <p:txBody>
          <a:bodyPr/>
          <a:lstStyle/>
          <a:p>
            <a:r>
              <a:rPr lang="en-US"/>
              <a:t>MECQ1203: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8400" y="3657600"/>
            <a:ext cx="6400800" cy="936625"/>
          </a:xfrm>
        </p:spPr>
        <p:txBody>
          <a:bodyPr>
            <a:normAutofit fontScale="90000"/>
          </a:bodyPr>
          <a:lstStyle/>
          <a:p>
            <a:r>
              <a:rPr lang="en-GB" sz="5400" dirty="0"/>
              <a:t>2.1 AI-based knowledge representation</a:t>
            </a:r>
            <a:r>
              <a:rPr lang="en-US" sz="5400" dirty="0">
                <a:solidFill>
                  <a:srgbClr val="FF0000"/>
                </a:solidFill>
              </a:rPr>
              <a:t/>
            </a:r>
            <a:br>
              <a:rPr lang="en-US" sz="5400" dirty="0">
                <a:solidFill>
                  <a:srgbClr val="FF0000"/>
                </a:solidFill>
              </a:rPr>
            </a:br>
            <a:endParaRPr lang="en-US" sz="5400" b="1" dirty="0">
              <a:latin typeface="Roboto" pitchFamily="2" charset="0"/>
              <a:ea typeface="Roboto" pitchFamily="2" charset="0"/>
            </a:endParaRPr>
          </a:p>
        </p:txBody>
      </p:sp>
      <p:pic>
        <p:nvPicPr>
          <p:cNvPr id="5" name="Picture 2" descr="Image result for artificial intelligence icon"/>
          <p:cNvPicPr>
            <a:picLocks noChangeAspect="1" noChangeArrowheads="1"/>
          </p:cNvPicPr>
          <p:nvPr/>
        </p:nvPicPr>
        <p:blipFill rotWithShape="1">
          <a:blip r:embed="rId2" cstate="print">
            <a:duotone>
              <a:prstClr val="black"/>
              <a:schemeClr val="accent2">
                <a:tint val="45000"/>
                <a:satMod val="400000"/>
              </a:schemeClr>
            </a:duotone>
            <a:extLst>
              <a:ext uri="{BEBA8EAE-BF5A-486C-A8C5-ECC9F3942E4B}">
                <a14:imgProps xmlns:a14="http://schemas.microsoft.com/office/drawing/2010/main" xmlns="">
                  <a14:imgLayer r:embed="rId3">
                    <a14:imgEffect>
                      <a14:backgroundRemoval t="5429" b="69497" l="10000" r="90000">
                        <a14:foregroundMark x1="65976" y1="28727" x2="65976" y2="28727"/>
                        <a14:foregroundMark x1="58293" y1="30997" x2="58293" y2="30997"/>
                        <a14:foregroundMark x1="60732" y1="35933" x2="60732" y2="35933"/>
                        <a14:foregroundMark x1="58293" y1="41165" x2="58293" y2="41165"/>
                        <a14:foregroundMark x1="65122" y1="41757" x2="65122" y2="41757"/>
                        <a14:foregroundMark x1="69634" y1="36130" x2="69634" y2="36130"/>
                        <a14:foregroundMark x1="61220" y1="48963" x2="61220" y2="48963"/>
                        <a14:foregroundMark x1="50854" y1="66732" x2="50854" y2="66732"/>
                        <a14:foregroundMark x1="51098" y1="5429" x2="51098" y2="5429"/>
                      </a14:backgroundRemoval>
                    </a14:imgEffect>
                  </a14:imgLayer>
                </a14:imgProps>
              </a:ext>
              <a:ext uri="{28A0092B-C50C-407E-A947-70E740481C1C}">
                <a14:useLocalDpi xmlns:a14="http://schemas.microsoft.com/office/drawing/2010/main" xmlns="" val="0"/>
              </a:ext>
            </a:extLst>
          </a:blip>
          <a:srcRect l="14092" r="15445" b="29337"/>
          <a:stretch/>
        </p:blipFill>
        <p:spPr bwMode="auto">
          <a:xfrm>
            <a:off x="457200" y="2590800"/>
            <a:ext cx="2071412" cy="256625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714354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r>
              <a:rPr lang="en-GB" b="1" dirty="0"/>
              <a:t>Representation </a:t>
            </a:r>
          </a:p>
        </p:txBody>
      </p:sp>
      <p:sp>
        <p:nvSpPr>
          <p:cNvPr id="1027" name="Rectangle 3"/>
          <p:cNvSpPr>
            <a:spLocks noGrp="1" noChangeArrowheads="1"/>
          </p:cNvSpPr>
          <p:nvPr>
            <p:ph type="body" idx="1"/>
          </p:nvPr>
        </p:nvSpPr>
        <p:spPr>
          <a:xfrm>
            <a:off x="533400" y="1905000"/>
            <a:ext cx="8229600" cy="3886200"/>
          </a:xfrm>
        </p:spPr>
        <p:txBody>
          <a:bodyPr>
            <a:normAutofit lnSpcReduction="10000"/>
          </a:bodyPr>
          <a:lstStyle/>
          <a:p>
            <a:r>
              <a:rPr lang="en-GB" dirty="0"/>
              <a:t>AI agents deal with knowledge (data)</a:t>
            </a:r>
          </a:p>
          <a:p>
            <a:pPr lvl="1"/>
            <a:r>
              <a:rPr lang="en-GB" dirty="0"/>
              <a:t>Facts (believe &amp; observe knowledge)</a:t>
            </a:r>
          </a:p>
          <a:p>
            <a:pPr lvl="1"/>
            <a:r>
              <a:rPr lang="en-GB" dirty="0"/>
              <a:t>Procedures (how to knowledge)	</a:t>
            </a:r>
          </a:p>
          <a:p>
            <a:pPr lvl="1"/>
            <a:r>
              <a:rPr lang="en-GB" dirty="0"/>
              <a:t>Meaning (relate &amp; define knowledge)</a:t>
            </a:r>
          </a:p>
          <a:p>
            <a:r>
              <a:rPr lang="en-GB" dirty="0"/>
              <a:t>Right representation is crucial</a:t>
            </a:r>
          </a:p>
          <a:p>
            <a:pPr lvl="1"/>
            <a:r>
              <a:rPr lang="en-GB" dirty="0"/>
              <a:t>Early realisation in AI</a:t>
            </a:r>
          </a:p>
          <a:p>
            <a:pPr lvl="1"/>
            <a:r>
              <a:rPr lang="en-GB" dirty="0"/>
              <a:t>Wrong choice can lead to project failure</a:t>
            </a:r>
          </a:p>
          <a:p>
            <a:pPr lvl="1"/>
            <a:r>
              <a:rPr lang="en-GB" dirty="0"/>
              <a:t>Active research area</a:t>
            </a:r>
          </a:p>
        </p:txBody>
      </p:sp>
    </p:spTree>
    <p:extLst>
      <p:ext uri="{BB962C8B-B14F-4D97-AF65-F5344CB8AC3E}">
        <p14:creationId xmlns:p14="http://schemas.microsoft.com/office/powerpoint/2010/main" xmlns="" val="3465625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914400" y="152400"/>
            <a:ext cx="8229600" cy="1143000"/>
          </a:xfrm>
        </p:spPr>
        <p:txBody>
          <a:bodyPr/>
          <a:lstStyle/>
          <a:p>
            <a:r>
              <a:rPr lang="en-GB" b="1" dirty="0"/>
              <a:t>Choosing a Representation</a:t>
            </a:r>
          </a:p>
        </p:txBody>
      </p:sp>
      <p:sp>
        <p:nvSpPr>
          <p:cNvPr id="13315" name="Rectangle 3"/>
          <p:cNvSpPr>
            <a:spLocks noGrp="1" noChangeArrowheads="1"/>
          </p:cNvSpPr>
          <p:nvPr>
            <p:ph type="body" idx="1"/>
          </p:nvPr>
        </p:nvSpPr>
        <p:spPr>
          <a:xfrm>
            <a:off x="482600" y="1828800"/>
            <a:ext cx="8382000" cy="4267200"/>
          </a:xfrm>
        </p:spPr>
        <p:txBody>
          <a:bodyPr/>
          <a:lstStyle/>
          <a:p>
            <a:r>
              <a:rPr lang="en-GB" sz="2400" dirty="0"/>
              <a:t>For certain problem solving techniques</a:t>
            </a:r>
          </a:p>
          <a:p>
            <a:pPr lvl="1"/>
            <a:r>
              <a:rPr lang="en-GB" sz="2000" dirty="0"/>
              <a:t>‘Best’ representation already known</a:t>
            </a:r>
          </a:p>
          <a:p>
            <a:pPr lvl="1"/>
            <a:r>
              <a:rPr lang="en-GB" sz="2000" dirty="0"/>
              <a:t>Often a requirement of the technique</a:t>
            </a:r>
          </a:p>
          <a:p>
            <a:pPr lvl="1"/>
            <a:r>
              <a:rPr lang="en-GB" sz="2000" dirty="0"/>
              <a:t>Or a requirement of the programming language (e.g. </a:t>
            </a:r>
            <a:r>
              <a:rPr lang="en-GB" sz="2000" dirty="0" err="1"/>
              <a:t>Prolog</a:t>
            </a:r>
            <a:r>
              <a:rPr lang="en-GB" sz="2000" dirty="0"/>
              <a:t>)</a:t>
            </a:r>
          </a:p>
          <a:p>
            <a:r>
              <a:rPr lang="en-GB" sz="2400" dirty="0"/>
              <a:t>Examples</a:t>
            </a:r>
          </a:p>
          <a:p>
            <a:pPr lvl="1"/>
            <a:r>
              <a:rPr lang="en-GB" sz="2000" dirty="0"/>
              <a:t>First order theorem proving… first order logic</a:t>
            </a:r>
          </a:p>
          <a:p>
            <a:pPr lvl="1"/>
            <a:r>
              <a:rPr lang="en-GB" sz="2000" dirty="0"/>
              <a:t>Inductive logic programming… logic programs</a:t>
            </a:r>
          </a:p>
          <a:p>
            <a:pPr lvl="1"/>
            <a:r>
              <a:rPr lang="en-GB" sz="2000" dirty="0"/>
              <a:t>Neural networks learning… neural networks</a:t>
            </a:r>
          </a:p>
          <a:p>
            <a:r>
              <a:rPr lang="en-GB" sz="2400" dirty="0"/>
              <a:t>Some general representation schemes</a:t>
            </a:r>
          </a:p>
          <a:p>
            <a:pPr lvl="1"/>
            <a:r>
              <a:rPr lang="en-GB" sz="2000" dirty="0"/>
              <a:t>Suitable for many different (and new) AI applications</a:t>
            </a:r>
          </a:p>
        </p:txBody>
      </p:sp>
    </p:spTree>
    <p:extLst>
      <p:ext uri="{BB962C8B-B14F-4D97-AF65-F5344CB8AC3E}">
        <p14:creationId xmlns:p14="http://schemas.microsoft.com/office/powerpoint/2010/main" xmlns="" val="2487470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GB" b="1" dirty="0"/>
              <a:t>Some General Representations</a:t>
            </a:r>
          </a:p>
        </p:txBody>
      </p:sp>
      <p:sp>
        <p:nvSpPr>
          <p:cNvPr id="6147" name="Rectangle 3"/>
          <p:cNvSpPr>
            <a:spLocks noGrp="1" noChangeArrowheads="1"/>
          </p:cNvSpPr>
          <p:nvPr>
            <p:ph type="body" idx="1"/>
          </p:nvPr>
        </p:nvSpPr>
        <p:spPr>
          <a:xfrm>
            <a:off x="696686" y="2286000"/>
            <a:ext cx="8001000" cy="2895600"/>
          </a:xfrm>
        </p:spPr>
        <p:txBody>
          <a:bodyPr/>
          <a:lstStyle/>
          <a:p>
            <a:pPr marL="533400" indent="-533400">
              <a:buFont typeface="Arial" panose="020B0604020202020204" pitchFamily="34" charset="0"/>
              <a:buAutoNum type="arabicPeriod"/>
            </a:pPr>
            <a:r>
              <a:rPr lang="en-GB" dirty="0"/>
              <a:t>Logical Representations</a:t>
            </a:r>
          </a:p>
          <a:p>
            <a:pPr marL="533400" indent="-533400">
              <a:buFont typeface="Arial" panose="020B0604020202020204" pitchFamily="34" charset="0"/>
              <a:buAutoNum type="arabicPeriod"/>
            </a:pPr>
            <a:r>
              <a:rPr lang="en-GB" dirty="0"/>
              <a:t>Production Rules</a:t>
            </a:r>
          </a:p>
          <a:p>
            <a:pPr marL="533400" indent="-533400">
              <a:buFont typeface="Arial" panose="020B0604020202020204" pitchFamily="34" charset="0"/>
              <a:buAutoNum type="arabicPeriod"/>
            </a:pPr>
            <a:r>
              <a:rPr lang="en-GB" dirty="0"/>
              <a:t>Semantic Networks</a:t>
            </a:r>
          </a:p>
          <a:p>
            <a:pPr marL="914400" lvl="1" indent="-457200">
              <a:buFont typeface="Times" panose="02020603050405020304" pitchFamily="18" charset="0"/>
              <a:buChar char="•"/>
            </a:pPr>
            <a:r>
              <a:rPr lang="en-GB" dirty="0"/>
              <a:t>Conceptual graphs, frames</a:t>
            </a:r>
          </a:p>
        </p:txBody>
      </p:sp>
    </p:spTree>
    <p:extLst>
      <p:ext uri="{BB962C8B-B14F-4D97-AF65-F5344CB8AC3E}">
        <p14:creationId xmlns:p14="http://schemas.microsoft.com/office/powerpoint/2010/main" xmlns="" val="10241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914400" y="228600"/>
            <a:ext cx="8229600" cy="1143000"/>
          </a:xfrm>
        </p:spPr>
        <p:txBody>
          <a:bodyPr>
            <a:normAutofit/>
          </a:bodyPr>
          <a:lstStyle/>
          <a:p>
            <a:r>
              <a:rPr lang="en-GB" b="1" dirty="0"/>
              <a:t>Syntax and Semantics</a:t>
            </a:r>
          </a:p>
        </p:txBody>
      </p:sp>
      <p:sp>
        <p:nvSpPr>
          <p:cNvPr id="12291" name="Rectangle 3"/>
          <p:cNvSpPr>
            <a:spLocks noGrp="1" noChangeArrowheads="1"/>
          </p:cNvSpPr>
          <p:nvPr>
            <p:ph type="body" idx="1"/>
          </p:nvPr>
        </p:nvSpPr>
        <p:spPr>
          <a:xfrm>
            <a:off x="685800" y="1905000"/>
            <a:ext cx="8229600" cy="4343400"/>
          </a:xfrm>
        </p:spPr>
        <p:txBody>
          <a:bodyPr/>
          <a:lstStyle/>
          <a:p>
            <a:r>
              <a:rPr lang="en-GB" sz="2400" dirty="0"/>
              <a:t>Syntax</a:t>
            </a:r>
          </a:p>
          <a:p>
            <a:pPr lvl="1"/>
            <a:r>
              <a:rPr lang="en-GB" sz="2000" dirty="0"/>
              <a:t>Rules for constructing legal sentences in the logic</a:t>
            </a:r>
          </a:p>
          <a:p>
            <a:pPr lvl="1"/>
            <a:r>
              <a:rPr lang="en-GB" sz="2000" dirty="0"/>
              <a:t>Which symbols we can use (English: letters, punctuation)</a:t>
            </a:r>
          </a:p>
          <a:p>
            <a:pPr lvl="1"/>
            <a:r>
              <a:rPr lang="en-GB" sz="2000" dirty="0"/>
              <a:t>How we are allowed to combine symbols</a:t>
            </a:r>
          </a:p>
          <a:p>
            <a:r>
              <a:rPr lang="en-GB" sz="2400" dirty="0"/>
              <a:t>Semantics</a:t>
            </a:r>
          </a:p>
          <a:p>
            <a:pPr lvl="1"/>
            <a:r>
              <a:rPr lang="en-GB" sz="2000" dirty="0"/>
              <a:t>How we interpret (read) sentences in the logic</a:t>
            </a:r>
          </a:p>
          <a:p>
            <a:pPr lvl="1"/>
            <a:r>
              <a:rPr lang="en-GB" sz="2000" dirty="0"/>
              <a:t>Assigns a meaning to each sentence</a:t>
            </a:r>
          </a:p>
          <a:p>
            <a:r>
              <a:rPr lang="en-GB" sz="2400" dirty="0"/>
              <a:t>Example: “All lecturers are seven foot tall”</a:t>
            </a:r>
          </a:p>
          <a:p>
            <a:pPr lvl="1"/>
            <a:r>
              <a:rPr lang="en-GB" sz="2000" dirty="0"/>
              <a:t>A valid sentence (syntax)</a:t>
            </a:r>
          </a:p>
          <a:p>
            <a:pPr lvl="1"/>
            <a:r>
              <a:rPr lang="en-GB" sz="2000" dirty="0"/>
              <a:t>And we can understand the meaning (semantics)</a:t>
            </a:r>
          </a:p>
          <a:p>
            <a:pPr lvl="1"/>
            <a:r>
              <a:rPr lang="en-GB" sz="2000" dirty="0"/>
              <a:t>This sentence happens to be false (there is a counterexample)</a:t>
            </a:r>
          </a:p>
        </p:txBody>
      </p:sp>
    </p:spTree>
    <p:extLst>
      <p:ext uri="{BB962C8B-B14F-4D97-AF65-F5344CB8AC3E}">
        <p14:creationId xmlns:p14="http://schemas.microsoft.com/office/powerpoint/2010/main" xmlns="" val="397195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MECQ1203: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8</a:t>
            </a:fld>
            <a:endParaRPr lang="en-US"/>
          </a:p>
        </p:txBody>
      </p:sp>
      <p:sp>
        <p:nvSpPr>
          <p:cNvPr id="5" name="Rectangle 4"/>
          <p:cNvSpPr/>
          <p:nvPr/>
        </p:nvSpPr>
        <p:spPr>
          <a:xfrm>
            <a:off x="746940" y="4927665"/>
            <a:ext cx="3367860" cy="2062103"/>
          </a:xfrm>
          <a:prstGeom prst="rect">
            <a:avLst/>
          </a:prstGeom>
        </p:spPr>
        <p:txBody>
          <a:bodyPr wrap="square">
            <a:spAutoFit/>
          </a:bodyPr>
          <a:lstStyle/>
          <a:p>
            <a:r>
              <a:rPr lang="en-US" sz="3200" dirty="0">
                <a:hlinkClick r:id="rId2"/>
              </a:rPr>
              <a:t>https://www.youtube.com/watch?v=zdoIfEKw3eU</a:t>
            </a:r>
            <a:endParaRPr lang="en-US" sz="3200" dirty="0"/>
          </a:p>
          <a:p>
            <a:endParaRPr lang="en-US" sz="3200" dirty="0"/>
          </a:p>
        </p:txBody>
      </p:sp>
      <p:sp>
        <p:nvSpPr>
          <p:cNvPr id="6" name="Rectangle 5"/>
          <p:cNvSpPr/>
          <p:nvPr/>
        </p:nvSpPr>
        <p:spPr>
          <a:xfrm>
            <a:off x="3505200" y="381000"/>
            <a:ext cx="2813591" cy="769441"/>
          </a:xfrm>
          <a:prstGeom prst="rect">
            <a:avLst/>
          </a:prstGeom>
        </p:spPr>
        <p:txBody>
          <a:bodyPr wrap="none">
            <a:spAutoFit/>
          </a:bodyPr>
          <a:lstStyle/>
          <a:p>
            <a:r>
              <a:rPr lang="en-GB" sz="4400" b="1" dirty="0">
                <a:solidFill>
                  <a:srgbClr val="FF0000"/>
                </a:solidFill>
              </a:rPr>
              <a:t>Activity 2.1</a:t>
            </a:r>
            <a:endParaRPr lang="en-US" sz="4400" b="1" dirty="0">
              <a:solidFill>
                <a:srgbClr val="FF0000"/>
              </a:solidFill>
            </a:endParaRPr>
          </a:p>
        </p:txBody>
      </p:sp>
      <p:sp>
        <p:nvSpPr>
          <p:cNvPr id="7" name="Rectangle 6"/>
          <p:cNvSpPr/>
          <p:nvPr/>
        </p:nvSpPr>
        <p:spPr>
          <a:xfrm>
            <a:off x="339995" y="1555075"/>
            <a:ext cx="3470005" cy="3046988"/>
          </a:xfrm>
          <a:prstGeom prst="rect">
            <a:avLst/>
          </a:prstGeom>
        </p:spPr>
        <p:txBody>
          <a:bodyPr wrap="square">
            <a:spAutoFit/>
          </a:bodyPr>
          <a:lstStyle/>
          <a:p>
            <a:r>
              <a:rPr lang="en-GB" sz="2400" b="1" dirty="0"/>
              <a:t>Activity </a:t>
            </a:r>
          </a:p>
          <a:p>
            <a:endParaRPr lang="en-GB" sz="2400" b="1" dirty="0"/>
          </a:p>
          <a:p>
            <a:pPr marL="457200" indent="-457200">
              <a:buAutoNum type="arabicPeriod"/>
            </a:pPr>
            <a:r>
              <a:rPr lang="en-GB" sz="2400" dirty="0"/>
              <a:t>Watch the video below.</a:t>
            </a:r>
          </a:p>
          <a:p>
            <a:pPr marL="457200" indent="-457200">
              <a:buAutoNum type="arabicPeriod"/>
            </a:pPr>
            <a:r>
              <a:rPr lang="en-GB" sz="2400" dirty="0"/>
              <a:t>Answer</a:t>
            </a:r>
            <a:r>
              <a:rPr lang="en-GB" sz="2400" dirty="0">
                <a:solidFill>
                  <a:srgbClr val="C00000"/>
                </a:solidFill>
              </a:rPr>
              <a:t> YES/NO </a:t>
            </a:r>
            <a:r>
              <a:rPr lang="en-GB" sz="2400" dirty="0"/>
              <a:t>for sentences given.</a:t>
            </a:r>
          </a:p>
          <a:p>
            <a:pPr marL="457200" indent="-457200">
              <a:buAutoNum type="arabicPeriod"/>
            </a:pPr>
            <a:r>
              <a:rPr lang="en-GB" sz="2400" dirty="0"/>
              <a:t>One student is called to discuss the answer.</a:t>
            </a:r>
          </a:p>
        </p:txBody>
      </p:sp>
      <p:sp>
        <p:nvSpPr>
          <p:cNvPr id="8" name="Rectangle 7"/>
          <p:cNvSpPr/>
          <p:nvPr/>
        </p:nvSpPr>
        <p:spPr>
          <a:xfrm>
            <a:off x="4267200" y="1555075"/>
            <a:ext cx="4572000" cy="5262979"/>
          </a:xfrm>
          <a:prstGeom prst="rect">
            <a:avLst/>
          </a:prstGeom>
        </p:spPr>
        <p:txBody>
          <a:bodyPr>
            <a:spAutoFit/>
          </a:bodyPr>
          <a:lstStyle/>
          <a:p>
            <a:r>
              <a:rPr lang="en-GB" sz="2400" b="1" dirty="0"/>
              <a:t>Question </a:t>
            </a:r>
          </a:p>
          <a:p>
            <a:endParaRPr lang="en-GB" sz="2400" b="1" dirty="0"/>
          </a:p>
          <a:p>
            <a:pPr marL="457200" indent="-457200">
              <a:buAutoNum type="arabicPeriod"/>
            </a:pPr>
            <a:r>
              <a:rPr lang="en-GB" sz="2400" dirty="0"/>
              <a:t>My book is crying.</a:t>
            </a:r>
          </a:p>
          <a:p>
            <a:r>
              <a:rPr lang="en-GB" sz="2400" dirty="0"/>
              <a:t>       Syntax      :  …………..</a:t>
            </a:r>
          </a:p>
          <a:p>
            <a:r>
              <a:rPr lang="en-GB" sz="2400" dirty="0"/>
              <a:t>       Semantic :  …………..</a:t>
            </a:r>
          </a:p>
          <a:p>
            <a:endParaRPr lang="en-GB" sz="2400" dirty="0"/>
          </a:p>
          <a:p>
            <a:pPr marL="457200" indent="-457200">
              <a:buAutoNum type="arabicPeriod" startAt="2"/>
            </a:pPr>
            <a:r>
              <a:rPr lang="en-GB" sz="2400" dirty="0"/>
              <a:t>UTM in </a:t>
            </a:r>
            <a:r>
              <a:rPr lang="en-GB" sz="2400" dirty="0" err="1"/>
              <a:t>Johore</a:t>
            </a:r>
            <a:r>
              <a:rPr lang="en-GB" sz="2400" dirty="0"/>
              <a:t>. </a:t>
            </a:r>
          </a:p>
          <a:p>
            <a:r>
              <a:rPr lang="en-GB" sz="2400" dirty="0"/>
              <a:t>       Syntax      :  …………..</a:t>
            </a:r>
          </a:p>
          <a:p>
            <a:r>
              <a:rPr lang="en-GB" sz="2400" dirty="0"/>
              <a:t>       Semantic :  …………..</a:t>
            </a:r>
          </a:p>
          <a:p>
            <a:endParaRPr lang="en-GB" sz="2400" dirty="0"/>
          </a:p>
          <a:p>
            <a:endParaRPr lang="en-GB" sz="2400" dirty="0"/>
          </a:p>
          <a:p>
            <a:endParaRPr lang="en-GB" sz="2400" dirty="0"/>
          </a:p>
          <a:p>
            <a:endParaRPr lang="en-GB" sz="2400" dirty="0"/>
          </a:p>
          <a:p>
            <a:endParaRPr lang="en-GB" sz="2400" dirty="0"/>
          </a:p>
        </p:txBody>
      </p:sp>
    </p:spTree>
    <p:extLst>
      <p:ext uri="{BB962C8B-B14F-4D97-AF65-F5344CB8AC3E}">
        <p14:creationId xmlns:p14="http://schemas.microsoft.com/office/powerpoint/2010/main" xmlns="" val="387257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MECQ1203: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9</a:t>
            </a:fld>
            <a:endParaRPr lang="en-US"/>
          </a:p>
        </p:txBody>
      </p:sp>
      <p:sp>
        <p:nvSpPr>
          <p:cNvPr id="6" name="Rectangle 5"/>
          <p:cNvSpPr/>
          <p:nvPr/>
        </p:nvSpPr>
        <p:spPr>
          <a:xfrm>
            <a:off x="2469777" y="289657"/>
            <a:ext cx="5008935" cy="769441"/>
          </a:xfrm>
          <a:prstGeom prst="rect">
            <a:avLst/>
          </a:prstGeom>
        </p:spPr>
        <p:txBody>
          <a:bodyPr wrap="none">
            <a:spAutoFit/>
          </a:bodyPr>
          <a:lstStyle/>
          <a:p>
            <a:r>
              <a:rPr lang="en-GB" sz="4400" b="1" dirty="0">
                <a:solidFill>
                  <a:srgbClr val="FF0000"/>
                </a:solidFill>
              </a:rPr>
              <a:t>Activity 2.1 - Answer</a:t>
            </a:r>
            <a:endParaRPr lang="en-US" sz="4400" b="1" dirty="0">
              <a:solidFill>
                <a:srgbClr val="FF0000"/>
              </a:solidFill>
            </a:endParaRPr>
          </a:p>
        </p:txBody>
      </p:sp>
      <p:sp>
        <p:nvSpPr>
          <p:cNvPr id="7" name="Rectangle 6"/>
          <p:cNvSpPr/>
          <p:nvPr/>
        </p:nvSpPr>
        <p:spPr>
          <a:xfrm>
            <a:off x="339995" y="1555075"/>
            <a:ext cx="3470005" cy="3046988"/>
          </a:xfrm>
          <a:prstGeom prst="rect">
            <a:avLst/>
          </a:prstGeom>
        </p:spPr>
        <p:txBody>
          <a:bodyPr wrap="square">
            <a:spAutoFit/>
          </a:bodyPr>
          <a:lstStyle/>
          <a:p>
            <a:r>
              <a:rPr lang="en-GB" sz="2400" b="1" dirty="0"/>
              <a:t>Explanation</a:t>
            </a:r>
          </a:p>
          <a:p>
            <a:endParaRPr lang="en-GB" sz="2400" b="1" dirty="0"/>
          </a:p>
          <a:p>
            <a:pPr marL="457200" indent="-457200">
              <a:buAutoNum type="arabicPeriod"/>
            </a:pPr>
            <a:r>
              <a:rPr lang="en-US" sz="2400" dirty="0"/>
              <a:t>Syntax is usually associated with the </a:t>
            </a:r>
            <a:r>
              <a:rPr lang="en-US" sz="2400" dirty="0">
                <a:solidFill>
                  <a:srgbClr val="C00000"/>
                </a:solidFill>
              </a:rPr>
              <a:t>rules</a:t>
            </a:r>
            <a:r>
              <a:rPr lang="en-US" sz="2400" dirty="0"/>
              <a:t> or </a:t>
            </a:r>
            <a:r>
              <a:rPr lang="en-US" sz="2400" dirty="0">
                <a:solidFill>
                  <a:srgbClr val="C00000"/>
                </a:solidFill>
              </a:rPr>
              <a:t>grammar</a:t>
            </a:r>
            <a:endParaRPr lang="en-US" sz="2400" dirty="0"/>
          </a:p>
          <a:p>
            <a:pPr marL="457200" indent="-457200">
              <a:buAutoNum type="arabicPeriod"/>
            </a:pPr>
            <a:r>
              <a:rPr lang="en-US" sz="2400" dirty="0"/>
              <a:t>Semantic is concerned with its </a:t>
            </a:r>
            <a:r>
              <a:rPr lang="en-US" sz="2400" dirty="0">
                <a:solidFill>
                  <a:srgbClr val="C00000"/>
                </a:solidFill>
              </a:rPr>
              <a:t>meaning</a:t>
            </a:r>
            <a:r>
              <a:rPr lang="en-US" sz="2400" dirty="0"/>
              <a:t>.</a:t>
            </a:r>
          </a:p>
          <a:p>
            <a:pPr marL="457200" indent="-457200">
              <a:buAutoNum type="arabicPeriod"/>
            </a:pPr>
            <a:endParaRPr lang="en-GB" sz="2400" dirty="0"/>
          </a:p>
        </p:txBody>
      </p:sp>
      <p:sp>
        <p:nvSpPr>
          <p:cNvPr id="8" name="Rectangle 7"/>
          <p:cNvSpPr/>
          <p:nvPr/>
        </p:nvSpPr>
        <p:spPr>
          <a:xfrm>
            <a:off x="4267200" y="1555075"/>
            <a:ext cx="4572000" cy="4893647"/>
          </a:xfrm>
          <a:prstGeom prst="rect">
            <a:avLst/>
          </a:prstGeom>
        </p:spPr>
        <p:txBody>
          <a:bodyPr>
            <a:spAutoFit/>
          </a:bodyPr>
          <a:lstStyle/>
          <a:p>
            <a:r>
              <a:rPr lang="en-GB" sz="2400" b="1" dirty="0"/>
              <a:t>Question </a:t>
            </a:r>
          </a:p>
          <a:p>
            <a:pPr marL="457200" indent="-457200">
              <a:buAutoNum type="arabicPeriod"/>
            </a:pPr>
            <a:r>
              <a:rPr lang="en-GB" sz="2400" dirty="0"/>
              <a:t>My book is crying.</a:t>
            </a:r>
          </a:p>
          <a:p>
            <a:r>
              <a:rPr lang="en-GB" sz="2400" dirty="0"/>
              <a:t>       Syntax      : </a:t>
            </a:r>
            <a:r>
              <a:rPr lang="en-GB" sz="2400" b="1" dirty="0">
                <a:solidFill>
                  <a:srgbClr val="C00000"/>
                </a:solidFill>
              </a:rPr>
              <a:t>YES  </a:t>
            </a:r>
            <a:r>
              <a:rPr lang="en-GB" sz="2400" dirty="0"/>
              <a:t>           </a:t>
            </a:r>
          </a:p>
          <a:p>
            <a:r>
              <a:rPr lang="en-GB" sz="2400" dirty="0"/>
              <a:t>       Semantic : </a:t>
            </a:r>
            <a:r>
              <a:rPr lang="en-GB" sz="2400" b="1" dirty="0">
                <a:solidFill>
                  <a:srgbClr val="C00000"/>
                </a:solidFill>
              </a:rPr>
              <a:t>NO</a:t>
            </a:r>
          </a:p>
          <a:p>
            <a:endParaRPr lang="en-GB" sz="2400" dirty="0"/>
          </a:p>
          <a:p>
            <a:r>
              <a:rPr lang="en-GB" sz="2400" dirty="0"/>
              <a:t>2. UTM in </a:t>
            </a:r>
            <a:r>
              <a:rPr lang="en-GB" sz="2400" dirty="0" err="1"/>
              <a:t>Johore</a:t>
            </a:r>
            <a:r>
              <a:rPr lang="en-GB" sz="2400" dirty="0"/>
              <a:t>.</a:t>
            </a:r>
          </a:p>
          <a:p>
            <a:r>
              <a:rPr lang="en-GB" sz="2400" dirty="0"/>
              <a:t>       Syntax      :  </a:t>
            </a:r>
            <a:r>
              <a:rPr lang="en-GB" sz="2400" b="1" dirty="0">
                <a:solidFill>
                  <a:srgbClr val="C00000"/>
                </a:solidFill>
              </a:rPr>
              <a:t>NO</a:t>
            </a:r>
          </a:p>
          <a:p>
            <a:r>
              <a:rPr lang="en-GB" sz="2400" dirty="0"/>
              <a:t>       Semantic :  </a:t>
            </a:r>
            <a:r>
              <a:rPr lang="en-GB" sz="2400" b="1" dirty="0">
                <a:solidFill>
                  <a:srgbClr val="C00000"/>
                </a:solidFill>
              </a:rPr>
              <a:t>YES</a:t>
            </a:r>
          </a:p>
          <a:p>
            <a:endParaRPr lang="en-GB" sz="2400" dirty="0"/>
          </a:p>
          <a:p>
            <a:endParaRPr lang="en-GB" sz="2400" dirty="0"/>
          </a:p>
          <a:p>
            <a:endParaRPr lang="en-GB" sz="2400" dirty="0"/>
          </a:p>
          <a:p>
            <a:endParaRPr lang="en-GB" sz="2400" dirty="0"/>
          </a:p>
          <a:p>
            <a:endParaRPr lang="en-GB" sz="2400" dirty="0"/>
          </a:p>
        </p:txBody>
      </p:sp>
    </p:spTree>
    <p:extLst>
      <p:ext uri="{BB962C8B-B14F-4D97-AF65-F5344CB8AC3E}">
        <p14:creationId xmlns:p14="http://schemas.microsoft.com/office/powerpoint/2010/main" xmlns="" val="1055464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3"/>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85B05E0-D92B-43BE-A83C-6C03564DA8BA}" type="slidenum">
              <a:rPr lang="en-US"/>
              <a:pPr eaLnBrk="1" hangingPunct="1"/>
              <a:t>10</a:t>
            </a:fld>
            <a:endParaRPr lang="en-US"/>
          </a:p>
        </p:txBody>
      </p:sp>
      <p:sp>
        <p:nvSpPr>
          <p:cNvPr id="8195" name="Rectangle 4"/>
          <p:cNvSpPr>
            <a:spLocks noChangeArrowheads="1"/>
          </p:cNvSpPr>
          <p:nvPr/>
        </p:nvSpPr>
        <p:spPr bwMode="auto">
          <a:xfrm>
            <a:off x="1905000" y="14514"/>
            <a:ext cx="7086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sz="4200" b="1" dirty="0">
                <a:latin typeface="Times New Roman" panose="02020603050405020304" pitchFamily="18" charset="0"/>
              </a:rPr>
              <a:t>But.. what is knowledge?</a:t>
            </a:r>
            <a:endParaRPr lang="en-US" sz="4200" dirty="0">
              <a:latin typeface="Times New Roman" panose="02020603050405020304" pitchFamily="18" charset="0"/>
            </a:endParaRPr>
          </a:p>
        </p:txBody>
      </p:sp>
      <p:sp>
        <p:nvSpPr>
          <p:cNvPr id="8196" name="Rectangle 5"/>
          <p:cNvSpPr>
            <a:spLocks noChangeArrowheads="1"/>
          </p:cNvSpPr>
          <p:nvPr/>
        </p:nvSpPr>
        <p:spPr bwMode="auto">
          <a:xfrm>
            <a:off x="914400" y="1600200"/>
            <a:ext cx="77724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chemeClr val="tx1"/>
              </a:buClr>
              <a:buSzPct val="90000"/>
              <a:buFont typeface="Wingdings" panose="05000000000000000000" pitchFamily="2" charset="2"/>
              <a:buBlip>
                <a:blip r:embed="rId2"/>
              </a:buBlip>
            </a:pPr>
            <a:r>
              <a:rPr lang="en-US" sz="2800" dirty="0"/>
              <a:t>Rules?</a:t>
            </a:r>
          </a:p>
          <a:p>
            <a:pPr lvl="1" eaLnBrk="1" hangingPunct="1">
              <a:spcBef>
                <a:spcPct val="20000"/>
              </a:spcBef>
              <a:buClr>
                <a:schemeClr val="accent1"/>
              </a:buClr>
              <a:buSzPct val="75000"/>
              <a:buFont typeface="Wingdings" panose="05000000000000000000" pitchFamily="2" charset="2"/>
              <a:buBlip>
                <a:blip r:embed="rId3"/>
              </a:buBlip>
            </a:pPr>
            <a:r>
              <a:rPr lang="en-US" sz="2600" dirty="0"/>
              <a:t>Production systems</a:t>
            </a:r>
          </a:p>
          <a:p>
            <a:pPr eaLnBrk="1" hangingPunct="1">
              <a:spcBef>
                <a:spcPct val="20000"/>
              </a:spcBef>
              <a:buClr>
                <a:schemeClr val="tx1"/>
              </a:buClr>
              <a:buSzPct val="90000"/>
              <a:buFont typeface="Wingdings" panose="05000000000000000000" pitchFamily="2" charset="2"/>
              <a:buBlip>
                <a:blip r:embed="rId2"/>
              </a:buBlip>
            </a:pPr>
            <a:r>
              <a:rPr lang="en-US" sz="2800" dirty="0"/>
              <a:t>Classification?</a:t>
            </a:r>
          </a:p>
          <a:p>
            <a:pPr lvl="1" eaLnBrk="1" hangingPunct="1">
              <a:spcBef>
                <a:spcPct val="20000"/>
              </a:spcBef>
              <a:buClr>
                <a:schemeClr val="accent1"/>
              </a:buClr>
              <a:buSzPct val="75000"/>
              <a:buFont typeface="Wingdings" panose="05000000000000000000" pitchFamily="2" charset="2"/>
              <a:buBlip>
                <a:blip r:embed="rId3"/>
              </a:buBlip>
            </a:pPr>
            <a:r>
              <a:rPr lang="en-US" sz="2600" dirty="0"/>
              <a:t>Semantic networks</a:t>
            </a:r>
          </a:p>
          <a:p>
            <a:pPr eaLnBrk="1" hangingPunct="1">
              <a:spcBef>
                <a:spcPct val="20000"/>
              </a:spcBef>
              <a:buClr>
                <a:schemeClr val="tx1"/>
              </a:buClr>
              <a:buSzPct val="90000"/>
              <a:buFont typeface="Wingdings" panose="05000000000000000000" pitchFamily="2" charset="2"/>
              <a:buBlip>
                <a:blip r:embed="rId2"/>
              </a:buBlip>
            </a:pPr>
            <a:r>
              <a:rPr lang="en-US" sz="2800" dirty="0"/>
              <a:t>Structure?</a:t>
            </a:r>
          </a:p>
          <a:p>
            <a:pPr lvl="1" eaLnBrk="1" hangingPunct="1">
              <a:spcBef>
                <a:spcPct val="20000"/>
              </a:spcBef>
              <a:buClr>
                <a:schemeClr val="accent1"/>
              </a:buClr>
              <a:buSzPct val="75000"/>
              <a:buFont typeface="Wingdings" panose="05000000000000000000" pitchFamily="2" charset="2"/>
              <a:buBlip>
                <a:blip r:embed="rId3"/>
              </a:buBlip>
            </a:pPr>
            <a:r>
              <a:rPr lang="en-US" sz="2600" dirty="0"/>
              <a:t>Frames</a:t>
            </a:r>
          </a:p>
          <a:p>
            <a:pPr eaLnBrk="1" hangingPunct="1">
              <a:spcBef>
                <a:spcPct val="20000"/>
              </a:spcBef>
              <a:buClr>
                <a:schemeClr val="tx1"/>
              </a:buClr>
              <a:buSzPct val="90000"/>
              <a:buFont typeface="Wingdings" panose="05000000000000000000" pitchFamily="2" charset="2"/>
              <a:buBlip>
                <a:blip r:embed="rId2"/>
              </a:buBlip>
            </a:pPr>
            <a:r>
              <a:rPr lang="en-US" sz="2800" dirty="0" err="1"/>
              <a:t>Idealised</a:t>
            </a:r>
            <a:r>
              <a:rPr lang="en-US" sz="2800" dirty="0"/>
              <a:t> and </a:t>
            </a:r>
            <a:r>
              <a:rPr lang="en-US" sz="2800" dirty="0" err="1"/>
              <a:t>formalised</a:t>
            </a:r>
            <a:r>
              <a:rPr lang="en-US" sz="2800" dirty="0"/>
              <a:t> knowledge?</a:t>
            </a:r>
          </a:p>
          <a:p>
            <a:pPr lvl="1" eaLnBrk="1" hangingPunct="1">
              <a:spcBef>
                <a:spcPct val="20000"/>
              </a:spcBef>
              <a:buClr>
                <a:schemeClr val="accent1"/>
              </a:buClr>
              <a:buSzPct val="75000"/>
              <a:buFont typeface="Wingdings" panose="05000000000000000000" pitchFamily="2" charset="2"/>
              <a:buBlip>
                <a:blip r:embed="rId3"/>
              </a:buBlip>
            </a:pPr>
            <a:r>
              <a:rPr lang="en-US" sz="2600" dirty="0"/>
              <a:t>Logic</a:t>
            </a:r>
          </a:p>
        </p:txBody>
      </p:sp>
    </p:spTree>
    <p:extLst>
      <p:ext uri="{BB962C8B-B14F-4D97-AF65-F5344CB8AC3E}">
        <p14:creationId xmlns:p14="http://schemas.microsoft.com/office/powerpoint/2010/main" xmlns="" val="2222532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2E5F67E-6523-409E-94FA-74F66B1ABE49}" type="slidenum">
              <a:rPr lang="en-US"/>
              <a:pPr eaLnBrk="1" hangingPunct="1"/>
              <a:t>11</a:t>
            </a:fld>
            <a:endParaRPr lang="en-US"/>
          </a:p>
        </p:txBody>
      </p:sp>
      <p:sp>
        <p:nvSpPr>
          <p:cNvPr id="9219" name="Rectangle 4"/>
          <p:cNvSpPr>
            <a:spLocks noChangeArrowheads="1"/>
          </p:cNvSpPr>
          <p:nvPr/>
        </p:nvSpPr>
        <p:spPr bwMode="auto">
          <a:xfrm>
            <a:off x="1397000" y="304800"/>
            <a:ext cx="7772400" cy="1219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b"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4000" b="1" dirty="0">
                <a:latin typeface="Times New Roman" panose="02020603050405020304" pitchFamily="18" charset="0"/>
              </a:rPr>
              <a:t>Why need representation?</a:t>
            </a:r>
            <a:r>
              <a:rPr lang="en-US" sz="3600" b="1" dirty="0">
                <a:latin typeface="Times New Roman" panose="02020603050405020304" pitchFamily="18" charset="0"/>
              </a:rPr>
              <a:t/>
            </a:r>
            <a:br>
              <a:rPr lang="en-US" sz="3600" b="1" dirty="0">
                <a:latin typeface="Times New Roman" panose="02020603050405020304" pitchFamily="18" charset="0"/>
              </a:rPr>
            </a:br>
            <a:endParaRPr lang="en-US" sz="3600" b="1" dirty="0">
              <a:latin typeface="Times New Roman" panose="02020603050405020304" pitchFamily="18" charset="0"/>
            </a:endParaRPr>
          </a:p>
        </p:txBody>
      </p:sp>
      <p:sp>
        <p:nvSpPr>
          <p:cNvPr id="9220" name="Rectangle 5"/>
          <p:cNvSpPr>
            <a:spLocks noChangeArrowheads="1"/>
          </p:cNvSpPr>
          <p:nvPr/>
        </p:nvSpPr>
        <p:spPr bwMode="auto">
          <a:xfrm>
            <a:off x="914400" y="1752600"/>
            <a:ext cx="7010400" cy="4724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609600" indent="-6096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chemeClr val="folHlink"/>
              </a:buClr>
              <a:buSzPct val="90000"/>
              <a:buFont typeface="Wingdings" panose="05000000000000000000" pitchFamily="2" charset="2"/>
              <a:buNone/>
            </a:pPr>
            <a:r>
              <a:rPr lang="en-US" sz="2400" dirty="0"/>
              <a:t>-capture important features of a problem</a:t>
            </a:r>
          </a:p>
          <a:p>
            <a:pPr eaLnBrk="1" hangingPunct="1">
              <a:spcBef>
                <a:spcPct val="20000"/>
              </a:spcBef>
              <a:buClr>
                <a:schemeClr val="folHlink"/>
              </a:buClr>
              <a:buSzPct val="90000"/>
              <a:buFont typeface="Wingdings" panose="05000000000000000000" pitchFamily="2" charset="2"/>
              <a:buNone/>
            </a:pPr>
            <a:r>
              <a:rPr lang="en-US" sz="2400" dirty="0"/>
              <a:t>-make information accessible to problem solving procedure</a:t>
            </a:r>
          </a:p>
          <a:p>
            <a:pPr eaLnBrk="1" hangingPunct="1">
              <a:spcBef>
                <a:spcPct val="20000"/>
              </a:spcBef>
              <a:buClr>
                <a:schemeClr val="folHlink"/>
              </a:buClr>
              <a:buSzPct val="90000"/>
              <a:buFont typeface="Wingdings" panose="05000000000000000000" pitchFamily="2" charset="2"/>
              <a:buNone/>
            </a:pPr>
            <a:r>
              <a:rPr lang="en-US" sz="2400" dirty="0"/>
              <a:t>-abstraction</a:t>
            </a:r>
          </a:p>
          <a:p>
            <a:pPr eaLnBrk="1" hangingPunct="1">
              <a:spcBef>
                <a:spcPct val="20000"/>
              </a:spcBef>
              <a:buClr>
                <a:schemeClr val="folHlink"/>
              </a:buClr>
              <a:buSzPct val="90000"/>
              <a:buFont typeface="Wingdings" panose="05000000000000000000" pitchFamily="2" charset="2"/>
              <a:buNone/>
            </a:pPr>
            <a:r>
              <a:rPr lang="en-US" sz="2400" dirty="0"/>
              <a:t>e.g. </a:t>
            </a:r>
          </a:p>
          <a:p>
            <a:pPr eaLnBrk="1" hangingPunct="1">
              <a:spcBef>
                <a:spcPct val="20000"/>
              </a:spcBef>
              <a:buClr>
                <a:schemeClr val="folHlink"/>
              </a:buClr>
              <a:buSzPct val="90000"/>
              <a:buFont typeface="Wingdings" panose="05000000000000000000" pitchFamily="2" charset="2"/>
              <a:buNone/>
            </a:pPr>
            <a:r>
              <a:rPr lang="en-US" sz="2400" dirty="0"/>
              <a:t>The real number: 	</a:t>
            </a:r>
            <a:r>
              <a:rPr lang="en-US" sz="2400" dirty="0">
                <a:latin typeface="Symbol" panose="05050102010706020507" pitchFamily="18" charset="2"/>
              </a:rPr>
              <a:t>p</a:t>
            </a:r>
          </a:p>
          <a:p>
            <a:pPr eaLnBrk="1" hangingPunct="1">
              <a:spcBef>
                <a:spcPct val="20000"/>
              </a:spcBef>
              <a:buClr>
                <a:schemeClr val="folHlink"/>
              </a:buClr>
              <a:buSzPct val="90000"/>
              <a:buFont typeface="Wingdings" panose="05000000000000000000" pitchFamily="2" charset="2"/>
              <a:buNone/>
            </a:pPr>
            <a:r>
              <a:rPr lang="en-US" sz="2400" dirty="0"/>
              <a:t>Decimal : 			3.1415927….</a:t>
            </a:r>
          </a:p>
          <a:p>
            <a:pPr eaLnBrk="1" hangingPunct="1">
              <a:spcBef>
                <a:spcPct val="20000"/>
              </a:spcBef>
              <a:buClr>
                <a:schemeClr val="folHlink"/>
              </a:buClr>
              <a:buSzPct val="90000"/>
              <a:buFont typeface="Wingdings" panose="05000000000000000000" pitchFamily="2" charset="2"/>
              <a:buNone/>
            </a:pPr>
            <a:r>
              <a:rPr lang="en-US" sz="2400" dirty="0"/>
              <a:t>Floating point :           31416	     1</a:t>
            </a:r>
          </a:p>
          <a:p>
            <a:pPr eaLnBrk="1" hangingPunct="1">
              <a:spcBef>
                <a:spcPct val="20000"/>
              </a:spcBef>
              <a:buClr>
                <a:schemeClr val="folHlink"/>
              </a:buClr>
              <a:buSzPct val="90000"/>
              <a:buFont typeface="Wingdings" panose="05000000000000000000" pitchFamily="2" charset="2"/>
              <a:buNone/>
            </a:pPr>
            <a:r>
              <a:rPr lang="en-US" sz="2400" dirty="0"/>
              <a:t>				</a:t>
            </a:r>
          </a:p>
          <a:p>
            <a:pPr eaLnBrk="1" hangingPunct="1">
              <a:spcBef>
                <a:spcPct val="20000"/>
              </a:spcBef>
              <a:buClr>
                <a:schemeClr val="folHlink"/>
              </a:buClr>
              <a:buSzPct val="90000"/>
              <a:buFont typeface="Wingdings" panose="05000000000000000000" pitchFamily="2" charset="2"/>
              <a:buNone/>
            </a:pPr>
            <a:r>
              <a:rPr lang="en-US" sz="2400" dirty="0"/>
              <a:t>				mantissa 	exponent</a:t>
            </a:r>
          </a:p>
          <a:p>
            <a:pPr eaLnBrk="1" hangingPunct="1">
              <a:spcBef>
                <a:spcPct val="20000"/>
              </a:spcBef>
              <a:buClr>
                <a:schemeClr val="folHlink"/>
              </a:buClr>
              <a:buSzPct val="90000"/>
              <a:buFont typeface="Wingdings" panose="05000000000000000000" pitchFamily="2" charset="2"/>
              <a:buNone/>
            </a:pPr>
            <a:r>
              <a:rPr lang="en-US" sz="2400" dirty="0"/>
              <a:t>Computer memory: 	11100010</a:t>
            </a:r>
            <a:r>
              <a:rPr lang="en-US" sz="2800" dirty="0"/>
              <a:t> </a:t>
            </a:r>
          </a:p>
        </p:txBody>
      </p:sp>
      <p:sp>
        <p:nvSpPr>
          <p:cNvPr id="9221" name="Rectangle 6"/>
          <p:cNvSpPr>
            <a:spLocks noChangeArrowheads="1"/>
          </p:cNvSpPr>
          <p:nvPr/>
        </p:nvSpPr>
        <p:spPr bwMode="auto">
          <a:xfrm>
            <a:off x="3962400" y="4800600"/>
            <a:ext cx="2362200" cy="4572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9222" name="Line 7"/>
          <p:cNvSpPr>
            <a:spLocks noChangeShapeType="1"/>
          </p:cNvSpPr>
          <p:nvPr/>
        </p:nvSpPr>
        <p:spPr bwMode="auto">
          <a:xfrm flipV="1">
            <a:off x="5410200" y="4800600"/>
            <a:ext cx="0" cy="4572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9223" name="Line 8"/>
          <p:cNvSpPr>
            <a:spLocks noChangeShapeType="1"/>
          </p:cNvSpPr>
          <p:nvPr/>
        </p:nvSpPr>
        <p:spPr bwMode="auto">
          <a:xfrm flipV="1">
            <a:off x="4343400" y="5257800"/>
            <a:ext cx="2286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9224" name="Line 9"/>
          <p:cNvSpPr>
            <a:spLocks noChangeShapeType="1"/>
          </p:cNvSpPr>
          <p:nvPr/>
        </p:nvSpPr>
        <p:spPr bwMode="auto">
          <a:xfrm flipH="1" flipV="1">
            <a:off x="6248400" y="5257800"/>
            <a:ext cx="762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Tree>
    <p:extLst>
      <p:ext uri="{BB962C8B-B14F-4D97-AF65-F5344CB8AC3E}">
        <p14:creationId xmlns:p14="http://schemas.microsoft.com/office/powerpoint/2010/main" xmlns="" val="1090389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3"/>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0E6D639-CFD3-4FA9-9256-4DE31DBBE285}" type="slidenum">
              <a:rPr lang="en-US"/>
              <a:pPr eaLnBrk="1" hangingPunct="1"/>
              <a:t>12</a:t>
            </a:fld>
            <a:endParaRPr lang="en-US"/>
          </a:p>
        </p:txBody>
      </p:sp>
      <p:sp>
        <p:nvSpPr>
          <p:cNvPr id="10243" name="Rectangle 4"/>
          <p:cNvSpPr>
            <a:spLocks noChangeArrowheads="1"/>
          </p:cNvSpPr>
          <p:nvPr/>
        </p:nvSpPr>
        <p:spPr bwMode="auto">
          <a:xfrm>
            <a:off x="1219200" y="304800"/>
            <a:ext cx="7772400" cy="762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b"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sz="4400" b="1" dirty="0">
                <a:latin typeface="Times New Roman" panose="02020603050405020304" pitchFamily="18" charset="0"/>
              </a:rPr>
              <a:t>AI as representation </a:t>
            </a:r>
          </a:p>
        </p:txBody>
      </p:sp>
      <p:sp>
        <p:nvSpPr>
          <p:cNvPr id="10244" name="Rectangle 5"/>
          <p:cNvSpPr>
            <a:spLocks noChangeArrowheads="1"/>
          </p:cNvSpPr>
          <p:nvPr/>
        </p:nvSpPr>
        <p:spPr bwMode="auto">
          <a:xfrm>
            <a:off x="609600" y="1371600"/>
            <a:ext cx="8001000" cy="5029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609600" indent="-6096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20000"/>
              </a:spcBef>
              <a:buClr>
                <a:schemeClr val="folHlink"/>
              </a:buClr>
              <a:buSzPct val="90000"/>
              <a:buFont typeface="Wingdings" panose="05000000000000000000" pitchFamily="2" charset="2"/>
              <a:buNone/>
            </a:pPr>
            <a:endParaRPr lang="en-US" sz="2800"/>
          </a:p>
          <a:p>
            <a:pPr eaLnBrk="1" hangingPunct="1">
              <a:spcBef>
                <a:spcPct val="20000"/>
              </a:spcBef>
              <a:buClr>
                <a:schemeClr val="folHlink"/>
              </a:buClr>
              <a:buSzPct val="90000"/>
              <a:buFont typeface="Wingdings" panose="05000000000000000000" pitchFamily="2" charset="2"/>
              <a:buNone/>
            </a:pPr>
            <a:r>
              <a:rPr lang="en-US" sz="2800"/>
              <a:t>A representational scheme should:</a:t>
            </a:r>
          </a:p>
          <a:p>
            <a:pPr eaLnBrk="1" hangingPunct="1">
              <a:spcBef>
                <a:spcPct val="20000"/>
              </a:spcBef>
              <a:buClr>
                <a:schemeClr val="folHlink"/>
              </a:buClr>
              <a:buSzPct val="90000"/>
              <a:buFontTx/>
              <a:buAutoNum type="arabicPeriod"/>
            </a:pPr>
            <a:r>
              <a:rPr lang="en-US" sz="2800"/>
              <a:t>Be adequate to express all of the necessary information</a:t>
            </a:r>
          </a:p>
          <a:p>
            <a:pPr eaLnBrk="1" hangingPunct="1">
              <a:spcBef>
                <a:spcPct val="20000"/>
              </a:spcBef>
              <a:buClr>
                <a:schemeClr val="folHlink"/>
              </a:buClr>
              <a:buSzPct val="90000"/>
              <a:buFontTx/>
              <a:buAutoNum type="arabicPeriod"/>
            </a:pPr>
            <a:r>
              <a:rPr lang="en-US" sz="2800"/>
              <a:t>Support efficient execution of the resulting code</a:t>
            </a:r>
          </a:p>
          <a:p>
            <a:pPr eaLnBrk="1" hangingPunct="1">
              <a:spcBef>
                <a:spcPct val="20000"/>
              </a:spcBef>
              <a:buClr>
                <a:schemeClr val="folHlink"/>
              </a:buClr>
              <a:buSzPct val="90000"/>
              <a:buFontTx/>
              <a:buAutoNum type="arabicPeriod"/>
            </a:pPr>
            <a:r>
              <a:rPr lang="en-US" sz="2800"/>
              <a:t>Provide a natural scheme for expressing the required knowledge</a:t>
            </a:r>
          </a:p>
        </p:txBody>
      </p:sp>
    </p:spTree>
    <p:extLst>
      <p:ext uri="{BB962C8B-B14F-4D97-AF65-F5344CB8AC3E}">
        <p14:creationId xmlns:p14="http://schemas.microsoft.com/office/powerpoint/2010/main" xmlns="" val="1514142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65A2D3E-3CEB-4328-B0DF-F73474F0FE63}" type="slidenum">
              <a:rPr lang="en-US"/>
              <a:pPr eaLnBrk="1" hangingPunct="1"/>
              <a:t>13</a:t>
            </a:fld>
            <a:endParaRPr lang="en-US"/>
          </a:p>
        </p:txBody>
      </p:sp>
      <p:sp>
        <p:nvSpPr>
          <p:cNvPr id="11267" name="Rectangle 4"/>
          <p:cNvSpPr>
            <a:spLocks noChangeArrowheads="1"/>
          </p:cNvSpPr>
          <p:nvPr/>
        </p:nvSpPr>
        <p:spPr bwMode="auto">
          <a:xfrm>
            <a:off x="1371600" y="76200"/>
            <a:ext cx="7772400" cy="990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b"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sz="4800" b="1" dirty="0">
                <a:solidFill>
                  <a:srgbClr val="0066FF"/>
                </a:solidFill>
                <a:latin typeface="Times New Roman" panose="02020603050405020304" pitchFamily="18" charset="0"/>
              </a:rPr>
              <a:t>AI as representation</a:t>
            </a:r>
          </a:p>
        </p:txBody>
      </p:sp>
      <p:sp>
        <p:nvSpPr>
          <p:cNvPr id="11268" name="Rectangle 5"/>
          <p:cNvSpPr>
            <a:spLocks noChangeArrowheads="1"/>
          </p:cNvSpPr>
          <p:nvPr/>
        </p:nvSpPr>
        <p:spPr bwMode="auto">
          <a:xfrm>
            <a:off x="838200" y="1828800"/>
            <a:ext cx="8001000" cy="5029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609600" indent="-6096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spcBef>
                <a:spcPct val="20000"/>
              </a:spcBef>
              <a:buClr>
                <a:schemeClr val="folHlink"/>
              </a:buClr>
              <a:buSzPct val="90000"/>
              <a:buFont typeface="Wingdings" panose="05000000000000000000" pitchFamily="2" charset="2"/>
              <a:buNone/>
            </a:pPr>
            <a:r>
              <a:rPr lang="en-US" sz="2400" dirty="0"/>
              <a:t>To support all these needs, AI representation language must:</a:t>
            </a:r>
          </a:p>
          <a:p>
            <a:pPr eaLnBrk="1" hangingPunct="1">
              <a:spcBef>
                <a:spcPct val="20000"/>
              </a:spcBef>
              <a:buClr>
                <a:schemeClr val="folHlink"/>
              </a:buClr>
              <a:buSzPct val="90000"/>
              <a:buFontTx/>
              <a:buAutoNum type="arabicPeriod"/>
            </a:pPr>
            <a:r>
              <a:rPr lang="en-US" sz="2400" dirty="0"/>
              <a:t>Handle qualitative knowledge-(reasoning) </a:t>
            </a:r>
            <a:r>
              <a:rPr lang="en-US" sz="2400" dirty="0">
                <a:solidFill>
                  <a:srgbClr val="FF0000"/>
                </a:solidFill>
              </a:rPr>
              <a:t>spatial</a:t>
            </a:r>
          </a:p>
          <a:p>
            <a:pPr eaLnBrk="1" hangingPunct="1">
              <a:spcBef>
                <a:spcPct val="20000"/>
              </a:spcBef>
              <a:buClr>
                <a:schemeClr val="folHlink"/>
              </a:buClr>
              <a:buSzPct val="90000"/>
            </a:pPr>
            <a:r>
              <a:rPr lang="en-US" sz="2400" dirty="0"/>
              <a:t>				c</a:t>
            </a:r>
          </a:p>
          <a:p>
            <a:pPr eaLnBrk="1" hangingPunct="1">
              <a:spcBef>
                <a:spcPct val="20000"/>
              </a:spcBef>
              <a:buClr>
                <a:schemeClr val="folHlink"/>
              </a:buClr>
              <a:buSzPct val="90000"/>
            </a:pPr>
            <a:r>
              <a:rPr lang="en-US" sz="2400" dirty="0"/>
              <a:t>			a	b</a:t>
            </a:r>
          </a:p>
          <a:p>
            <a:pPr eaLnBrk="1" hangingPunct="1">
              <a:spcBef>
                <a:spcPct val="20000"/>
              </a:spcBef>
              <a:buClr>
                <a:schemeClr val="folHlink"/>
              </a:buClr>
              <a:buSzPct val="90000"/>
            </a:pPr>
            <a:r>
              <a:rPr lang="en-US" sz="2400" dirty="0"/>
              <a:t>		</a:t>
            </a:r>
          </a:p>
          <a:p>
            <a:pPr eaLnBrk="1" hangingPunct="1">
              <a:spcBef>
                <a:spcPct val="20000"/>
              </a:spcBef>
              <a:buClr>
                <a:schemeClr val="folHlink"/>
              </a:buClr>
              <a:buSzPct val="90000"/>
            </a:pPr>
            <a:r>
              <a:rPr lang="en-US" sz="2400" dirty="0"/>
              <a:t>		clear(c),clear(a), </a:t>
            </a:r>
            <a:r>
              <a:rPr lang="en-US" sz="2400" dirty="0" err="1"/>
              <a:t>ontable</a:t>
            </a:r>
            <a:r>
              <a:rPr lang="en-US" sz="2400" dirty="0"/>
              <a:t>(a), </a:t>
            </a:r>
            <a:r>
              <a:rPr lang="en-US" sz="2400" dirty="0" err="1"/>
              <a:t>ontable</a:t>
            </a:r>
            <a:r>
              <a:rPr lang="en-US" sz="2400" dirty="0"/>
              <a:t>(b)</a:t>
            </a:r>
          </a:p>
          <a:p>
            <a:pPr eaLnBrk="1" hangingPunct="1">
              <a:spcBef>
                <a:spcPct val="20000"/>
              </a:spcBef>
              <a:buClr>
                <a:schemeClr val="folHlink"/>
              </a:buClr>
              <a:buSzPct val="90000"/>
            </a:pPr>
            <a:r>
              <a:rPr lang="en-US" sz="2400" dirty="0"/>
              <a:t>		on(</a:t>
            </a:r>
            <a:r>
              <a:rPr lang="en-US" sz="2400" dirty="0" err="1"/>
              <a:t>c,b</a:t>
            </a:r>
            <a:r>
              <a:rPr lang="en-US" sz="2400" dirty="0"/>
              <a:t>), cube(a), cube(b), pyramid(c)</a:t>
            </a:r>
          </a:p>
          <a:p>
            <a:pPr eaLnBrk="1" hangingPunct="1">
              <a:spcBef>
                <a:spcPct val="20000"/>
              </a:spcBef>
              <a:buClr>
                <a:schemeClr val="folHlink"/>
              </a:buClr>
              <a:buSzPct val="90000"/>
            </a:pPr>
            <a:endParaRPr lang="en-US" sz="2400" dirty="0"/>
          </a:p>
          <a:p>
            <a:pPr eaLnBrk="1" hangingPunct="1">
              <a:spcBef>
                <a:spcPct val="20000"/>
              </a:spcBef>
              <a:buClr>
                <a:schemeClr val="folHlink"/>
              </a:buClr>
              <a:buSzPct val="90000"/>
            </a:pPr>
            <a:r>
              <a:rPr lang="en-US" sz="2400" dirty="0"/>
              <a:t>Predicates : clear, </a:t>
            </a:r>
            <a:r>
              <a:rPr lang="en-US" sz="2400" dirty="0" err="1"/>
              <a:t>ontable</a:t>
            </a:r>
            <a:r>
              <a:rPr lang="en-US" sz="2400" dirty="0"/>
              <a:t>, on, cube, pyramid</a:t>
            </a:r>
          </a:p>
        </p:txBody>
      </p:sp>
      <p:sp>
        <p:nvSpPr>
          <p:cNvPr id="11269" name="Rectangle 6"/>
          <p:cNvSpPr>
            <a:spLocks noChangeArrowheads="1"/>
          </p:cNvSpPr>
          <p:nvPr/>
        </p:nvSpPr>
        <p:spPr bwMode="auto">
          <a:xfrm>
            <a:off x="2362200" y="3276600"/>
            <a:ext cx="533400" cy="4572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sp>
        <p:nvSpPr>
          <p:cNvPr id="11270" name="Rectangle 7"/>
          <p:cNvSpPr>
            <a:spLocks noChangeArrowheads="1"/>
          </p:cNvSpPr>
          <p:nvPr/>
        </p:nvSpPr>
        <p:spPr bwMode="auto">
          <a:xfrm>
            <a:off x="3276600" y="3276600"/>
            <a:ext cx="533400" cy="4572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p>
        </p:txBody>
      </p:sp>
      <p:grpSp>
        <p:nvGrpSpPr>
          <p:cNvPr id="11271" name="Group 8"/>
          <p:cNvGrpSpPr>
            <a:grpSpLocks/>
          </p:cNvGrpSpPr>
          <p:nvPr/>
        </p:nvGrpSpPr>
        <p:grpSpPr bwMode="auto">
          <a:xfrm>
            <a:off x="3276600" y="2895600"/>
            <a:ext cx="609600" cy="304800"/>
            <a:chOff x="1248" y="2784"/>
            <a:chExt cx="384" cy="192"/>
          </a:xfrm>
        </p:grpSpPr>
        <p:sp>
          <p:nvSpPr>
            <p:cNvPr id="11273" name="Line 9"/>
            <p:cNvSpPr>
              <a:spLocks noChangeShapeType="1"/>
            </p:cNvSpPr>
            <p:nvPr/>
          </p:nvSpPr>
          <p:spPr bwMode="auto">
            <a:xfrm flipH="1">
              <a:off x="1248" y="2784"/>
              <a:ext cx="192" cy="19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274" name="Line 10"/>
            <p:cNvSpPr>
              <a:spLocks noChangeShapeType="1"/>
            </p:cNvSpPr>
            <p:nvPr/>
          </p:nvSpPr>
          <p:spPr bwMode="auto">
            <a:xfrm>
              <a:off x="1440" y="2784"/>
              <a:ext cx="192" cy="192"/>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11275" name="Line 11"/>
            <p:cNvSpPr>
              <a:spLocks noChangeShapeType="1"/>
            </p:cNvSpPr>
            <p:nvPr/>
          </p:nvSpPr>
          <p:spPr bwMode="auto">
            <a:xfrm>
              <a:off x="1248" y="2976"/>
              <a:ext cx="384"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grpSp>
      <p:sp>
        <p:nvSpPr>
          <p:cNvPr id="11272" name="Line 12"/>
          <p:cNvSpPr>
            <a:spLocks noChangeShapeType="1"/>
          </p:cNvSpPr>
          <p:nvPr/>
        </p:nvSpPr>
        <p:spPr bwMode="auto">
          <a:xfrm>
            <a:off x="2057400" y="3733800"/>
            <a:ext cx="2133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Tree>
    <p:extLst>
      <p:ext uri="{BB962C8B-B14F-4D97-AF65-F5344CB8AC3E}">
        <p14:creationId xmlns:p14="http://schemas.microsoft.com/office/powerpoint/2010/main" xmlns="" val="98500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3"/>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71A83B1-A998-4B5A-9775-5F4464983AAC}" type="slidenum">
              <a:rPr lang="en-US"/>
              <a:pPr eaLnBrk="1" hangingPunct="1"/>
              <a:t>14</a:t>
            </a:fld>
            <a:endParaRPr lang="en-US"/>
          </a:p>
        </p:txBody>
      </p:sp>
      <p:sp>
        <p:nvSpPr>
          <p:cNvPr id="12291" name="Rectangle 4"/>
          <p:cNvSpPr>
            <a:spLocks noChangeArrowheads="1"/>
          </p:cNvSpPr>
          <p:nvPr/>
        </p:nvSpPr>
        <p:spPr bwMode="auto">
          <a:xfrm>
            <a:off x="914400" y="1752600"/>
            <a:ext cx="7848600" cy="5257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609600" indent="-6096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80000"/>
              </a:lnSpc>
              <a:spcBef>
                <a:spcPct val="20000"/>
              </a:spcBef>
              <a:buClr>
                <a:schemeClr val="folHlink"/>
              </a:buClr>
              <a:buSzPct val="90000"/>
              <a:buFont typeface="Wingdings" panose="05000000000000000000" pitchFamily="2" charset="2"/>
              <a:buNone/>
            </a:pPr>
            <a:r>
              <a:rPr lang="en-US" sz="2000"/>
              <a:t>2. Allow new knowledge to be inferred from set of facts and rules</a:t>
            </a:r>
          </a:p>
          <a:p>
            <a:pPr eaLnBrk="1" hangingPunct="1">
              <a:lnSpc>
                <a:spcPct val="80000"/>
              </a:lnSpc>
              <a:spcBef>
                <a:spcPct val="20000"/>
              </a:spcBef>
              <a:buClr>
                <a:schemeClr val="folHlink"/>
              </a:buClr>
              <a:buSzPct val="90000"/>
              <a:buFont typeface="Wingdings" panose="05000000000000000000" pitchFamily="2" charset="2"/>
              <a:buNone/>
            </a:pPr>
            <a:r>
              <a:rPr lang="en-US" sz="2000"/>
              <a:t>			 </a:t>
            </a:r>
            <a:r>
              <a:rPr lang="en-US" sz="2000" i="1">
                <a:sym typeface="Symbol" panose="05050102010706020507" pitchFamily="18" charset="2"/>
              </a:rPr>
              <a:t></a:t>
            </a:r>
            <a:r>
              <a:rPr lang="en-US" sz="2000"/>
              <a:t> X </a:t>
            </a:r>
            <a:r>
              <a:rPr lang="en-US" sz="2000">
                <a:sym typeface="Symbol" panose="05050102010706020507" pitchFamily="18" charset="2"/>
              </a:rPr>
              <a:t></a:t>
            </a:r>
            <a:r>
              <a:rPr lang="en-US" sz="2000"/>
              <a:t> </a:t>
            </a:r>
            <a:r>
              <a:rPr lang="en-US" sz="2000">
                <a:latin typeface="Symbol" panose="05050102010706020507" pitchFamily="18" charset="2"/>
              </a:rPr>
              <a:t>$</a:t>
            </a:r>
            <a:r>
              <a:rPr lang="en-US" sz="2000"/>
              <a:t>Y on(X,Y) </a:t>
            </a:r>
            <a:r>
              <a:rPr lang="en-US" sz="2000">
                <a:sym typeface="Wingdings" panose="05000000000000000000" pitchFamily="2" charset="2"/>
              </a:rPr>
              <a:t> clear (X)</a:t>
            </a:r>
          </a:p>
          <a:p>
            <a:pPr eaLnBrk="1" hangingPunct="1">
              <a:lnSpc>
                <a:spcPct val="80000"/>
              </a:lnSpc>
              <a:spcBef>
                <a:spcPct val="20000"/>
              </a:spcBef>
              <a:buClr>
                <a:schemeClr val="folHlink"/>
              </a:buClr>
              <a:buSzPct val="90000"/>
              <a:buFont typeface="Wingdings" panose="05000000000000000000" pitchFamily="2" charset="2"/>
              <a:buNone/>
            </a:pPr>
            <a:endParaRPr lang="en-US" sz="2000">
              <a:sym typeface="Wingdings" panose="05000000000000000000" pitchFamily="2" charset="2"/>
            </a:endParaRPr>
          </a:p>
          <a:p>
            <a:pPr eaLnBrk="1" hangingPunct="1">
              <a:lnSpc>
                <a:spcPct val="80000"/>
              </a:lnSpc>
              <a:spcBef>
                <a:spcPct val="20000"/>
              </a:spcBef>
              <a:buClr>
                <a:schemeClr val="folHlink"/>
              </a:buClr>
              <a:buSzPct val="90000"/>
              <a:buFont typeface="Wingdings" panose="05000000000000000000" pitchFamily="2" charset="2"/>
              <a:buNone/>
            </a:pPr>
            <a:endParaRPr lang="en-US" sz="1600">
              <a:solidFill>
                <a:srgbClr val="FF0000"/>
              </a:solidFill>
              <a:sym typeface="Wingdings" panose="05000000000000000000" pitchFamily="2" charset="2"/>
            </a:endParaRPr>
          </a:p>
          <a:p>
            <a:pPr eaLnBrk="1" hangingPunct="1">
              <a:lnSpc>
                <a:spcPct val="80000"/>
              </a:lnSpc>
              <a:spcBef>
                <a:spcPct val="20000"/>
              </a:spcBef>
              <a:buClr>
                <a:schemeClr val="folHlink"/>
              </a:buClr>
              <a:buSzPct val="90000"/>
              <a:buFont typeface="Wingdings" panose="05000000000000000000" pitchFamily="2" charset="2"/>
              <a:buNone/>
            </a:pPr>
            <a:r>
              <a:rPr lang="en-US" sz="2000"/>
              <a:t>3. Allow representation of general principles as well as specific solutions</a:t>
            </a:r>
          </a:p>
          <a:p>
            <a:pPr eaLnBrk="1" hangingPunct="1">
              <a:lnSpc>
                <a:spcPct val="80000"/>
              </a:lnSpc>
              <a:spcBef>
                <a:spcPct val="20000"/>
              </a:spcBef>
              <a:buClr>
                <a:schemeClr val="folHlink"/>
              </a:buClr>
              <a:buSzPct val="90000"/>
              <a:buFont typeface="Wingdings" panose="05000000000000000000" pitchFamily="2" charset="2"/>
              <a:buNone/>
            </a:pPr>
            <a:endParaRPr lang="en-US" sz="2000"/>
          </a:p>
          <a:p>
            <a:pPr eaLnBrk="1" hangingPunct="1">
              <a:lnSpc>
                <a:spcPct val="80000"/>
              </a:lnSpc>
              <a:spcBef>
                <a:spcPct val="20000"/>
              </a:spcBef>
              <a:buClr>
                <a:schemeClr val="folHlink"/>
              </a:buClr>
              <a:buSzPct val="90000"/>
              <a:buFont typeface="Wingdings" panose="05000000000000000000" pitchFamily="2" charset="2"/>
              <a:buNone/>
            </a:pPr>
            <a:r>
              <a:rPr lang="en-US" sz="2000"/>
              <a:t>4. Capture complex semantic meaning</a:t>
            </a:r>
          </a:p>
          <a:p>
            <a:pPr eaLnBrk="1" hangingPunct="1">
              <a:lnSpc>
                <a:spcPct val="80000"/>
              </a:lnSpc>
              <a:spcBef>
                <a:spcPct val="20000"/>
              </a:spcBef>
              <a:buClr>
                <a:schemeClr val="folHlink"/>
              </a:buClr>
              <a:buSzPct val="90000"/>
              <a:buFont typeface="Wingdings" panose="05000000000000000000" pitchFamily="2" charset="2"/>
              <a:buNone/>
            </a:pPr>
            <a:r>
              <a:rPr lang="en-US" sz="2000"/>
              <a:t>	hassize(bluebird, small), hascovering(bird,feathers), hascolor(bluebird,blue), hasproperty(bird,flies)</a:t>
            </a:r>
          </a:p>
          <a:p>
            <a:pPr eaLnBrk="1" hangingPunct="1">
              <a:lnSpc>
                <a:spcPct val="80000"/>
              </a:lnSpc>
              <a:spcBef>
                <a:spcPct val="20000"/>
              </a:spcBef>
              <a:buClr>
                <a:schemeClr val="folHlink"/>
              </a:buClr>
              <a:buSzPct val="90000"/>
              <a:buFont typeface="Wingdings" panose="05000000000000000000" pitchFamily="2" charset="2"/>
              <a:buNone/>
            </a:pPr>
            <a:endParaRPr lang="en-US" sz="2000"/>
          </a:p>
          <a:p>
            <a:pPr eaLnBrk="1" hangingPunct="1">
              <a:lnSpc>
                <a:spcPct val="80000"/>
              </a:lnSpc>
              <a:spcBef>
                <a:spcPct val="20000"/>
              </a:spcBef>
              <a:buClr>
                <a:schemeClr val="folHlink"/>
              </a:buClr>
              <a:buSzPct val="90000"/>
              <a:buFont typeface="Wingdings" panose="05000000000000000000" pitchFamily="2" charset="2"/>
              <a:buNone/>
            </a:pPr>
            <a:r>
              <a:rPr lang="en-US" sz="2000"/>
              <a:t>5. Allow for meta-level reasoning</a:t>
            </a:r>
          </a:p>
          <a:p>
            <a:pPr eaLnBrk="1" hangingPunct="1">
              <a:lnSpc>
                <a:spcPct val="80000"/>
              </a:lnSpc>
              <a:spcBef>
                <a:spcPct val="20000"/>
              </a:spcBef>
              <a:buClr>
                <a:schemeClr val="folHlink"/>
              </a:buClr>
              <a:buSzPct val="90000"/>
              <a:buFont typeface="Wingdings" panose="05000000000000000000" pitchFamily="2" charset="2"/>
              <a:buNone/>
            </a:pPr>
            <a:r>
              <a:rPr lang="en-US" sz="2000"/>
              <a:t>	“knowing about what you know” – meta-knowledge</a:t>
            </a:r>
          </a:p>
        </p:txBody>
      </p:sp>
      <p:sp>
        <p:nvSpPr>
          <p:cNvPr id="12292" name="Rectangle 5"/>
          <p:cNvSpPr>
            <a:spLocks noChangeArrowheads="1"/>
          </p:cNvSpPr>
          <p:nvPr/>
        </p:nvSpPr>
        <p:spPr bwMode="auto">
          <a:xfrm>
            <a:off x="533400" y="0"/>
            <a:ext cx="7772400" cy="990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b"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sz="4800" b="1" dirty="0">
                <a:latin typeface="Times New Roman" panose="02020603050405020304" pitchFamily="18" charset="0"/>
              </a:rPr>
              <a:t>AI as representation</a:t>
            </a:r>
          </a:p>
        </p:txBody>
      </p:sp>
      <p:sp>
        <p:nvSpPr>
          <p:cNvPr id="49158" name="Text Box 6"/>
          <p:cNvSpPr txBox="1">
            <a:spLocks noChangeArrowheads="1"/>
          </p:cNvSpPr>
          <p:nvPr/>
        </p:nvSpPr>
        <p:spPr bwMode="auto">
          <a:xfrm>
            <a:off x="1295400" y="2438400"/>
            <a:ext cx="7239000" cy="723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80000"/>
              </a:lnSpc>
              <a:spcBef>
                <a:spcPct val="20000"/>
              </a:spcBef>
              <a:buClr>
                <a:schemeClr val="folHlink"/>
              </a:buClr>
              <a:buSzPct val="90000"/>
              <a:buFont typeface="Wingdings" panose="05000000000000000000" pitchFamily="2" charset="2"/>
              <a:buNone/>
            </a:pPr>
            <a:r>
              <a:rPr lang="en-US">
                <a:sym typeface="Wingdings" panose="05000000000000000000" pitchFamily="2" charset="2"/>
              </a:rPr>
              <a:t>-</a:t>
            </a:r>
            <a:r>
              <a:rPr lang="en-US">
                <a:solidFill>
                  <a:srgbClr val="FF0000"/>
                </a:solidFill>
                <a:sym typeface="Wingdings" panose="05000000000000000000" pitchFamily="2" charset="2"/>
              </a:rPr>
              <a:t>for all X, X is clear if there does not exist a Y such that Y is on X-</a:t>
            </a:r>
          </a:p>
          <a:p>
            <a:pPr eaLnBrk="1" hangingPunct="1">
              <a:spcBef>
                <a:spcPct val="50000"/>
              </a:spcBef>
            </a:pPr>
            <a:endParaRPr lang="en-US"/>
          </a:p>
        </p:txBody>
      </p:sp>
    </p:spTree>
    <p:extLst>
      <p:ext uri="{BB962C8B-B14F-4D97-AF65-F5344CB8AC3E}">
        <p14:creationId xmlns:p14="http://schemas.microsoft.com/office/powerpoint/2010/main" xmlns="" val="17736163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49158"/>
                                        </p:tgtEl>
                                        <p:attrNameLst>
                                          <p:attrName>style.visibility</p:attrName>
                                        </p:attrNameLst>
                                      </p:cBhvr>
                                      <p:to>
                                        <p:strVal val="visible"/>
                                      </p:to>
                                    </p:set>
                                    <p:animEffect transition="in" filter="diamond(in)">
                                      <p:cBhvr>
                                        <p:cTn id="7" dur="2000"/>
                                        <p:tgtEl>
                                          <p:spTgt spid="49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E0315A1-D4A7-4EFF-8912-33EDF23F3CA1}" type="slidenum">
              <a:rPr lang="en-US"/>
              <a:pPr eaLnBrk="1" hangingPunct="1"/>
              <a:t>15</a:t>
            </a:fld>
            <a:endParaRPr lang="en-US"/>
          </a:p>
        </p:txBody>
      </p:sp>
      <p:sp>
        <p:nvSpPr>
          <p:cNvPr id="13315" name="Rectangle 4"/>
          <p:cNvSpPr>
            <a:spLocks noChangeArrowheads="1"/>
          </p:cNvSpPr>
          <p:nvPr/>
        </p:nvSpPr>
        <p:spPr bwMode="auto">
          <a:xfrm>
            <a:off x="1338943" y="-22598"/>
            <a:ext cx="77724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b"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sz="4800" b="1" dirty="0">
                <a:latin typeface="Times New Roman" panose="02020603050405020304" pitchFamily="18" charset="0"/>
              </a:rPr>
              <a:t>AI as representation</a:t>
            </a:r>
          </a:p>
        </p:txBody>
      </p:sp>
      <p:sp>
        <p:nvSpPr>
          <p:cNvPr id="13316" name="Rectangle 5"/>
          <p:cNvSpPr>
            <a:spLocks noChangeArrowheads="1"/>
          </p:cNvSpPr>
          <p:nvPr/>
        </p:nvSpPr>
        <p:spPr bwMode="auto">
          <a:xfrm>
            <a:off x="1524000" y="1905000"/>
            <a:ext cx="6172200" cy="426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609600" indent="-6096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20000"/>
              </a:spcBef>
              <a:buClr>
                <a:schemeClr val="folHlink"/>
              </a:buClr>
              <a:buSzPct val="90000"/>
              <a:buFont typeface="Wingdings" panose="05000000000000000000" pitchFamily="2" charset="2"/>
              <a:buNone/>
            </a:pPr>
            <a:endParaRPr lang="en-US" sz="2400" dirty="0"/>
          </a:p>
          <a:p>
            <a:pPr eaLnBrk="1" hangingPunct="1">
              <a:spcBef>
                <a:spcPct val="20000"/>
              </a:spcBef>
              <a:buClr>
                <a:schemeClr val="folHlink"/>
              </a:buClr>
              <a:buSzPct val="90000"/>
              <a:buFont typeface="Wingdings" panose="05000000000000000000" pitchFamily="2" charset="2"/>
              <a:buNone/>
            </a:pPr>
            <a:endParaRPr lang="en-US" sz="2400" dirty="0"/>
          </a:p>
          <a:p>
            <a:pPr eaLnBrk="1" hangingPunct="1">
              <a:spcBef>
                <a:spcPct val="20000"/>
              </a:spcBef>
              <a:buClr>
                <a:schemeClr val="folHlink"/>
              </a:buClr>
              <a:buSzPct val="90000"/>
              <a:buFont typeface="Wingdings" panose="05000000000000000000" pitchFamily="2" charset="2"/>
              <a:buNone/>
            </a:pPr>
            <a:r>
              <a:rPr lang="en-US" sz="2800" u="sng" dirty="0"/>
              <a:t>Knowledge representation languages:</a:t>
            </a:r>
          </a:p>
          <a:p>
            <a:pPr eaLnBrk="1" hangingPunct="1">
              <a:spcBef>
                <a:spcPct val="20000"/>
              </a:spcBef>
              <a:buClr>
                <a:schemeClr val="folHlink"/>
              </a:buClr>
              <a:buSzPct val="90000"/>
              <a:buFont typeface="Wingdings" panose="05000000000000000000" pitchFamily="2" charset="2"/>
              <a:buNone/>
            </a:pPr>
            <a:r>
              <a:rPr lang="en-US" sz="2400" dirty="0"/>
              <a:t>Predicate calculus, semantic networks, frames, objects, rules,..</a:t>
            </a:r>
            <a:r>
              <a:rPr lang="en-US" sz="2400" dirty="0" err="1"/>
              <a:t>etc</a:t>
            </a:r>
            <a:r>
              <a:rPr lang="en-US" sz="2400" dirty="0"/>
              <a:t>.</a:t>
            </a:r>
          </a:p>
          <a:p>
            <a:pPr eaLnBrk="1" hangingPunct="1">
              <a:spcBef>
                <a:spcPct val="20000"/>
              </a:spcBef>
              <a:buClr>
                <a:schemeClr val="folHlink"/>
              </a:buClr>
              <a:buSzPct val="90000"/>
              <a:buFont typeface="Wingdings" panose="05000000000000000000" pitchFamily="2" charset="2"/>
              <a:buNone/>
            </a:pPr>
            <a:endParaRPr lang="en-US" sz="2400" dirty="0"/>
          </a:p>
          <a:p>
            <a:pPr eaLnBrk="1" hangingPunct="1">
              <a:spcBef>
                <a:spcPct val="20000"/>
              </a:spcBef>
              <a:buClr>
                <a:schemeClr val="folHlink"/>
              </a:buClr>
              <a:buSzPct val="90000"/>
              <a:buFont typeface="Wingdings" panose="05000000000000000000" pitchFamily="2" charset="2"/>
              <a:buNone/>
            </a:pPr>
            <a:r>
              <a:rPr lang="en-US" sz="2400" dirty="0"/>
              <a:t>				</a:t>
            </a:r>
          </a:p>
        </p:txBody>
      </p:sp>
    </p:spTree>
    <p:extLst>
      <p:ext uri="{BB962C8B-B14F-4D97-AF65-F5344CB8AC3E}">
        <p14:creationId xmlns:p14="http://schemas.microsoft.com/office/powerpoint/2010/main" xmlns="" val="30942669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95600" y="3657600"/>
            <a:ext cx="5562600" cy="936625"/>
          </a:xfrm>
        </p:spPr>
        <p:txBody>
          <a:bodyPr>
            <a:normAutofit fontScale="90000"/>
          </a:bodyPr>
          <a:lstStyle/>
          <a:p>
            <a:r>
              <a:rPr lang="en-GB" sz="5400" dirty="0"/>
              <a:t>2.2 Propositional Logic</a:t>
            </a:r>
            <a:r>
              <a:rPr lang="en-US" sz="5400" dirty="0">
                <a:solidFill>
                  <a:srgbClr val="FF0000"/>
                </a:solidFill>
              </a:rPr>
              <a:t/>
            </a:r>
            <a:br>
              <a:rPr lang="en-US" sz="5400" dirty="0">
                <a:solidFill>
                  <a:srgbClr val="FF0000"/>
                </a:solidFill>
              </a:rPr>
            </a:br>
            <a:endParaRPr lang="en-US" sz="5400" b="1" dirty="0">
              <a:latin typeface="Roboto" pitchFamily="2" charset="0"/>
              <a:ea typeface="Roboto" pitchFamily="2" charset="0"/>
            </a:endParaRPr>
          </a:p>
        </p:txBody>
      </p:sp>
      <p:pic>
        <p:nvPicPr>
          <p:cNvPr id="5" name="Picture 2" descr="Image result for artificial intelligence icon"/>
          <p:cNvPicPr>
            <a:picLocks noChangeAspect="1" noChangeArrowheads="1"/>
          </p:cNvPicPr>
          <p:nvPr/>
        </p:nvPicPr>
        <p:blipFill rotWithShape="1">
          <a:blip r:embed="rId2" cstate="print">
            <a:duotone>
              <a:prstClr val="black"/>
              <a:schemeClr val="accent2">
                <a:tint val="45000"/>
                <a:satMod val="400000"/>
              </a:schemeClr>
            </a:duotone>
            <a:extLst>
              <a:ext uri="{BEBA8EAE-BF5A-486C-A8C5-ECC9F3942E4B}">
                <a14:imgProps xmlns:a14="http://schemas.microsoft.com/office/drawing/2010/main" xmlns="">
                  <a14:imgLayer r:embed="rId3">
                    <a14:imgEffect>
                      <a14:backgroundRemoval t="5429" b="69497" l="10000" r="90000">
                        <a14:foregroundMark x1="65976" y1="28727" x2="65976" y2="28727"/>
                        <a14:foregroundMark x1="58293" y1="30997" x2="58293" y2="30997"/>
                        <a14:foregroundMark x1="60732" y1="35933" x2="60732" y2="35933"/>
                        <a14:foregroundMark x1="58293" y1="41165" x2="58293" y2="41165"/>
                        <a14:foregroundMark x1="65122" y1="41757" x2="65122" y2="41757"/>
                        <a14:foregroundMark x1="69634" y1="36130" x2="69634" y2="36130"/>
                        <a14:foregroundMark x1="61220" y1="48963" x2="61220" y2="48963"/>
                        <a14:foregroundMark x1="50854" y1="66732" x2="50854" y2="66732"/>
                        <a14:foregroundMark x1="51098" y1="5429" x2="51098" y2="5429"/>
                      </a14:backgroundRemoval>
                    </a14:imgEffect>
                  </a14:imgLayer>
                </a14:imgProps>
              </a:ext>
              <a:ext uri="{28A0092B-C50C-407E-A947-70E740481C1C}">
                <a14:useLocalDpi xmlns:a14="http://schemas.microsoft.com/office/drawing/2010/main" xmlns="" val="0"/>
              </a:ext>
            </a:extLst>
          </a:blip>
          <a:srcRect l="14092" r="15445" b="29337"/>
          <a:stretch/>
        </p:blipFill>
        <p:spPr bwMode="auto">
          <a:xfrm>
            <a:off x="457200" y="2590800"/>
            <a:ext cx="2071412" cy="256625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2160937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GB" b="1" dirty="0"/>
              <a:t>What is a Logic?</a:t>
            </a:r>
          </a:p>
        </p:txBody>
      </p:sp>
      <p:sp>
        <p:nvSpPr>
          <p:cNvPr id="7171" name="Rectangle 3"/>
          <p:cNvSpPr>
            <a:spLocks noGrp="1" noChangeArrowheads="1"/>
          </p:cNvSpPr>
          <p:nvPr>
            <p:ph type="body" idx="1"/>
          </p:nvPr>
        </p:nvSpPr>
        <p:spPr>
          <a:xfrm>
            <a:off x="838200" y="1828800"/>
            <a:ext cx="8001000" cy="4343400"/>
          </a:xfrm>
        </p:spPr>
        <p:txBody>
          <a:bodyPr/>
          <a:lstStyle/>
          <a:p>
            <a:r>
              <a:rPr lang="en-GB" sz="2400" dirty="0"/>
              <a:t>A language with concrete rules</a:t>
            </a:r>
          </a:p>
          <a:p>
            <a:pPr lvl="1"/>
            <a:r>
              <a:rPr lang="en-GB" sz="2000" dirty="0"/>
              <a:t>No ambiguity in representation (may be other errors!)</a:t>
            </a:r>
          </a:p>
          <a:p>
            <a:pPr lvl="1"/>
            <a:r>
              <a:rPr lang="en-GB" sz="2000" dirty="0"/>
              <a:t>Allows unambiguous communication and processing</a:t>
            </a:r>
          </a:p>
          <a:p>
            <a:pPr lvl="1"/>
            <a:r>
              <a:rPr lang="en-GB" sz="2000" dirty="0"/>
              <a:t>Very unlike natural languages e.g. English</a:t>
            </a:r>
          </a:p>
          <a:p>
            <a:r>
              <a:rPr lang="en-GB" sz="2400" dirty="0"/>
              <a:t>Many ways to translate between languages</a:t>
            </a:r>
          </a:p>
          <a:p>
            <a:pPr lvl="1"/>
            <a:r>
              <a:rPr lang="en-GB" sz="2000" dirty="0"/>
              <a:t>A statement can be represented in different logics</a:t>
            </a:r>
          </a:p>
          <a:p>
            <a:pPr lvl="1"/>
            <a:r>
              <a:rPr lang="en-GB" sz="2000" dirty="0"/>
              <a:t>And perhaps differently in same logic</a:t>
            </a:r>
          </a:p>
          <a:p>
            <a:r>
              <a:rPr lang="en-GB" sz="2400" b="1" dirty="0"/>
              <a:t>Expressiveness</a:t>
            </a:r>
            <a:r>
              <a:rPr lang="en-GB" sz="2400" dirty="0"/>
              <a:t> of a logic</a:t>
            </a:r>
          </a:p>
          <a:p>
            <a:pPr lvl="1"/>
            <a:r>
              <a:rPr lang="en-GB" sz="2000" dirty="0"/>
              <a:t>How much can we say in this language?</a:t>
            </a:r>
          </a:p>
          <a:p>
            <a:r>
              <a:rPr lang="en-GB" sz="2400" dirty="0"/>
              <a:t>Not to be confused with logical reasoning</a:t>
            </a:r>
          </a:p>
          <a:p>
            <a:pPr lvl="1"/>
            <a:r>
              <a:rPr lang="en-GB" sz="2000" dirty="0"/>
              <a:t>Logics are languages, reasoning is a process (may </a:t>
            </a:r>
            <a:r>
              <a:rPr lang="en-GB" sz="2000" b="1" dirty="0"/>
              <a:t>use</a:t>
            </a:r>
            <a:r>
              <a:rPr lang="en-GB" sz="2000" dirty="0"/>
              <a:t> logic)</a:t>
            </a:r>
          </a:p>
        </p:txBody>
      </p:sp>
    </p:spTree>
    <p:extLst>
      <p:ext uri="{BB962C8B-B14F-4D97-AF65-F5344CB8AC3E}">
        <p14:creationId xmlns:p14="http://schemas.microsoft.com/office/powerpoint/2010/main" xmlns="" val="40598649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en-US" sz="3800"/>
              <a:t>Ask google ..what is propositional logic?</a:t>
            </a:r>
          </a:p>
        </p:txBody>
      </p:sp>
      <p:sp>
        <p:nvSpPr>
          <p:cNvPr id="99331" name="Rectangle 3"/>
          <p:cNvSpPr>
            <a:spLocks noGrp="1" noChangeArrowheads="1"/>
          </p:cNvSpPr>
          <p:nvPr>
            <p:ph type="body" idx="1"/>
          </p:nvPr>
        </p:nvSpPr>
        <p:spPr/>
        <p:txBody>
          <a:bodyPr/>
          <a:lstStyle/>
          <a:p>
            <a:pPr eaLnBrk="1" hangingPunct="1"/>
            <a:r>
              <a:rPr lang="en-US" altLang="en-US" sz="2400" b="1" dirty="0"/>
              <a:t>propositional logic</a:t>
            </a:r>
            <a:r>
              <a:rPr lang="en-US" altLang="en-US" sz="2400" dirty="0"/>
              <a:t> </a:t>
            </a:r>
            <a:r>
              <a:rPr lang="en-US" altLang="en-US" sz="2400" dirty="0" err="1"/>
              <a:t>logic</a:t>
            </a:r>
            <a:r>
              <a:rPr lang="en-US" altLang="en-US" sz="2400" dirty="0"/>
              <a:t> (or "propositional calculus") </a:t>
            </a:r>
          </a:p>
          <a:p>
            <a:pPr eaLnBrk="1" hangingPunct="1"/>
            <a:r>
              <a:rPr lang="en-US" altLang="en-US" sz="2400" dirty="0"/>
              <a:t>A system of </a:t>
            </a:r>
            <a:r>
              <a:rPr lang="en-US" altLang="en-US" sz="2400" dirty="0">
                <a:hlinkClick r:id="rId2"/>
              </a:rPr>
              <a:t>symbolic logic</a:t>
            </a:r>
            <a:r>
              <a:rPr lang="en-US" altLang="en-US" sz="2400" dirty="0"/>
              <a:t> using symbols to stand for whole </a:t>
            </a:r>
            <a:r>
              <a:rPr lang="en-US" altLang="en-US" sz="2400" dirty="0">
                <a:hlinkClick r:id="rId3"/>
              </a:rPr>
              <a:t>propositions</a:t>
            </a:r>
            <a:r>
              <a:rPr lang="en-US" altLang="en-US" sz="2400" dirty="0"/>
              <a:t> and </a:t>
            </a:r>
            <a:r>
              <a:rPr lang="en-US" altLang="en-US" sz="2400" dirty="0">
                <a:hlinkClick r:id="rId4"/>
              </a:rPr>
              <a:t>logical connectives</a:t>
            </a:r>
            <a:r>
              <a:rPr lang="en-US" altLang="en-US" sz="2400" dirty="0"/>
              <a:t>. </a:t>
            </a:r>
          </a:p>
          <a:p>
            <a:pPr eaLnBrk="1" hangingPunct="1"/>
            <a:r>
              <a:rPr lang="en-US" altLang="en-US" sz="2400" dirty="0"/>
              <a:t>Propositional logic only considers whether a proposition is true or false. </a:t>
            </a:r>
          </a:p>
          <a:p>
            <a:pPr eaLnBrk="1" hangingPunct="1"/>
            <a:r>
              <a:rPr lang="en-US" altLang="en-US" sz="2400" dirty="0"/>
              <a:t>In contrast to </a:t>
            </a:r>
            <a:r>
              <a:rPr lang="en-US" altLang="en-US" sz="2400" dirty="0">
                <a:hlinkClick r:id="rId5"/>
              </a:rPr>
              <a:t>predicate logic</a:t>
            </a:r>
            <a:r>
              <a:rPr lang="en-US" altLang="en-US" sz="2400" dirty="0"/>
              <a:t>, it does not consider the internal structure of propositions.</a:t>
            </a:r>
            <a:br>
              <a:rPr lang="en-US" altLang="en-US" sz="2400" dirty="0"/>
            </a:br>
            <a:endParaRPr lang="en-US" altLang="en-US" sz="2400" dirty="0"/>
          </a:p>
        </p:txBody>
      </p:sp>
    </p:spTree>
    <p:extLst>
      <p:ext uri="{BB962C8B-B14F-4D97-AF65-F5344CB8AC3E}">
        <p14:creationId xmlns:p14="http://schemas.microsoft.com/office/powerpoint/2010/main" xmlns="" val="15478596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 calcmode="lin" valueType="num">
                                      <p:cBhvr additive="base">
                                        <p:cTn id="7" dur="500" fill="hold"/>
                                        <p:tgtEl>
                                          <p:spTgt spid="993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93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9331">
                                            <p:txEl>
                                              <p:pRg st="1" end="1"/>
                                            </p:txEl>
                                          </p:spTgt>
                                        </p:tgtEl>
                                        <p:attrNameLst>
                                          <p:attrName>style.visibility</p:attrName>
                                        </p:attrNameLst>
                                      </p:cBhvr>
                                      <p:to>
                                        <p:strVal val="visible"/>
                                      </p:to>
                                    </p:set>
                                    <p:anim calcmode="lin" valueType="num">
                                      <p:cBhvr additive="base">
                                        <p:cTn id="13" dur="500" fill="hold"/>
                                        <p:tgtEl>
                                          <p:spTgt spid="993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93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9331">
                                            <p:txEl>
                                              <p:pRg st="2" end="2"/>
                                            </p:txEl>
                                          </p:spTgt>
                                        </p:tgtEl>
                                        <p:attrNameLst>
                                          <p:attrName>style.visibility</p:attrName>
                                        </p:attrNameLst>
                                      </p:cBhvr>
                                      <p:to>
                                        <p:strVal val="visible"/>
                                      </p:to>
                                    </p:set>
                                    <p:anim calcmode="lin" valueType="num">
                                      <p:cBhvr additive="base">
                                        <p:cTn id="19" dur="500" fill="hold"/>
                                        <p:tgtEl>
                                          <p:spTgt spid="9933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93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9331">
                                            <p:txEl>
                                              <p:pRg st="3" end="3"/>
                                            </p:txEl>
                                          </p:spTgt>
                                        </p:tgtEl>
                                        <p:attrNameLst>
                                          <p:attrName>style.visibility</p:attrName>
                                        </p:attrNameLst>
                                      </p:cBhvr>
                                      <p:to>
                                        <p:strVal val="visible"/>
                                      </p:to>
                                    </p:set>
                                    <p:anim calcmode="lin" valueType="num">
                                      <p:cBhvr additive="base">
                                        <p:cTn id="25" dur="500" fill="hold"/>
                                        <p:tgtEl>
                                          <p:spTgt spid="9933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933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sz="4000" b="1" dirty="0"/>
              <a:t>Basic Logic Operations</a:t>
            </a:r>
            <a:endParaRPr lang="en-US" altLang="en-US" sz="3800" b="1" dirty="0"/>
          </a:p>
        </p:txBody>
      </p:sp>
      <p:sp>
        <p:nvSpPr>
          <p:cNvPr id="99331" name="Rectangle 3"/>
          <p:cNvSpPr>
            <a:spLocks noGrp="1" noChangeArrowheads="1"/>
          </p:cNvSpPr>
          <p:nvPr>
            <p:ph type="body" idx="1"/>
          </p:nvPr>
        </p:nvSpPr>
        <p:spPr/>
        <p:txBody>
          <a:bodyPr>
            <a:normAutofit/>
          </a:bodyPr>
          <a:lstStyle/>
          <a:p>
            <a:r>
              <a:rPr lang="en-US" dirty="0"/>
              <a:t>The NOT operation: ¬ </a:t>
            </a:r>
          </a:p>
          <a:p>
            <a:r>
              <a:rPr lang="en-US" dirty="0"/>
              <a:t>The AND operation: ∧ </a:t>
            </a:r>
          </a:p>
          <a:p>
            <a:r>
              <a:rPr lang="en-US" dirty="0"/>
              <a:t>The OR operation: ∨ </a:t>
            </a:r>
          </a:p>
          <a:p>
            <a:r>
              <a:rPr lang="en-US" dirty="0"/>
              <a:t>The “implication” operation: → </a:t>
            </a:r>
          </a:p>
          <a:p>
            <a:r>
              <a:rPr lang="en-US" dirty="0"/>
              <a:t>The “equivalence” operation: ↔ or ≡</a:t>
            </a:r>
            <a:endParaRPr lang="en-US" altLang="en-US" dirty="0"/>
          </a:p>
        </p:txBody>
      </p:sp>
    </p:spTree>
    <p:extLst>
      <p:ext uri="{BB962C8B-B14F-4D97-AF65-F5344CB8AC3E}">
        <p14:creationId xmlns:p14="http://schemas.microsoft.com/office/powerpoint/2010/main" xmlns="" val="29977326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 calcmode="lin" valueType="num">
                                      <p:cBhvr additive="base">
                                        <p:cTn id="7" dur="500" fill="hold"/>
                                        <p:tgtEl>
                                          <p:spTgt spid="993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93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9331">
                                            <p:txEl>
                                              <p:pRg st="1" end="1"/>
                                            </p:txEl>
                                          </p:spTgt>
                                        </p:tgtEl>
                                        <p:attrNameLst>
                                          <p:attrName>style.visibility</p:attrName>
                                        </p:attrNameLst>
                                      </p:cBhvr>
                                      <p:to>
                                        <p:strVal val="visible"/>
                                      </p:to>
                                    </p:set>
                                    <p:anim calcmode="lin" valueType="num">
                                      <p:cBhvr additive="base">
                                        <p:cTn id="13" dur="500" fill="hold"/>
                                        <p:tgtEl>
                                          <p:spTgt spid="9933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93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9331">
                                            <p:txEl>
                                              <p:pRg st="2" end="2"/>
                                            </p:txEl>
                                          </p:spTgt>
                                        </p:tgtEl>
                                        <p:attrNameLst>
                                          <p:attrName>style.visibility</p:attrName>
                                        </p:attrNameLst>
                                      </p:cBhvr>
                                      <p:to>
                                        <p:strVal val="visible"/>
                                      </p:to>
                                    </p:set>
                                    <p:anim calcmode="lin" valueType="num">
                                      <p:cBhvr additive="base">
                                        <p:cTn id="19" dur="500" fill="hold"/>
                                        <p:tgtEl>
                                          <p:spTgt spid="9933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93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9331">
                                            <p:txEl>
                                              <p:pRg st="3" end="3"/>
                                            </p:txEl>
                                          </p:spTgt>
                                        </p:tgtEl>
                                        <p:attrNameLst>
                                          <p:attrName>style.visibility</p:attrName>
                                        </p:attrNameLst>
                                      </p:cBhvr>
                                      <p:to>
                                        <p:strVal val="visible"/>
                                      </p:to>
                                    </p:set>
                                    <p:anim calcmode="lin" valueType="num">
                                      <p:cBhvr additive="base">
                                        <p:cTn id="25" dur="500" fill="hold"/>
                                        <p:tgtEl>
                                          <p:spTgt spid="9933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933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9331">
                                            <p:txEl>
                                              <p:pRg st="4" end="4"/>
                                            </p:txEl>
                                          </p:spTgt>
                                        </p:tgtEl>
                                        <p:attrNameLst>
                                          <p:attrName>style.visibility</p:attrName>
                                        </p:attrNameLst>
                                      </p:cBhvr>
                                      <p:to>
                                        <p:strVal val="visible"/>
                                      </p:to>
                                    </p:set>
                                    <p:anim calcmode="lin" valueType="num">
                                      <p:cBhvr additive="base">
                                        <p:cTn id="31" dur="500" fill="hold"/>
                                        <p:tgtEl>
                                          <p:spTgt spid="9933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933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MECQ1203: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20</a:t>
            </a:fld>
            <a:endParaRPr lang="en-US"/>
          </a:p>
        </p:txBody>
      </p:sp>
      <p:sp>
        <p:nvSpPr>
          <p:cNvPr id="6" name="Rectangle 5"/>
          <p:cNvSpPr/>
          <p:nvPr/>
        </p:nvSpPr>
        <p:spPr>
          <a:xfrm>
            <a:off x="3505200" y="381000"/>
            <a:ext cx="2813591" cy="769441"/>
          </a:xfrm>
          <a:prstGeom prst="rect">
            <a:avLst/>
          </a:prstGeom>
        </p:spPr>
        <p:txBody>
          <a:bodyPr wrap="none">
            <a:spAutoFit/>
          </a:bodyPr>
          <a:lstStyle/>
          <a:p>
            <a:r>
              <a:rPr lang="en-GB" sz="4400" b="1" dirty="0">
                <a:solidFill>
                  <a:srgbClr val="FF0000"/>
                </a:solidFill>
              </a:rPr>
              <a:t>Activity 2.2</a:t>
            </a:r>
            <a:endParaRPr lang="en-US" sz="4400" b="1" dirty="0">
              <a:solidFill>
                <a:srgbClr val="FF0000"/>
              </a:solidFill>
            </a:endParaRPr>
          </a:p>
        </p:txBody>
      </p:sp>
      <p:sp>
        <p:nvSpPr>
          <p:cNvPr id="8" name="Rectangle 7"/>
          <p:cNvSpPr/>
          <p:nvPr/>
        </p:nvSpPr>
        <p:spPr>
          <a:xfrm>
            <a:off x="3352800" y="2460171"/>
            <a:ext cx="4572000" cy="3785652"/>
          </a:xfrm>
          <a:prstGeom prst="rect">
            <a:avLst/>
          </a:prstGeom>
        </p:spPr>
        <p:txBody>
          <a:bodyPr>
            <a:spAutoFit/>
          </a:bodyPr>
          <a:lstStyle/>
          <a:p>
            <a:endParaRPr lang="en-GB" sz="2400" dirty="0"/>
          </a:p>
          <a:p>
            <a:endParaRPr lang="en-GB" sz="2400" dirty="0"/>
          </a:p>
          <a:p>
            <a:r>
              <a:rPr lang="en-GB" sz="2400" dirty="0"/>
              <a:t>Operation :  …………..</a:t>
            </a:r>
          </a:p>
          <a:p>
            <a:r>
              <a:rPr lang="en-GB" sz="2400" dirty="0"/>
              <a:t>       </a:t>
            </a:r>
          </a:p>
          <a:p>
            <a:endParaRPr lang="en-GB" sz="2400" dirty="0"/>
          </a:p>
          <a:p>
            <a:r>
              <a:rPr lang="en-GB" sz="2400" dirty="0"/>
              <a:t>Operation :  …………..</a:t>
            </a:r>
          </a:p>
          <a:p>
            <a:endParaRPr lang="en-GB" sz="2400" dirty="0"/>
          </a:p>
          <a:p>
            <a:endParaRPr lang="en-GB" sz="2400" dirty="0"/>
          </a:p>
          <a:p>
            <a:r>
              <a:rPr lang="en-GB" sz="2400" dirty="0"/>
              <a:t>Operation :  …………..</a:t>
            </a:r>
          </a:p>
          <a:p>
            <a:endParaRPr lang="en-GB" sz="2400" dirty="0"/>
          </a:p>
        </p:txBody>
      </p:sp>
      <p:pic>
        <p:nvPicPr>
          <p:cNvPr id="10" name="Picture 9"/>
          <p:cNvPicPr>
            <a:picLocks noChangeAspect="1"/>
          </p:cNvPicPr>
          <p:nvPr/>
        </p:nvPicPr>
        <p:blipFill>
          <a:blip r:embed="rId2" cstate="print"/>
          <a:stretch>
            <a:fillRect/>
          </a:stretch>
        </p:blipFill>
        <p:spPr>
          <a:xfrm>
            <a:off x="996673" y="2795587"/>
            <a:ext cx="2127527" cy="3617875"/>
          </a:xfrm>
          <a:prstGeom prst="rect">
            <a:avLst/>
          </a:prstGeom>
        </p:spPr>
      </p:pic>
      <p:sp>
        <p:nvSpPr>
          <p:cNvPr id="11" name="Rectangle 10"/>
          <p:cNvSpPr/>
          <p:nvPr/>
        </p:nvSpPr>
        <p:spPr>
          <a:xfrm>
            <a:off x="612386" y="1555075"/>
            <a:ext cx="8303014" cy="1200329"/>
          </a:xfrm>
          <a:prstGeom prst="rect">
            <a:avLst/>
          </a:prstGeom>
        </p:spPr>
        <p:txBody>
          <a:bodyPr wrap="square">
            <a:spAutoFit/>
          </a:bodyPr>
          <a:lstStyle/>
          <a:p>
            <a:r>
              <a:rPr lang="en-GB" sz="2400" b="1" dirty="0"/>
              <a:t>Activity </a:t>
            </a:r>
          </a:p>
          <a:p>
            <a:r>
              <a:rPr lang="en-GB" sz="2400" dirty="0"/>
              <a:t>Form a group of two members. Discuss the right logic operation that is suitable for Venn diagram below.</a:t>
            </a:r>
          </a:p>
        </p:txBody>
      </p:sp>
    </p:spTree>
    <p:extLst>
      <p:ext uri="{BB962C8B-B14F-4D97-AF65-F5344CB8AC3E}">
        <p14:creationId xmlns:p14="http://schemas.microsoft.com/office/powerpoint/2010/main" xmlns="" val="6343762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MECQ1203: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21</a:t>
            </a:fld>
            <a:endParaRPr lang="en-US"/>
          </a:p>
        </p:txBody>
      </p:sp>
      <p:sp>
        <p:nvSpPr>
          <p:cNvPr id="6" name="Rectangle 5"/>
          <p:cNvSpPr/>
          <p:nvPr/>
        </p:nvSpPr>
        <p:spPr>
          <a:xfrm>
            <a:off x="2469777" y="289657"/>
            <a:ext cx="5008935" cy="769441"/>
          </a:xfrm>
          <a:prstGeom prst="rect">
            <a:avLst/>
          </a:prstGeom>
        </p:spPr>
        <p:txBody>
          <a:bodyPr wrap="none">
            <a:spAutoFit/>
          </a:bodyPr>
          <a:lstStyle/>
          <a:p>
            <a:r>
              <a:rPr lang="en-GB" sz="4400" b="1" dirty="0">
                <a:solidFill>
                  <a:srgbClr val="FF0000"/>
                </a:solidFill>
              </a:rPr>
              <a:t>Activity 2.2 - Answer</a:t>
            </a:r>
            <a:endParaRPr lang="en-US" sz="4400" b="1" dirty="0">
              <a:solidFill>
                <a:srgbClr val="FF0000"/>
              </a:solidFill>
            </a:endParaRPr>
          </a:p>
        </p:txBody>
      </p:sp>
      <p:pic>
        <p:nvPicPr>
          <p:cNvPr id="2050" name="Picture 2" descr="Image result for venn diagram and, or, not"/>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47800" y="1542908"/>
            <a:ext cx="6400800" cy="48006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27547464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914400" y="277813"/>
            <a:ext cx="7772400" cy="1020762"/>
          </a:xfrm>
        </p:spPr>
        <p:txBody>
          <a:bodyPr/>
          <a:lstStyle/>
          <a:p>
            <a:pPr eaLnBrk="1" hangingPunct="1"/>
            <a:r>
              <a:rPr lang="en-US" altLang="en-US" b="1">
                <a:solidFill>
                  <a:schemeClr val="tx1"/>
                </a:solidFill>
              </a:rPr>
              <a:t>Logic in General (1)</a:t>
            </a:r>
            <a:endParaRPr lang="en-US" altLang="en-US">
              <a:solidFill>
                <a:schemeClr val="tx1"/>
              </a:solidFill>
            </a:endParaRPr>
          </a:p>
        </p:txBody>
      </p:sp>
      <p:sp>
        <p:nvSpPr>
          <p:cNvPr id="9219" name="Rectangle 3"/>
          <p:cNvSpPr>
            <a:spLocks noGrp="1" noChangeArrowheads="1"/>
          </p:cNvSpPr>
          <p:nvPr>
            <p:ph type="body" idx="1"/>
          </p:nvPr>
        </p:nvSpPr>
        <p:spPr>
          <a:xfrm>
            <a:off x="457200" y="1752600"/>
            <a:ext cx="8229600" cy="4648200"/>
          </a:xfrm>
        </p:spPr>
        <p:txBody>
          <a:bodyPr/>
          <a:lstStyle/>
          <a:p>
            <a:pPr eaLnBrk="1" hangingPunct="1">
              <a:buClr>
                <a:srgbClr val="FF0000"/>
              </a:buClr>
              <a:buSzPct val="150000"/>
            </a:pPr>
            <a:r>
              <a:rPr lang="en-US" altLang="en-US" i="1">
                <a:solidFill>
                  <a:srgbClr val="FF9933"/>
                </a:solidFill>
              </a:rPr>
              <a:t>Logics</a:t>
            </a:r>
            <a:r>
              <a:rPr lang="en-US" altLang="en-US" i="1"/>
              <a:t> </a:t>
            </a:r>
            <a:r>
              <a:rPr lang="en-US" altLang="en-US"/>
              <a:t>are formal languages for representing information such that conclusions can be drawn</a:t>
            </a:r>
          </a:p>
          <a:p>
            <a:pPr eaLnBrk="1" hangingPunct="1">
              <a:buClr>
                <a:srgbClr val="FF0000"/>
              </a:buClr>
              <a:buSzPct val="150000"/>
            </a:pPr>
            <a:r>
              <a:rPr lang="en-US" altLang="en-US"/>
              <a:t>When people talk about logic they often mean </a:t>
            </a:r>
            <a:r>
              <a:rPr lang="en-US" altLang="en-US" i="1">
                <a:solidFill>
                  <a:srgbClr val="FF9933"/>
                </a:solidFill>
              </a:rPr>
              <a:t>propositional</a:t>
            </a:r>
            <a:r>
              <a:rPr lang="en-US" altLang="en-US" i="1"/>
              <a:t> </a:t>
            </a:r>
            <a:r>
              <a:rPr lang="en-US" altLang="en-US"/>
              <a:t>or </a:t>
            </a:r>
            <a:r>
              <a:rPr lang="en-US" altLang="en-US" i="1">
                <a:solidFill>
                  <a:srgbClr val="FF9933"/>
                </a:solidFill>
              </a:rPr>
              <a:t>first-order predicate </a:t>
            </a:r>
            <a:r>
              <a:rPr lang="en-US" altLang="en-US">
                <a:solidFill>
                  <a:srgbClr val="FF9933"/>
                </a:solidFill>
              </a:rPr>
              <a:t>logic.</a:t>
            </a:r>
          </a:p>
        </p:txBody>
      </p:sp>
    </p:spTree>
    <p:extLst>
      <p:ext uri="{BB962C8B-B14F-4D97-AF65-F5344CB8AC3E}">
        <p14:creationId xmlns:p14="http://schemas.microsoft.com/office/powerpoint/2010/main" xmlns="" val="26910197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914400" y="277813"/>
            <a:ext cx="7772400" cy="792162"/>
          </a:xfrm>
        </p:spPr>
        <p:txBody>
          <a:bodyPr/>
          <a:lstStyle/>
          <a:p>
            <a:pPr eaLnBrk="1" hangingPunct="1"/>
            <a:r>
              <a:rPr lang="en-US" altLang="en-US" b="1">
                <a:solidFill>
                  <a:schemeClr val="tx1"/>
                </a:solidFill>
              </a:rPr>
              <a:t>Logic in General (2)</a:t>
            </a:r>
          </a:p>
        </p:txBody>
      </p:sp>
      <p:sp>
        <p:nvSpPr>
          <p:cNvPr id="10243" name="Rectangle 3"/>
          <p:cNvSpPr>
            <a:spLocks noGrp="1" noChangeArrowheads="1"/>
          </p:cNvSpPr>
          <p:nvPr>
            <p:ph type="body" idx="1"/>
          </p:nvPr>
        </p:nvSpPr>
        <p:spPr>
          <a:xfrm>
            <a:off x="762000" y="1828800"/>
            <a:ext cx="8153400" cy="4495800"/>
          </a:xfrm>
        </p:spPr>
        <p:txBody>
          <a:bodyPr>
            <a:normAutofit lnSpcReduction="10000"/>
          </a:bodyPr>
          <a:lstStyle/>
          <a:p>
            <a:pPr eaLnBrk="1" hangingPunct="1">
              <a:lnSpc>
                <a:spcPct val="90000"/>
              </a:lnSpc>
              <a:buClr>
                <a:srgbClr val="FF0000"/>
              </a:buClr>
              <a:buSzPct val="150000"/>
            </a:pPr>
            <a:r>
              <a:rPr lang="en-US" altLang="en-US"/>
              <a:t>A </a:t>
            </a:r>
            <a:r>
              <a:rPr lang="en-US" altLang="en-US" i="1">
                <a:solidFill>
                  <a:srgbClr val="FF9933"/>
                </a:solidFill>
              </a:rPr>
              <a:t>logic</a:t>
            </a:r>
            <a:r>
              <a:rPr lang="en-US" altLang="en-US" i="1"/>
              <a:t> </a:t>
            </a:r>
            <a:r>
              <a:rPr lang="en-US" altLang="en-US"/>
              <a:t>usually has a well defined syntax, semantics and proof theory.</a:t>
            </a:r>
          </a:p>
          <a:p>
            <a:pPr eaLnBrk="1" hangingPunct="1">
              <a:lnSpc>
                <a:spcPct val="90000"/>
              </a:lnSpc>
              <a:buClr>
                <a:srgbClr val="FF0000"/>
              </a:buClr>
              <a:buSzPct val="150000"/>
            </a:pPr>
            <a:r>
              <a:rPr lang="en-US" altLang="en-US"/>
              <a:t>The </a:t>
            </a:r>
            <a:r>
              <a:rPr lang="en-US" altLang="en-US" i="1">
                <a:solidFill>
                  <a:srgbClr val="FF9933"/>
                </a:solidFill>
              </a:rPr>
              <a:t>syntax</a:t>
            </a:r>
            <a:r>
              <a:rPr lang="en-US" altLang="en-US" i="1"/>
              <a:t> </a:t>
            </a:r>
            <a:r>
              <a:rPr lang="en-US" altLang="en-US"/>
              <a:t>of a logic defines the syntactically acceptable objects of the logic, or </a:t>
            </a:r>
            <a:r>
              <a:rPr lang="en-US" altLang="en-US" i="1"/>
              <a:t>well-formed formulae</a:t>
            </a:r>
            <a:r>
              <a:rPr lang="en-US" altLang="en-US"/>
              <a:t>.</a:t>
            </a:r>
          </a:p>
          <a:p>
            <a:pPr eaLnBrk="1" hangingPunct="1">
              <a:lnSpc>
                <a:spcPct val="90000"/>
              </a:lnSpc>
              <a:buClr>
                <a:srgbClr val="FF0000"/>
              </a:buClr>
              <a:buSzPct val="150000"/>
            </a:pPr>
            <a:r>
              <a:rPr lang="en-US" altLang="en-US"/>
              <a:t>The </a:t>
            </a:r>
            <a:r>
              <a:rPr lang="en-US" altLang="en-US" i="1">
                <a:solidFill>
                  <a:srgbClr val="FF9933"/>
                </a:solidFill>
              </a:rPr>
              <a:t>semantics</a:t>
            </a:r>
            <a:r>
              <a:rPr lang="en-US" altLang="en-US" i="1"/>
              <a:t> </a:t>
            </a:r>
            <a:r>
              <a:rPr lang="en-US" altLang="en-US"/>
              <a:t>of a logic associate each formula with a </a:t>
            </a:r>
            <a:r>
              <a:rPr lang="en-US" altLang="en-US" i="1">
                <a:solidFill>
                  <a:srgbClr val="FF9933"/>
                </a:solidFill>
              </a:rPr>
              <a:t>meaning</a:t>
            </a:r>
            <a:r>
              <a:rPr lang="en-US" altLang="en-US"/>
              <a:t>.</a:t>
            </a:r>
          </a:p>
          <a:p>
            <a:pPr eaLnBrk="1" hangingPunct="1">
              <a:lnSpc>
                <a:spcPct val="90000"/>
              </a:lnSpc>
              <a:buClr>
                <a:srgbClr val="FF0000"/>
              </a:buClr>
              <a:buSzPct val="150000"/>
            </a:pPr>
            <a:r>
              <a:rPr lang="en-US" altLang="en-US"/>
              <a:t>The </a:t>
            </a:r>
            <a:r>
              <a:rPr lang="en-US" altLang="en-US" i="1">
                <a:solidFill>
                  <a:srgbClr val="FF9933"/>
                </a:solidFill>
              </a:rPr>
              <a:t>proof theory </a:t>
            </a:r>
            <a:r>
              <a:rPr lang="en-US" altLang="en-US"/>
              <a:t>is concerned with manipulating formulae according to certain rules.</a:t>
            </a:r>
          </a:p>
        </p:txBody>
      </p:sp>
    </p:spTree>
    <p:extLst>
      <p:ext uri="{BB962C8B-B14F-4D97-AF65-F5344CB8AC3E}">
        <p14:creationId xmlns:p14="http://schemas.microsoft.com/office/powerpoint/2010/main" xmlns="" val="315693704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ltLang="en-US" b="1">
                <a:solidFill>
                  <a:schemeClr val="tx1"/>
                </a:solidFill>
              </a:rPr>
              <a:t>Propositions???</a:t>
            </a:r>
            <a:endParaRPr lang="en-US" altLang="en-US">
              <a:solidFill>
                <a:schemeClr val="tx1"/>
              </a:solidFill>
            </a:endParaRPr>
          </a:p>
        </p:txBody>
      </p:sp>
      <p:sp>
        <p:nvSpPr>
          <p:cNvPr id="12291" name="Rectangle 3"/>
          <p:cNvSpPr>
            <a:spLocks noGrp="1" noChangeArrowheads="1"/>
          </p:cNvSpPr>
          <p:nvPr>
            <p:ph type="body" idx="1"/>
          </p:nvPr>
        </p:nvSpPr>
        <p:spPr>
          <a:xfrm>
            <a:off x="914400" y="1600200"/>
            <a:ext cx="4724400" cy="4530725"/>
          </a:xfrm>
        </p:spPr>
        <p:txBody>
          <a:bodyPr/>
          <a:lstStyle/>
          <a:p>
            <a:pPr eaLnBrk="1" hangingPunct="1">
              <a:buClr>
                <a:srgbClr val="FF0000"/>
              </a:buClr>
              <a:buSzPct val="150000"/>
            </a:pPr>
            <a:r>
              <a:rPr lang="en-US" altLang="en-US" sz="2400"/>
              <a:t>Pak Lah is Prime Minister</a:t>
            </a:r>
          </a:p>
          <a:p>
            <a:pPr eaLnBrk="1" hangingPunct="1">
              <a:buClr>
                <a:srgbClr val="FF0000"/>
              </a:buClr>
              <a:buSzPct val="150000"/>
            </a:pPr>
            <a:r>
              <a:rPr lang="en-US" altLang="en-US" sz="2400"/>
              <a:t>What's the time?</a:t>
            </a:r>
          </a:p>
          <a:p>
            <a:pPr eaLnBrk="1" hangingPunct="1">
              <a:buClr>
                <a:srgbClr val="FF0000"/>
              </a:buClr>
              <a:buSzPct val="150000"/>
            </a:pPr>
            <a:r>
              <a:rPr lang="en-US" altLang="en-US" sz="2400"/>
              <a:t>2 + 3 = 5</a:t>
            </a:r>
          </a:p>
          <a:p>
            <a:pPr eaLnBrk="1" hangingPunct="1">
              <a:buClr>
                <a:srgbClr val="FF0000"/>
              </a:buClr>
              <a:buSzPct val="150000"/>
            </a:pPr>
            <a:r>
              <a:rPr lang="en-US" altLang="en-US" sz="2400"/>
              <a:t>‘Phone’ has five letters.</a:t>
            </a:r>
          </a:p>
          <a:p>
            <a:pPr eaLnBrk="1" hangingPunct="1">
              <a:buClr>
                <a:srgbClr val="FF0000"/>
              </a:buClr>
              <a:buSzPct val="150000"/>
            </a:pPr>
            <a:r>
              <a:rPr lang="en-US" altLang="en-US" sz="2400"/>
              <a:t>2 + 3 = 6</a:t>
            </a:r>
          </a:p>
          <a:p>
            <a:pPr eaLnBrk="1" hangingPunct="1">
              <a:buClr>
                <a:srgbClr val="FF0000"/>
              </a:buClr>
              <a:buSzPct val="150000"/>
            </a:pPr>
            <a:r>
              <a:rPr lang="en-US" altLang="en-US" sz="2400"/>
              <a:t>Oh dear!</a:t>
            </a:r>
          </a:p>
          <a:p>
            <a:pPr eaLnBrk="1" hangingPunct="1">
              <a:buClr>
                <a:srgbClr val="FF0000"/>
              </a:buClr>
              <a:buSzPct val="150000"/>
            </a:pPr>
            <a:r>
              <a:rPr lang="en-US" altLang="en-US" sz="2400"/>
              <a:t>‘Work’ has five letters.</a:t>
            </a:r>
          </a:p>
          <a:p>
            <a:pPr eaLnBrk="1" hangingPunct="1">
              <a:buClr>
                <a:srgbClr val="FF0000"/>
              </a:buClr>
              <a:buSzPct val="150000"/>
            </a:pPr>
            <a:r>
              <a:rPr lang="en-US" altLang="en-US" sz="2400"/>
              <a:t>the reactor is on</a:t>
            </a:r>
          </a:p>
          <a:p>
            <a:pPr eaLnBrk="1" hangingPunct="1">
              <a:buClr>
                <a:srgbClr val="FF0000"/>
              </a:buClr>
              <a:buSzPct val="150000"/>
            </a:pPr>
            <a:r>
              <a:rPr lang="en-US" altLang="en-US" sz="2000" i="1"/>
              <a:t>All </a:t>
            </a:r>
            <a:r>
              <a:rPr lang="en-US" altLang="en-US" sz="2000"/>
              <a:t>elephants have 4 legs</a:t>
            </a:r>
          </a:p>
          <a:p>
            <a:pPr eaLnBrk="1" hangingPunct="1">
              <a:buClr>
                <a:srgbClr val="FF0000"/>
              </a:buClr>
              <a:buSzPct val="150000"/>
            </a:pPr>
            <a:r>
              <a:rPr lang="en-US" altLang="en-US" sz="2000"/>
              <a:t>I like AI class</a:t>
            </a:r>
          </a:p>
          <a:p>
            <a:pPr eaLnBrk="1" hangingPunct="1">
              <a:buClr>
                <a:srgbClr val="FF0000"/>
              </a:buClr>
              <a:buSzPct val="150000"/>
            </a:pPr>
            <a:endParaRPr lang="en-US" altLang="en-US" sz="2400"/>
          </a:p>
          <a:p>
            <a:pPr eaLnBrk="1" hangingPunct="1">
              <a:buClr>
                <a:srgbClr val="FF0000"/>
              </a:buClr>
              <a:buSzPct val="150000"/>
            </a:pPr>
            <a:endParaRPr lang="en-US" altLang="en-US" sz="2400"/>
          </a:p>
          <a:p>
            <a:pPr eaLnBrk="1" hangingPunct="1">
              <a:buClr>
                <a:srgbClr val="FF0000"/>
              </a:buClr>
              <a:buSzPct val="150000"/>
            </a:pPr>
            <a:endParaRPr lang="en-US" altLang="en-US" sz="2400"/>
          </a:p>
        </p:txBody>
      </p:sp>
      <p:sp>
        <p:nvSpPr>
          <p:cNvPr id="12292" name="Rectangle 4"/>
          <p:cNvSpPr>
            <a:spLocks noChangeArrowheads="1"/>
          </p:cNvSpPr>
          <p:nvPr/>
        </p:nvSpPr>
        <p:spPr bwMode="auto">
          <a:xfrm>
            <a:off x="4495800" y="2057400"/>
            <a:ext cx="4495800" cy="213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buClr>
                <a:srgbClr val="FF0000"/>
              </a:buClr>
              <a:buSzPct val="150000"/>
              <a:buFont typeface="Wingdings" panose="05000000000000000000" pitchFamily="2" charset="2"/>
              <a:buNone/>
            </a:pPr>
            <a:endParaRPr lang="en-US" altLang="en-US" sz="2400"/>
          </a:p>
          <a:p>
            <a:pPr eaLnBrk="1" hangingPunct="1">
              <a:buClr>
                <a:srgbClr val="FF0000"/>
              </a:buClr>
              <a:buSzPct val="150000"/>
              <a:buFont typeface="Wingdings" panose="05000000000000000000" pitchFamily="2" charset="2"/>
              <a:buNone/>
            </a:pPr>
            <a:endParaRPr lang="en-US" altLang="en-US" sz="2400"/>
          </a:p>
        </p:txBody>
      </p:sp>
    </p:spTree>
    <p:extLst>
      <p:ext uri="{BB962C8B-B14F-4D97-AF65-F5344CB8AC3E}">
        <p14:creationId xmlns:p14="http://schemas.microsoft.com/office/powerpoint/2010/main" xmlns="" val="220304605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b="1">
                <a:solidFill>
                  <a:schemeClr val="tx1"/>
                </a:solidFill>
              </a:rPr>
              <a:t>Propositional Logic</a:t>
            </a:r>
            <a:endParaRPr lang="en-US" altLang="en-US">
              <a:solidFill>
                <a:schemeClr val="tx1"/>
              </a:solidFill>
            </a:endParaRPr>
          </a:p>
        </p:txBody>
      </p:sp>
      <p:sp>
        <p:nvSpPr>
          <p:cNvPr id="11267" name="Rectangle 3"/>
          <p:cNvSpPr>
            <a:spLocks noGrp="1" noChangeArrowheads="1"/>
          </p:cNvSpPr>
          <p:nvPr>
            <p:ph type="body" idx="1"/>
          </p:nvPr>
        </p:nvSpPr>
        <p:spPr>
          <a:xfrm>
            <a:off x="457200" y="1752600"/>
            <a:ext cx="8229600" cy="4525963"/>
          </a:xfrm>
        </p:spPr>
        <p:txBody>
          <a:bodyPr/>
          <a:lstStyle/>
          <a:p>
            <a:pPr eaLnBrk="1" hangingPunct="1">
              <a:buClr>
                <a:srgbClr val="FF0000"/>
              </a:buClr>
              <a:buSzPct val="150000"/>
            </a:pPr>
            <a:r>
              <a:rPr lang="en-US" altLang="en-US" dirty="0"/>
              <a:t>The </a:t>
            </a:r>
            <a:r>
              <a:rPr lang="en-US" altLang="en-US" dirty="0">
                <a:solidFill>
                  <a:srgbClr val="FF9933"/>
                </a:solidFill>
              </a:rPr>
              <a:t>syntax</a:t>
            </a:r>
            <a:r>
              <a:rPr lang="en-US" altLang="en-US" dirty="0"/>
              <a:t> of propositional logic is constructed from </a:t>
            </a:r>
            <a:r>
              <a:rPr lang="en-US" altLang="en-US" i="1" dirty="0">
                <a:solidFill>
                  <a:srgbClr val="FF9933"/>
                </a:solidFill>
              </a:rPr>
              <a:t>propositions </a:t>
            </a:r>
            <a:r>
              <a:rPr lang="en-US" altLang="en-US" dirty="0"/>
              <a:t>and </a:t>
            </a:r>
            <a:r>
              <a:rPr lang="en-US" altLang="en-US" i="1" dirty="0">
                <a:solidFill>
                  <a:srgbClr val="FF9933"/>
                </a:solidFill>
              </a:rPr>
              <a:t>connectives</a:t>
            </a:r>
            <a:r>
              <a:rPr lang="en-US" altLang="en-US" dirty="0"/>
              <a:t>.</a:t>
            </a:r>
          </a:p>
          <a:p>
            <a:pPr eaLnBrk="1" hangingPunct="1">
              <a:buClr>
                <a:srgbClr val="FF0000"/>
              </a:buClr>
              <a:buSzPct val="150000"/>
            </a:pPr>
            <a:r>
              <a:rPr lang="en-US" altLang="en-US" dirty="0"/>
              <a:t>A </a:t>
            </a:r>
            <a:r>
              <a:rPr lang="en-US" altLang="en-US" b="1" dirty="0">
                <a:solidFill>
                  <a:srgbClr val="FF9933"/>
                </a:solidFill>
              </a:rPr>
              <a:t>proposition</a:t>
            </a:r>
            <a:r>
              <a:rPr lang="en-US" altLang="en-US" b="1" dirty="0"/>
              <a:t> </a:t>
            </a:r>
            <a:r>
              <a:rPr lang="en-US" altLang="en-US" dirty="0"/>
              <a:t>is a statement that is either true or false but not </a:t>
            </a:r>
            <a:r>
              <a:rPr lang="en-US" altLang="en-US" i="1" dirty="0"/>
              <a:t>both</a:t>
            </a:r>
            <a:endParaRPr lang="en-US" altLang="en-US" dirty="0"/>
          </a:p>
          <a:p>
            <a:pPr eaLnBrk="1" hangingPunct="1">
              <a:buClr>
                <a:srgbClr val="FF0000"/>
              </a:buClr>
            </a:pPr>
            <a:endParaRPr lang="en-US" altLang="en-US" dirty="0"/>
          </a:p>
        </p:txBody>
      </p:sp>
    </p:spTree>
    <p:extLst>
      <p:ext uri="{BB962C8B-B14F-4D97-AF65-F5344CB8AC3E}">
        <p14:creationId xmlns:p14="http://schemas.microsoft.com/office/powerpoint/2010/main" xmlns="" val="6393652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a:bodyPr>
          <a:lstStyle/>
          <a:p>
            <a:r>
              <a:rPr lang="en-GB" b="1" dirty="0"/>
              <a:t>Propositional Logic</a:t>
            </a:r>
          </a:p>
        </p:txBody>
      </p:sp>
      <p:sp>
        <p:nvSpPr>
          <p:cNvPr id="8195" name="Rectangle 3"/>
          <p:cNvSpPr>
            <a:spLocks noGrp="1" noChangeArrowheads="1"/>
          </p:cNvSpPr>
          <p:nvPr>
            <p:ph type="body" idx="1"/>
          </p:nvPr>
        </p:nvSpPr>
        <p:spPr>
          <a:xfrm>
            <a:off x="685800" y="1814512"/>
            <a:ext cx="8001000" cy="4343400"/>
          </a:xfrm>
        </p:spPr>
        <p:txBody>
          <a:bodyPr>
            <a:normAutofit lnSpcReduction="10000"/>
          </a:bodyPr>
          <a:lstStyle/>
          <a:p>
            <a:r>
              <a:rPr lang="en-GB" dirty="0"/>
              <a:t>Syntax</a:t>
            </a:r>
          </a:p>
          <a:p>
            <a:pPr lvl="1"/>
            <a:r>
              <a:rPr lang="en-GB" dirty="0"/>
              <a:t>Propositions, e.g. “it is wet”</a:t>
            </a:r>
          </a:p>
          <a:p>
            <a:pPr lvl="1"/>
            <a:r>
              <a:rPr lang="en-GB" dirty="0"/>
              <a:t>Connectives: and, or, not, implies, </a:t>
            </a:r>
            <a:r>
              <a:rPr lang="en-GB" dirty="0" err="1"/>
              <a:t>iff</a:t>
            </a:r>
            <a:r>
              <a:rPr lang="en-GB" dirty="0"/>
              <a:t> (equivalent)</a:t>
            </a:r>
          </a:p>
          <a:p>
            <a:pPr lvl="1"/>
            <a:r>
              <a:rPr lang="en-GB" dirty="0"/>
              <a:t>Brackets, T (true) and F (false)</a:t>
            </a:r>
          </a:p>
          <a:p>
            <a:r>
              <a:rPr lang="en-GB" dirty="0"/>
              <a:t>Semantics (Classical AKA Boolean)</a:t>
            </a:r>
          </a:p>
          <a:p>
            <a:pPr lvl="1"/>
            <a:r>
              <a:rPr lang="en-GB" dirty="0"/>
              <a:t>Define how connectives affect truth</a:t>
            </a:r>
          </a:p>
          <a:p>
            <a:pPr lvl="2"/>
            <a:r>
              <a:rPr lang="en-GB" dirty="0"/>
              <a:t>“P and Q” is true if and only if P is true and Q is true</a:t>
            </a:r>
          </a:p>
          <a:p>
            <a:pPr lvl="1"/>
            <a:r>
              <a:rPr lang="en-GB" dirty="0"/>
              <a:t>Use </a:t>
            </a:r>
            <a:r>
              <a:rPr lang="en-GB" b="1" dirty="0"/>
              <a:t>truth tables</a:t>
            </a:r>
            <a:r>
              <a:rPr lang="en-GB" dirty="0"/>
              <a:t> to work out the truth of statements</a:t>
            </a:r>
          </a:p>
        </p:txBody>
      </p:sp>
      <p:pic>
        <p:nvPicPr>
          <p:cNvPr id="8213" name="Picture 2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778216" y="3829483"/>
            <a:ext cx="2223768" cy="31345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67700317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914400" y="277813"/>
            <a:ext cx="7772400" cy="715962"/>
          </a:xfrm>
        </p:spPr>
        <p:txBody>
          <a:bodyPr/>
          <a:lstStyle/>
          <a:p>
            <a:pPr eaLnBrk="1" hangingPunct="1"/>
            <a:r>
              <a:rPr lang="en-US" altLang="en-US" sz="3800" b="1">
                <a:solidFill>
                  <a:schemeClr val="tx1"/>
                </a:solidFill>
              </a:rPr>
              <a:t>How to determine Propositions??</a:t>
            </a:r>
            <a:endParaRPr lang="en-US" altLang="en-US" sz="3800">
              <a:solidFill>
                <a:schemeClr val="tx1"/>
              </a:solidFill>
            </a:endParaRPr>
          </a:p>
        </p:txBody>
      </p:sp>
      <p:sp>
        <p:nvSpPr>
          <p:cNvPr id="13315" name="Rectangle 3"/>
          <p:cNvSpPr>
            <a:spLocks noGrp="1" noChangeArrowheads="1"/>
          </p:cNvSpPr>
          <p:nvPr>
            <p:ph type="body" idx="1"/>
          </p:nvPr>
        </p:nvSpPr>
        <p:spPr>
          <a:xfrm>
            <a:off x="914400" y="1752600"/>
            <a:ext cx="8001000" cy="4495800"/>
          </a:xfrm>
        </p:spPr>
        <p:txBody>
          <a:bodyPr/>
          <a:lstStyle/>
          <a:p>
            <a:pPr eaLnBrk="1" hangingPunct="1">
              <a:lnSpc>
                <a:spcPct val="90000"/>
              </a:lnSpc>
              <a:buClr>
                <a:srgbClr val="FF0000"/>
              </a:buClr>
              <a:buSzPct val="150000"/>
            </a:pPr>
            <a:r>
              <a:rPr lang="en-US" altLang="en-US" sz="2600"/>
              <a:t>It is possible to determine whether any given statement is a proposition by prefixing it with</a:t>
            </a:r>
          </a:p>
          <a:p>
            <a:pPr eaLnBrk="1" hangingPunct="1">
              <a:lnSpc>
                <a:spcPct val="90000"/>
              </a:lnSpc>
              <a:buClr>
                <a:srgbClr val="FF0000"/>
              </a:buClr>
              <a:buSzPct val="150000"/>
              <a:buFont typeface="Wingdings" panose="05000000000000000000" pitchFamily="2" charset="2"/>
              <a:buNone/>
            </a:pPr>
            <a:r>
              <a:rPr lang="en-US" altLang="en-US" sz="2600" i="1"/>
              <a:t>			</a:t>
            </a:r>
            <a:r>
              <a:rPr lang="en-US" altLang="en-US" sz="2600" i="1">
                <a:solidFill>
                  <a:srgbClr val="FF9933"/>
                </a:solidFill>
              </a:rPr>
              <a:t>It is true that . . .</a:t>
            </a:r>
          </a:p>
          <a:p>
            <a:pPr eaLnBrk="1" hangingPunct="1">
              <a:lnSpc>
                <a:spcPct val="90000"/>
              </a:lnSpc>
              <a:buClr>
                <a:srgbClr val="FF0000"/>
              </a:buClr>
              <a:buSzPct val="150000"/>
              <a:buFont typeface="Wingdings" panose="05000000000000000000" pitchFamily="2" charset="2"/>
              <a:buNone/>
            </a:pPr>
            <a:r>
              <a:rPr lang="en-US" altLang="en-US" sz="2600"/>
              <a:t>	and seeing whether the result makes grammatical sense.</a:t>
            </a:r>
          </a:p>
          <a:p>
            <a:pPr eaLnBrk="1" hangingPunct="1">
              <a:lnSpc>
                <a:spcPct val="90000"/>
              </a:lnSpc>
              <a:buClr>
                <a:srgbClr val="FF0000"/>
              </a:buClr>
              <a:buSzPct val="150000"/>
            </a:pPr>
            <a:r>
              <a:rPr lang="en-US" altLang="en-US" sz="2600"/>
              <a:t>Propositions are often abbreviated using </a:t>
            </a:r>
            <a:r>
              <a:rPr lang="en-US" altLang="en-US" sz="2600" i="1"/>
              <a:t>propositional </a:t>
            </a:r>
            <a:r>
              <a:rPr lang="en-US" altLang="en-US" sz="2600" i="1">
                <a:solidFill>
                  <a:srgbClr val="FF9933"/>
                </a:solidFill>
              </a:rPr>
              <a:t>variables</a:t>
            </a:r>
            <a:r>
              <a:rPr lang="en-US" altLang="en-US" sz="2600" i="1"/>
              <a:t> </a:t>
            </a:r>
            <a:r>
              <a:rPr lang="en-US" altLang="en-US" sz="2600"/>
              <a:t>eg </a:t>
            </a:r>
            <a:r>
              <a:rPr lang="en-US" altLang="en-US" sz="2600" i="1">
                <a:latin typeface="Times New Roman" panose="02020603050405020304" pitchFamily="18" charset="0"/>
              </a:rPr>
              <a:t>p, q, r</a:t>
            </a:r>
            <a:r>
              <a:rPr lang="en-US" altLang="en-US" sz="2600"/>
              <a:t>.</a:t>
            </a:r>
          </a:p>
          <a:p>
            <a:pPr eaLnBrk="1" hangingPunct="1">
              <a:lnSpc>
                <a:spcPct val="90000"/>
              </a:lnSpc>
              <a:buClr>
                <a:srgbClr val="FF0000"/>
              </a:buClr>
              <a:buSzPct val="150000"/>
            </a:pPr>
            <a:r>
              <a:rPr lang="en-US" altLang="en-US" sz="2600"/>
              <a:t>Thus we must </a:t>
            </a:r>
            <a:r>
              <a:rPr lang="en-US" altLang="en-US" sz="2600">
                <a:solidFill>
                  <a:srgbClr val="FF9933"/>
                </a:solidFill>
              </a:rPr>
              <a:t>associate</a:t>
            </a:r>
            <a:r>
              <a:rPr lang="en-US" altLang="en-US" sz="2600"/>
              <a:t> the propositional variable with its meaning i.e.</a:t>
            </a:r>
          </a:p>
          <a:p>
            <a:pPr eaLnBrk="1" hangingPunct="1">
              <a:lnSpc>
                <a:spcPct val="90000"/>
              </a:lnSpc>
              <a:buSzPct val="150000"/>
              <a:buFont typeface="Wingdings" panose="05000000000000000000" pitchFamily="2" charset="2"/>
              <a:buNone/>
            </a:pPr>
            <a:r>
              <a:rPr lang="en-US" altLang="en-US" sz="2600"/>
              <a:t>		   	</a:t>
            </a:r>
            <a:r>
              <a:rPr lang="en-US" altLang="en-US" sz="2600">
                <a:solidFill>
                  <a:srgbClr val="FF9933"/>
                </a:solidFill>
              </a:rPr>
              <a:t>Let</a:t>
            </a:r>
            <a:r>
              <a:rPr lang="en-US" altLang="en-US" sz="2600"/>
              <a:t> </a:t>
            </a:r>
            <a:r>
              <a:rPr lang="en-US" altLang="en-US" sz="2600" i="1">
                <a:latin typeface="Times New Roman" panose="02020603050405020304" pitchFamily="18" charset="0"/>
              </a:rPr>
              <a:t>p</a:t>
            </a:r>
            <a:r>
              <a:rPr lang="en-US" altLang="en-US" sz="2600"/>
              <a:t> </a:t>
            </a:r>
            <a:r>
              <a:rPr lang="en-US" altLang="en-US" sz="2600">
                <a:solidFill>
                  <a:srgbClr val="FF9933"/>
                </a:solidFill>
              </a:rPr>
              <a:t>be</a:t>
            </a:r>
            <a:r>
              <a:rPr lang="en-US" altLang="en-US" sz="2600"/>
              <a:t> </a:t>
            </a:r>
            <a:r>
              <a:rPr lang="en-US" altLang="en-US" sz="2600" i="1"/>
              <a:t>Pak Lah is Prime Minister</a:t>
            </a:r>
            <a:r>
              <a:rPr lang="en-US" altLang="en-US" sz="2600"/>
              <a:t>.</a:t>
            </a:r>
          </a:p>
        </p:txBody>
      </p:sp>
    </p:spTree>
    <p:extLst>
      <p:ext uri="{BB962C8B-B14F-4D97-AF65-F5344CB8AC3E}">
        <p14:creationId xmlns:p14="http://schemas.microsoft.com/office/powerpoint/2010/main" xmlns="" val="45777149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828800" y="304800"/>
            <a:ext cx="4648200" cy="573088"/>
          </a:xfrm>
        </p:spPr>
        <p:txBody>
          <a:bodyPr>
            <a:normAutofit fontScale="90000"/>
          </a:bodyPr>
          <a:lstStyle/>
          <a:p>
            <a:pPr eaLnBrk="1" hangingPunct="1"/>
            <a:r>
              <a:rPr lang="en-US" altLang="en-US" sz="3800" b="1" dirty="0">
                <a:solidFill>
                  <a:schemeClr val="tx1"/>
                </a:solidFill>
              </a:rPr>
              <a:t>Connectives</a:t>
            </a:r>
            <a:endParaRPr lang="en-US" altLang="en-US" sz="3800" dirty="0">
              <a:solidFill>
                <a:schemeClr val="tx1"/>
              </a:solidFill>
            </a:endParaRPr>
          </a:p>
        </p:txBody>
      </p:sp>
      <p:sp>
        <p:nvSpPr>
          <p:cNvPr id="14339" name="Rectangle 3"/>
          <p:cNvSpPr>
            <a:spLocks noGrp="1" noChangeArrowheads="1"/>
          </p:cNvSpPr>
          <p:nvPr>
            <p:ph type="body" sz="half" idx="1"/>
          </p:nvPr>
        </p:nvSpPr>
        <p:spPr>
          <a:xfrm>
            <a:off x="1143000" y="1828800"/>
            <a:ext cx="7620000" cy="4114800"/>
          </a:xfrm>
        </p:spPr>
        <p:txBody>
          <a:bodyPr/>
          <a:lstStyle/>
          <a:p>
            <a:pPr eaLnBrk="1" hangingPunct="1">
              <a:lnSpc>
                <a:spcPct val="90000"/>
              </a:lnSpc>
              <a:buClr>
                <a:srgbClr val="FF0000"/>
              </a:buClr>
              <a:buSzPct val="150000"/>
            </a:pPr>
            <a:r>
              <a:rPr lang="en-US" altLang="en-US" sz="2200" dirty="0"/>
              <a:t>Propositions may be </a:t>
            </a:r>
            <a:r>
              <a:rPr lang="en-US" altLang="en-US" sz="2200" dirty="0">
                <a:solidFill>
                  <a:srgbClr val="FF9933"/>
                </a:solidFill>
              </a:rPr>
              <a:t>combined</a:t>
            </a:r>
            <a:r>
              <a:rPr lang="en-US" altLang="en-US" sz="2200" dirty="0"/>
              <a:t> with other propositions to form </a:t>
            </a:r>
            <a:r>
              <a:rPr lang="en-US" altLang="en-US" sz="2200" b="1" dirty="0">
                <a:solidFill>
                  <a:srgbClr val="FF9933"/>
                </a:solidFill>
              </a:rPr>
              <a:t>compound propositions</a:t>
            </a:r>
            <a:r>
              <a:rPr lang="en-US" altLang="en-US" sz="2200" dirty="0"/>
              <a:t>. These in turn may be combined into further propositions.</a:t>
            </a:r>
          </a:p>
          <a:p>
            <a:pPr eaLnBrk="1" hangingPunct="1">
              <a:lnSpc>
                <a:spcPct val="90000"/>
              </a:lnSpc>
              <a:buClr>
                <a:srgbClr val="FF0000"/>
              </a:buClr>
              <a:buSzPct val="150000"/>
            </a:pPr>
            <a:r>
              <a:rPr lang="en-US" altLang="en-US" sz="2200" dirty="0"/>
              <a:t>The connectives that may be used are</a:t>
            </a:r>
          </a:p>
          <a:p>
            <a:pPr eaLnBrk="1" hangingPunct="1">
              <a:lnSpc>
                <a:spcPct val="90000"/>
              </a:lnSpc>
              <a:buClr>
                <a:srgbClr val="FF0000"/>
              </a:buClr>
              <a:buSzPct val="150000"/>
              <a:buFont typeface="Wingdings" panose="05000000000000000000" pitchFamily="2" charset="2"/>
              <a:buNone/>
            </a:pPr>
            <a:r>
              <a:rPr lang="en-US" altLang="en-US" sz="2200" dirty="0"/>
              <a:t>		and 			conjunction (&amp; or .)</a:t>
            </a:r>
          </a:p>
          <a:p>
            <a:pPr eaLnBrk="1" hangingPunct="1">
              <a:lnSpc>
                <a:spcPct val="90000"/>
              </a:lnSpc>
              <a:buClr>
                <a:srgbClr val="FF0000"/>
              </a:buClr>
              <a:buSzPct val="150000"/>
              <a:buFont typeface="Wingdings" panose="05000000000000000000" pitchFamily="2" charset="2"/>
              <a:buNone/>
            </a:pPr>
            <a:r>
              <a:rPr lang="en-US" altLang="en-US" sz="2200" dirty="0"/>
              <a:t>		or 			disjunction (| or +)</a:t>
            </a:r>
          </a:p>
          <a:p>
            <a:pPr eaLnBrk="1" hangingPunct="1">
              <a:lnSpc>
                <a:spcPct val="90000"/>
              </a:lnSpc>
              <a:buClr>
                <a:srgbClr val="FF0000"/>
              </a:buClr>
              <a:buSzPct val="150000"/>
              <a:buFont typeface="Wingdings" panose="05000000000000000000" pitchFamily="2" charset="2"/>
              <a:buNone/>
            </a:pPr>
            <a:r>
              <a:rPr lang="en-US" altLang="en-US" sz="2200" dirty="0"/>
              <a:t>		not 			negation (~)</a:t>
            </a:r>
          </a:p>
          <a:p>
            <a:pPr eaLnBrk="1" hangingPunct="1">
              <a:lnSpc>
                <a:spcPct val="90000"/>
              </a:lnSpc>
              <a:buClr>
                <a:srgbClr val="FF0000"/>
              </a:buClr>
              <a:buSzPct val="150000"/>
              <a:buFont typeface="Wingdings" panose="05000000000000000000" pitchFamily="2" charset="2"/>
              <a:buNone/>
            </a:pPr>
            <a:r>
              <a:rPr lang="en-US" altLang="en-US" sz="2200" dirty="0"/>
              <a:t>		if . . .then	 	implication (        )</a:t>
            </a:r>
          </a:p>
          <a:p>
            <a:pPr eaLnBrk="1" hangingPunct="1">
              <a:lnSpc>
                <a:spcPct val="90000"/>
              </a:lnSpc>
              <a:buClr>
                <a:srgbClr val="FF0000"/>
              </a:buClr>
              <a:buSzPct val="150000"/>
              <a:buFont typeface="Wingdings" panose="05000000000000000000" pitchFamily="2" charset="2"/>
              <a:buNone/>
            </a:pPr>
            <a:r>
              <a:rPr lang="en-US" altLang="en-US" sz="2200" dirty="0"/>
              <a:t>		if and only if 	              equivalence (           )</a:t>
            </a:r>
          </a:p>
          <a:p>
            <a:pPr eaLnBrk="1" hangingPunct="1">
              <a:lnSpc>
                <a:spcPct val="90000"/>
              </a:lnSpc>
              <a:buClr>
                <a:srgbClr val="FF0000"/>
              </a:buClr>
              <a:buSzPct val="150000"/>
            </a:pPr>
            <a:r>
              <a:rPr lang="en-US" altLang="en-US" sz="2200" dirty="0"/>
              <a:t>Some books use different notations. Some of these are given in parentheses.</a:t>
            </a:r>
          </a:p>
          <a:p>
            <a:pPr eaLnBrk="1" hangingPunct="1">
              <a:lnSpc>
                <a:spcPct val="90000"/>
              </a:lnSpc>
            </a:pPr>
            <a:endParaRPr lang="en-US" altLang="en-US" sz="2200" dirty="0"/>
          </a:p>
        </p:txBody>
      </p:sp>
      <p:pic>
        <p:nvPicPr>
          <p:cNvPr id="14340" name="Picture 4"/>
          <p:cNvPicPr>
            <a:picLocks noGrp="1" noChangeAspect="1" noChangeArrowheads="1"/>
          </p:cNvPicPr>
          <p:nvPr>
            <p:ph sz="quarter" idx="2"/>
          </p:nvPr>
        </p:nvPicPr>
        <p:blipFill>
          <a:blip r:embed="rId2" cstate="print">
            <a:extLst>
              <a:ext uri="{28A0092B-C50C-407E-A947-70E740481C1C}">
                <a14:useLocalDpi xmlns:a14="http://schemas.microsoft.com/office/drawing/2010/main" xmlns="" val="0"/>
              </a:ext>
            </a:extLst>
          </a:blip>
          <a:srcRect/>
          <a:stretch>
            <a:fillRect/>
          </a:stretch>
        </p:blipFill>
        <p:spPr>
          <a:xfrm>
            <a:off x="1371600" y="3352800"/>
            <a:ext cx="366713" cy="279400"/>
          </a:xfrm>
          <a:noFill/>
        </p:spPr>
      </p:pic>
      <p:pic>
        <p:nvPicPr>
          <p:cNvPr id="14341" name="Picture 6"/>
          <p:cNvPicPr>
            <a:picLocks noGrp="1" noChangeAspect="1" noChangeArrowheads="1"/>
          </p:cNvPicPr>
          <p:nvPr>
            <p:ph sz="quarter" idx="3"/>
          </p:nvPr>
        </p:nvPicPr>
        <p:blipFill>
          <a:blip r:embed="rId3" cstate="print">
            <a:extLst>
              <a:ext uri="{28A0092B-C50C-407E-A947-70E740481C1C}">
                <a14:useLocalDpi xmlns:a14="http://schemas.microsoft.com/office/drawing/2010/main" xmlns="" val="0"/>
              </a:ext>
            </a:extLst>
          </a:blip>
          <a:srcRect/>
          <a:stretch>
            <a:fillRect/>
          </a:stretch>
        </p:blipFill>
        <p:spPr>
          <a:xfrm>
            <a:off x="1447800" y="3657600"/>
            <a:ext cx="334963" cy="347663"/>
          </a:xfrm>
          <a:noFill/>
        </p:spPr>
      </p:pic>
      <p:pic>
        <p:nvPicPr>
          <p:cNvPr id="14342" name="Picture 8"/>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371600" y="4038600"/>
            <a:ext cx="452438" cy="2968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4343" name="Picture 9"/>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1447800" y="4419600"/>
            <a:ext cx="419100" cy="2555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4344" name="Picture 10"/>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6395059" y="4724400"/>
            <a:ext cx="550863"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4345" name="Picture 11"/>
          <p:cNvPicPr>
            <a:picLocks noChangeAspect="1" noChangeArrowheads="1"/>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6400800" y="4419600"/>
            <a:ext cx="287338" cy="214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4346" name="Picture 12"/>
          <p:cNvPicPr>
            <a:picLocks noChangeAspect="1" noChangeArrowheads="1"/>
          </p:cNvPicPr>
          <p:nvPr/>
        </p:nvPicPr>
        <p:blipFill>
          <a:blip r:embed="rId8" cstate="print">
            <a:extLst>
              <a:ext uri="{28A0092B-C50C-407E-A947-70E740481C1C}">
                <a14:useLocalDpi xmlns:a14="http://schemas.microsoft.com/office/drawing/2010/main" xmlns="" val="0"/>
              </a:ext>
            </a:extLst>
          </a:blip>
          <a:srcRect/>
          <a:stretch>
            <a:fillRect/>
          </a:stretch>
        </p:blipFill>
        <p:spPr bwMode="auto">
          <a:xfrm>
            <a:off x="1524000" y="4724400"/>
            <a:ext cx="287338"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418300183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b="1">
                <a:solidFill>
                  <a:schemeClr val="tx1"/>
                </a:solidFill>
              </a:rPr>
              <a:t>Propositional Logic: Syntax</a:t>
            </a:r>
            <a:endParaRPr lang="en-US" altLang="en-US">
              <a:solidFill>
                <a:schemeClr val="tx1"/>
              </a:solidFill>
            </a:endParaRPr>
          </a:p>
        </p:txBody>
      </p:sp>
      <p:sp>
        <p:nvSpPr>
          <p:cNvPr id="15363" name="Rectangle 3"/>
          <p:cNvSpPr>
            <a:spLocks noGrp="1" noChangeArrowheads="1"/>
          </p:cNvSpPr>
          <p:nvPr>
            <p:ph type="body" sz="half" idx="1"/>
          </p:nvPr>
        </p:nvSpPr>
        <p:spPr>
          <a:xfrm>
            <a:off x="762000" y="1828800"/>
            <a:ext cx="8001000" cy="3657600"/>
          </a:xfrm>
        </p:spPr>
        <p:txBody>
          <a:bodyPr/>
          <a:lstStyle/>
          <a:p>
            <a:pPr eaLnBrk="1" hangingPunct="1">
              <a:buClr>
                <a:srgbClr val="FF0000"/>
              </a:buClr>
              <a:buSzPct val="150000"/>
            </a:pPr>
            <a:r>
              <a:rPr lang="en-US" altLang="en-US" sz="2000" dirty="0"/>
              <a:t>The proposition </a:t>
            </a:r>
            <a:r>
              <a:rPr lang="en-US" altLang="en-US" sz="2000" dirty="0">
                <a:solidFill>
                  <a:srgbClr val="FF9933"/>
                </a:solidFill>
              </a:rPr>
              <a:t>symbols</a:t>
            </a:r>
            <a:r>
              <a:rPr lang="en-US" altLang="en-US" sz="2000" dirty="0"/>
              <a:t> </a:t>
            </a:r>
            <a:r>
              <a:rPr lang="en-US" altLang="en-US" sz="2000" i="1" dirty="0">
                <a:latin typeface="Times New Roman" panose="02020603050405020304" pitchFamily="18" charset="0"/>
              </a:rPr>
              <a:t>P1, P2</a:t>
            </a:r>
            <a:r>
              <a:rPr lang="en-US" altLang="en-US" sz="2000" dirty="0"/>
              <a:t> </a:t>
            </a:r>
            <a:r>
              <a:rPr lang="en-US" altLang="en-US" sz="2000" dirty="0" err="1"/>
              <a:t>etc</a:t>
            </a:r>
            <a:r>
              <a:rPr lang="en-US" altLang="en-US" sz="2000" dirty="0"/>
              <a:t> are sentences</a:t>
            </a:r>
          </a:p>
          <a:p>
            <a:pPr eaLnBrk="1" hangingPunct="1">
              <a:buClr>
                <a:srgbClr val="FF0000"/>
              </a:buClr>
              <a:buSzPct val="150000"/>
            </a:pPr>
            <a:r>
              <a:rPr lang="en-US" altLang="en-US" sz="2000" dirty="0"/>
              <a:t>If </a:t>
            </a:r>
            <a:r>
              <a:rPr lang="en-US" altLang="en-US" sz="2000" i="1" dirty="0">
                <a:latin typeface="Times New Roman" panose="02020603050405020304" pitchFamily="18" charset="0"/>
              </a:rPr>
              <a:t>S</a:t>
            </a:r>
            <a:r>
              <a:rPr lang="en-US" altLang="en-US" sz="2000" dirty="0"/>
              <a:t> is a sentence,        </a:t>
            </a:r>
            <a:r>
              <a:rPr lang="en-US" altLang="en-US" sz="2000" i="1" dirty="0">
                <a:latin typeface="Times New Roman" panose="02020603050405020304" pitchFamily="18" charset="0"/>
              </a:rPr>
              <a:t>S</a:t>
            </a:r>
            <a:r>
              <a:rPr lang="en-US" altLang="en-US" sz="2000" dirty="0"/>
              <a:t> is a sentence (</a:t>
            </a:r>
            <a:r>
              <a:rPr lang="en-US" altLang="en-US" sz="2000" i="1" dirty="0"/>
              <a:t>negation</a:t>
            </a:r>
            <a:r>
              <a:rPr lang="en-US" altLang="en-US" sz="2000" dirty="0"/>
              <a:t>)</a:t>
            </a:r>
          </a:p>
          <a:p>
            <a:pPr eaLnBrk="1" hangingPunct="1">
              <a:buClr>
                <a:srgbClr val="FF0000"/>
              </a:buClr>
              <a:buSzPct val="150000"/>
            </a:pPr>
            <a:r>
              <a:rPr lang="en-US" altLang="en-US" sz="2000" dirty="0"/>
              <a:t>If </a:t>
            </a:r>
            <a:r>
              <a:rPr lang="en-US" altLang="en-US" sz="2000" i="1" dirty="0">
                <a:latin typeface="Times New Roman" panose="02020603050405020304" pitchFamily="18" charset="0"/>
              </a:rPr>
              <a:t>S</a:t>
            </a:r>
            <a:r>
              <a:rPr lang="en-US" altLang="en-US" sz="2000" i="1" baseline="-25000" dirty="0">
                <a:latin typeface="Times New Roman" panose="02020603050405020304" pitchFamily="18" charset="0"/>
              </a:rPr>
              <a:t>1</a:t>
            </a:r>
            <a:r>
              <a:rPr lang="en-US" altLang="en-US" sz="2000" dirty="0"/>
              <a:t> and </a:t>
            </a:r>
            <a:r>
              <a:rPr lang="en-US" altLang="en-US" sz="2000" i="1" dirty="0">
                <a:latin typeface="Times New Roman" panose="02020603050405020304" pitchFamily="18" charset="0"/>
              </a:rPr>
              <a:t>S</a:t>
            </a:r>
            <a:r>
              <a:rPr lang="en-US" altLang="en-US" sz="2000" i="1" baseline="-25000" dirty="0">
                <a:latin typeface="Times New Roman" panose="02020603050405020304" pitchFamily="18" charset="0"/>
              </a:rPr>
              <a:t>2</a:t>
            </a:r>
            <a:r>
              <a:rPr lang="en-US" altLang="en-US" sz="2000" dirty="0"/>
              <a:t> are sentences, </a:t>
            </a:r>
            <a:r>
              <a:rPr lang="en-US" altLang="en-US" sz="2000" i="1" dirty="0">
                <a:latin typeface="Times New Roman" panose="02020603050405020304" pitchFamily="18" charset="0"/>
              </a:rPr>
              <a:t>S</a:t>
            </a:r>
            <a:r>
              <a:rPr lang="en-US" altLang="en-US" sz="2000" i="1" baseline="-25000" dirty="0">
                <a:latin typeface="Times New Roman" panose="02020603050405020304" pitchFamily="18" charset="0"/>
              </a:rPr>
              <a:t>1</a:t>
            </a:r>
            <a:r>
              <a:rPr lang="en-US" altLang="en-US" sz="2000" dirty="0"/>
              <a:t>        </a:t>
            </a:r>
            <a:r>
              <a:rPr lang="en-US" altLang="en-US" sz="2000" i="1" dirty="0">
                <a:latin typeface="Times New Roman" panose="02020603050405020304" pitchFamily="18" charset="0"/>
              </a:rPr>
              <a:t>S</a:t>
            </a:r>
            <a:r>
              <a:rPr lang="en-US" altLang="en-US" sz="2000" i="1" baseline="-25000" dirty="0">
                <a:latin typeface="Times New Roman" panose="02020603050405020304" pitchFamily="18" charset="0"/>
              </a:rPr>
              <a:t>2  </a:t>
            </a:r>
            <a:r>
              <a:rPr lang="en-US" altLang="en-US" sz="2000" dirty="0"/>
              <a:t>is a sentence (</a:t>
            </a:r>
            <a:r>
              <a:rPr lang="en-US" altLang="en-US" sz="2000" i="1" dirty="0"/>
              <a:t>conjunction</a:t>
            </a:r>
            <a:r>
              <a:rPr lang="en-US" altLang="en-US" sz="2000" dirty="0"/>
              <a:t>)</a:t>
            </a:r>
          </a:p>
          <a:p>
            <a:pPr eaLnBrk="1" hangingPunct="1">
              <a:buClr>
                <a:srgbClr val="FF0000"/>
              </a:buClr>
              <a:buSzPct val="150000"/>
            </a:pPr>
            <a:r>
              <a:rPr lang="en-US" altLang="en-US" sz="2000" dirty="0"/>
              <a:t>If </a:t>
            </a:r>
            <a:r>
              <a:rPr lang="en-US" altLang="en-US" sz="2000" i="1" dirty="0">
                <a:latin typeface="Times New Roman" panose="02020603050405020304" pitchFamily="18" charset="0"/>
              </a:rPr>
              <a:t>S</a:t>
            </a:r>
            <a:r>
              <a:rPr lang="en-US" altLang="en-US" sz="2000" i="1" baseline="-25000" dirty="0">
                <a:latin typeface="Times New Roman" panose="02020603050405020304" pitchFamily="18" charset="0"/>
              </a:rPr>
              <a:t>1</a:t>
            </a:r>
            <a:r>
              <a:rPr lang="en-US" altLang="en-US" sz="2000" dirty="0"/>
              <a:t> and </a:t>
            </a:r>
            <a:r>
              <a:rPr lang="en-US" altLang="en-US" sz="2000" i="1" dirty="0">
                <a:latin typeface="Times New Roman" panose="02020603050405020304" pitchFamily="18" charset="0"/>
              </a:rPr>
              <a:t>S</a:t>
            </a:r>
            <a:r>
              <a:rPr lang="en-US" altLang="en-US" sz="2000" i="1" baseline="-25000" dirty="0">
                <a:latin typeface="Times New Roman" panose="02020603050405020304" pitchFamily="18" charset="0"/>
              </a:rPr>
              <a:t>2</a:t>
            </a:r>
            <a:r>
              <a:rPr lang="en-US" altLang="en-US" sz="2000" dirty="0"/>
              <a:t> are sentences, </a:t>
            </a:r>
            <a:r>
              <a:rPr lang="en-US" altLang="en-US" sz="2000" i="1" dirty="0">
                <a:latin typeface="Times New Roman" panose="02020603050405020304" pitchFamily="18" charset="0"/>
              </a:rPr>
              <a:t>S</a:t>
            </a:r>
            <a:r>
              <a:rPr lang="en-US" altLang="en-US" sz="2000" i="1" baseline="-25000" dirty="0">
                <a:latin typeface="Times New Roman" panose="02020603050405020304" pitchFamily="18" charset="0"/>
              </a:rPr>
              <a:t>1</a:t>
            </a:r>
            <a:r>
              <a:rPr lang="en-US" altLang="en-US" sz="2000" dirty="0"/>
              <a:t>        </a:t>
            </a:r>
            <a:r>
              <a:rPr lang="en-US" altLang="en-US" sz="2000" i="1" dirty="0">
                <a:latin typeface="Times New Roman" panose="02020603050405020304" pitchFamily="18" charset="0"/>
              </a:rPr>
              <a:t>S</a:t>
            </a:r>
            <a:r>
              <a:rPr lang="en-US" altLang="en-US" sz="2000" i="1" baseline="-25000" dirty="0">
                <a:latin typeface="Times New Roman" panose="02020603050405020304" pitchFamily="18" charset="0"/>
              </a:rPr>
              <a:t>2</a:t>
            </a:r>
            <a:r>
              <a:rPr lang="en-US" altLang="en-US" sz="2000" dirty="0"/>
              <a:t> is a sentence (</a:t>
            </a:r>
            <a:r>
              <a:rPr lang="en-US" altLang="en-US" sz="2000" i="1" dirty="0"/>
              <a:t>disjunction</a:t>
            </a:r>
            <a:r>
              <a:rPr lang="en-US" altLang="en-US" sz="2000" dirty="0"/>
              <a:t>)</a:t>
            </a:r>
          </a:p>
          <a:p>
            <a:pPr eaLnBrk="1" hangingPunct="1">
              <a:buClr>
                <a:srgbClr val="FF0000"/>
              </a:buClr>
              <a:buSzPct val="150000"/>
            </a:pPr>
            <a:r>
              <a:rPr lang="en-US" altLang="en-US" sz="2000" dirty="0"/>
              <a:t>If </a:t>
            </a:r>
            <a:r>
              <a:rPr lang="en-US" altLang="en-US" sz="2000" i="1" dirty="0">
                <a:latin typeface="Times New Roman" panose="02020603050405020304" pitchFamily="18" charset="0"/>
              </a:rPr>
              <a:t>S</a:t>
            </a:r>
            <a:r>
              <a:rPr lang="en-US" altLang="en-US" sz="2000" i="1" baseline="-25000" dirty="0">
                <a:latin typeface="Times New Roman" panose="02020603050405020304" pitchFamily="18" charset="0"/>
              </a:rPr>
              <a:t>1</a:t>
            </a:r>
            <a:r>
              <a:rPr lang="en-US" altLang="en-US" sz="2000" dirty="0"/>
              <a:t> and </a:t>
            </a:r>
            <a:r>
              <a:rPr lang="en-US" altLang="en-US" sz="2000" i="1" dirty="0">
                <a:latin typeface="Times New Roman" panose="02020603050405020304" pitchFamily="18" charset="0"/>
              </a:rPr>
              <a:t>S</a:t>
            </a:r>
            <a:r>
              <a:rPr lang="en-US" altLang="en-US" sz="2000" i="1" baseline="-25000" dirty="0">
                <a:latin typeface="Times New Roman" panose="02020603050405020304" pitchFamily="18" charset="0"/>
              </a:rPr>
              <a:t>2</a:t>
            </a:r>
            <a:r>
              <a:rPr lang="en-US" altLang="en-US" sz="2000" dirty="0"/>
              <a:t> are sentences, </a:t>
            </a:r>
            <a:r>
              <a:rPr lang="en-US" altLang="en-US" sz="2000" i="1" dirty="0">
                <a:latin typeface="Times New Roman" panose="02020603050405020304" pitchFamily="18" charset="0"/>
              </a:rPr>
              <a:t>S</a:t>
            </a:r>
            <a:r>
              <a:rPr lang="en-US" altLang="en-US" sz="2000" i="1" baseline="-25000" dirty="0">
                <a:latin typeface="Times New Roman" panose="02020603050405020304" pitchFamily="18" charset="0"/>
              </a:rPr>
              <a:t>1</a:t>
            </a:r>
            <a:r>
              <a:rPr lang="en-US" altLang="en-US" sz="2000" dirty="0"/>
              <a:t>        </a:t>
            </a:r>
            <a:r>
              <a:rPr lang="en-US" altLang="en-US" sz="2000" i="1" dirty="0">
                <a:latin typeface="Times New Roman" panose="02020603050405020304" pitchFamily="18" charset="0"/>
              </a:rPr>
              <a:t>S</a:t>
            </a:r>
            <a:r>
              <a:rPr lang="en-US" altLang="en-US" sz="2000" i="1" baseline="-25000" dirty="0">
                <a:latin typeface="Times New Roman" panose="02020603050405020304" pitchFamily="18" charset="0"/>
              </a:rPr>
              <a:t>2</a:t>
            </a:r>
            <a:r>
              <a:rPr lang="en-US" altLang="en-US" sz="2000" dirty="0"/>
              <a:t> is a sentence (</a:t>
            </a:r>
            <a:r>
              <a:rPr lang="en-US" altLang="en-US" sz="2000" i="1" dirty="0"/>
              <a:t>implication</a:t>
            </a:r>
            <a:r>
              <a:rPr lang="en-US" altLang="en-US" sz="2000" dirty="0"/>
              <a:t>)</a:t>
            </a:r>
          </a:p>
          <a:p>
            <a:pPr eaLnBrk="1" hangingPunct="1">
              <a:buClr>
                <a:srgbClr val="FF0000"/>
              </a:buClr>
              <a:buSzPct val="150000"/>
            </a:pPr>
            <a:r>
              <a:rPr lang="en-US" altLang="en-US" sz="2000" dirty="0"/>
              <a:t>If </a:t>
            </a:r>
            <a:r>
              <a:rPr lang="en-US" altLang="en-US" sz="2000" i="1" dirty="0">
                <a:latin typeface="Times New Roman" panose="02020603050405020304" pitchFamily="18" charset="0"/>
              </a:rPr>
              <a:t>S</a:t>
            </a:r>
            <a:r>
              <a:rPr lang="en-US" altLang="en-US" sz="2000" i="1" baseline="-25000" dirty="0">
                <a:latin typeface="Times New Roman" panose="02020603050405020304" pitchFamily="18" charset="0"/>
              </a:rPr>
              <a:t>1</a:t>
            </a:r>
            <a:r>
              <a:rPr lang="en-US" altLang="en-US" sz="2000" dirty="0"/>
              <a:t> and </a:t>
            </a:r>
            <a:r>
              <a:rPr lang="en-US" altLang="en-US" sz="2000" i="1" dirty="0">
                <a:latin typeface="Times New Roman" panose="02020603050405020304" pitchFamily="18" charset="0"/>
              </a:rPr>
              <a:t>S</a:t>
            </a:r>
            <a:r>
              <a:rPr lang="en-US" altLang="en-US" sz="2000" i="1" baseline="-25000" dirty="0">
                <a:latin typeface="Times New Roman" panose="02020603050405020304" pitchFamily="18" charset="0"/>
              </a:rPr>
              <a:t>2</a:t>
            </a:r>
            <a:r>
              <a:rPr lang="en-US" altLang="en-US" sz="2000" dirty="0"/>
              <a:t> are sentences, </a:t>
            </a:r>
            <a:r>
              <a:rPr lang="en-US" altLang="en-US" sz="2000" i="1" dirty="0">
                <a:latin typeface="Times New Roman" panose="02020603050405020304" pitchFamily="18" charset="0"/>
              </a:rPr>
              <a:t>S</a:t>
            </a:r>
            <a:r>
              <a:rPr lang="en-US" altLang="en-US" sz="2000" i="1" baseline="-25000" dirty="0">
                <a:latin typeface="Times New Roman" panose="02020603050405020304" pitchFamily="18" charset="0"/>
              </a:rPr>
              <a:t>1</a:t>
            </a:r>
            <a:r>
              <a:rPr lang="en-US" altLang="en-US" sz="2000" dirty="0"/>
              <a:t>          </a:t>
            </a:r>
            <a:r>
              <a:rPr lang="en-US" altLang="en-US" sz="2000" i="1" dirty="0">
                <a:latin typeface="Times New Roman" panose="02020603050405020304" pitchFamily="18" charset="0"/>
              </a:rPr>
              <a:t>S</a:t>
            </a:r>
            <a:r>
              <a:rPr lang="en-US" altLang="en-US" sz="2000" i="1" baseline="-25000" dirty="0">
                <a:latin typeface="Times New Roman" panose="02020603050405020304" pitchFamily="18" charset="0"/>
              </a:rPr>
              <a:t>2</a:t>
            </a:r>
            <a:r>
              <a:rPr lang="en-US" altLang="en-US" sz="2000" dirty="0"/>
              <a:t> is a sentence (</a:t>
            </a:r>
            <a:r>
              <a:rPr lang="en-US" altLang="en-US" sz="2000" i="1" dirty="0"/>
              <a:t>equivalence</a:t>
            </a:r>
            <a:r>
              <a:rPr lang="en-US" altLang="en-US" sz="2000" dirty="0"/>
              <a:t>)</a:t>
            </a:r>
          </a:p>
        </p:txBody>
      </p:sp>
      <p:pic>
        <p:nvPicPr>
          <p:cNvPr id="15364" name="Picture 4"/>
          <p:cNvPicPr>
            <a:picLocks noGrp="1" noChangeAspect="1" noChangeArrowheads="1"/>
          </p:cNvPicPr>
          <p:nvPr>
            <p:ph sz="quarter" idx="2"/>
          </p:nvPr>
        </p:nvPicPr>
        <p:blipFill>
          <a:blip r:embed="rId2" cstate="print">
            <a:extLst>
              <a:ext uri="{28A0092B-C50C-407E-A947-70E740481C1C}">
                <a14:useLocalDpi xmlns:a14="http://schemas.microsoft.com/office/drawing/2010/main" xmlns="" val="0"/>
              </a:ext>
            </a:extLst>
          </a:blip>
          <a:srcRect/>
          <a:stretch>
            <a:fillRect/>
          </a:stretch>
        </p:blipFill>
        <p:spPr>
          <a:xfrm>
            <a:off x="2995240" y="2209800"/>
            <a:ext cx="431800" cy="300038"/>
          </a:xfrm>
          <a:noFill/>
        </p:spPr>
      </p:pic>
      <p:pic>
        <p:nvPicPr>
          <p:cNvPr id="15365" name="Picture 6"/>
          <p:cNvPicPr>
            <a:picLocks noGrp="1" noChangeAspect="1" noChangeArrowheads="1"/>
          </p:cNvPicPr>
          <p:nvPr>
            <p:ph sz="quarter" idx="3"/>
          </p:nvPr>
        </p:nvPicPr>
        <p:blipFill>
          <a:blip r:embed="rId3" cstate="print">
            <a:extLst>
              <a:ext uri="{28A0092B-C50C-407E-A947-70E740481C1C}">
                <a14:useLocalDpi xmlns:a14="http://schemas.microsoft.com/office/drawing/2010/main" xmlns="" val="0"/>
              </a:ext>
            </a:extLst>
          </a:blip>
          <a:srcRect/>
          <a:stretch>
            <a:fillRect/>
          </a:stretch>
        </p:blipFill>
        <p:spPr>
          <a:xfrm>
            <a:off x="4234368" y="2971800"/>
            <a:ext cx="334963" cy="346075"/>
          </a:xfrm>
          <a:noFill/>
        </p:spPr>
      </p:pic>
      <p:pic>
        <p:nvPicPr>
          <p:cNvPr id="15366" name="Picture 8"/>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200372" y="2628900"/>
            <a:ext cx="387350" cy="279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5367" name="Picture 9"/>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4200372" y="3352800"/>
            <a:ext cx="419100" cy="2555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5368" name="Picture 10"/>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4152308" y="3733800"/>
            <a:ext cx="550863" cy="320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47279323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914400" y="277813"/>
            <a:ext cx="7772400" cy="869950"/>
          </a:xfrm>
        </p:spPr>
        <p:txBody>
          <a:bodyPr/>
          <a:lstStyle/>
          <a:p>
            <a:pPr eaLnBrk="1" hangingPunct="1"/>
            <a:r>
              <a:rPr lang="en-US" altLang="en-US" sz="3800" b="1">
                <a:solidFill>
                  <a:schemeClr val="tx1"/>
                </a:solidFill>
              </a:rPr>
              <a:t>Propositional Logic: Semantic</a:t>
            </a:r>
            <a:endParaRPr lang="en-US" altLang="en-US" sz="3800">
              <a:solidFill>
                <a:schemeClr val="tx1"/>
              </a:solidFill>
            </a:endParaRPr>
          </a:p>
        </p:txBody>
      </p:sp>
      <p:sp>
        <p:nvSpPr>
          <p:cNvPr id="16387" name="Rectangle 3"/>
          <p:cNvSpPr>
            <a:spLocks noGrp="1" noChangeArrowheads="1"/>
          </p:cNvSpPr>
          <p:nvPr>
            <p:ph type="body" idx="1"/>
          </p:nvPr>
        </p:nvSpPr>
        <p:spPr>
          <a:xfrm>
            <a:off x="838200" y="1676400"/>
            <a:ext cx="8077200" cy="4800600"/>
          </a:xfrm>
        </p:spPr>
        <p:txBody>
          <a:bodyPr/>
          <a:lstStyle/>
          <a:p>
            <a:pPr eaLnBrk="1" hangingPunct="1">
              <a:buFont typeface="Wingdings" panose="05000000000000000000" pitchFamily="2" charset="2"/>
              <a:buNone/>
            </a:pPr>
            <a:r>
              <a:rPr lang="en-US" altLang="en-US"/>
              <a:t>	Each model species </a:t>
            </a:r>
            <a:r>
              <a:rPr lang="en-US" altLang="en-US">
                <a:solidFill>
                  <a:srgbClr val="FF9933"/>
                </a:solidFill>
              </a:rPr>
              <a:t>true/false</a:t>
            </a:r>
            <a:r>
              <a:rPr lang="en-US" altLang="en-US"/>
              <a:t> for each proposition symbol</a:t>
            </a:r>
          </a:p>
          <a:p>
            <a:pPr eaLnBrk="1" hangingPunct="1">
              <a:buFont typeface="Wingdings" panose="05000000000000000000" pitchFamily="2" charset="2"/>
              <a:buNone/>
            </a:pPr>
            <a:r>
              <a:rPr lang="en-US" altLang="en-US"/>
              <a:t>	E.g. 	  </a:t>
            </a:r>
            <a:r>
              <a:rPr lang="en-US" altLang="en-US" i="1">
                <a:latin typeface="Times New Roman" panose="02020603050405020304" pitchFamily="18" charset="0"/>
              </a:rPr>
              <a:t>P 	   Q 	     R</a:t>
            </a:r>
          </a:p>
          <a:p>
            <a:pPr eaLnBrk="1" hangingPunct="1">
              <a:buFont typeface="Wingdings" panose="05000000000000000000" pitchFamily="2" charset="2"/>
              <a:buNone/>
            </a:pPr>
            <a:r>
              <a:rPr lang="en-US" altLang="en-US"/>
              <a:t>		       </a:t>
            </a:r>
            <a:r>
              <a:rPr lang="en-US" altLang="en-US" i="1">
                <a:latin typeface="Times New Roman" panose="02020603050405020304" pitchFamily="18" charset="0"/>
              </a:rPr>
              <a:t>true    true     false</a:t>
            </a:r>
          </a:p>
          <a:p>
            <a:pPr eaLnBrk="1" hangingPunct="1">
              <a:buFont typeface="Wingdings" panose="05000000000000000000" pitchFamily="2" charset="2"/>
              <a:buNone/>
            </a:pPr>
            <a:r>
              <a:rPr lang="en-US" altLang="en-US"/>
              <a:t>	(With these symbols, </a:t>
            </a:r>
            <a:r>
              <a:rPr lang="en-US" altLang="en-US">
                <a:solidFill>
                  <a:srgbClr val="FF9933"/>
                </a:solidFill>
              </a:rPr>
              <a:t>8 </a:t>
            </a:r>
            <a:r>
              <a:rPr lang="en-US" altLang="en-US"/>
              <a:t>possible models, can be enumerated automatically.)</a:t>
            </a:r>
          </a:p>
          <a:p>
            <a:pPr eaLnBrk="1" hangingPunct="1">
              <a:buFont typeface="Wingdings" panose="05000000000000000000" pitchFamily="2" charset="2"/>
              <a:buNone/>
            </a:pPr>
            <a:r>
              <a:rPr lang="en-US" altLang="en-US"/>
              <a:t>	Rules for evaluating truth with respect to a model </a:t>
            </a:r>
            <a:r>
              <a:rPr lang="en-US" altLang="en-US" i="1"/>
              <a:t>m</a:t>
            </a:r>
            <a:r>
              <a:rPr lang="en-US" altLang="en-US"/>
              <a:t> are determined by </a:t>
            </a:r>
            <a:r>
              <a:rPr lang="en-US" altLang="en-US" i="1"/>
              <a:t>truth tables</a:t>
            </a:r>
            <a:endParaRPr lang="en-US" altLang="en-US"/>
          </a:p>
        </p:txBody>
      </p:sp>
      <p:sp>
        <p:nvSpPr>
          <p:cNvPr id="28677" name="AutoShape 5"/>
          <p:cNvSpPr>
            <a:spLocks noChangeArrowheads="1"/>
          </p:cNvSpPr>
          <p:nvPr/>
        </p:nvSpPr>
        <p:spPr bwMode="auto">
          <a:xfrm>
            <a:off x="6821658" y="2857500"/>
            <a:ext cx="1828800" cy="1143000"/>
          </a:xfrm>
          <a:prstGeom prst="wedgeEllipseCallout">
            <a:avLst>
              <a:gd name="adj1" fmla="val -116991"/>
              <a:gd name="adj2" fmla="val 45505"/>
            </a:avLst>
          </a:prstGeom>
          <a:solidFill>
            <a:schemeClr val="accent1"/>
          </a:solidFill>
          <a:ln w="9525">
            <a:solidFill>
              <a:schemeClr val="tx1"/>
            </a:solidFill>
            <a:miter lim="800000"/>
            <a:headEnd/>
            <a:tailEnd/>
          </a:ln>
        </p:spPr>
        <p:txBody>
          <a:bodyPr/>
          <a:lstStyle>
            <a:lvl1pPr>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lang="en-US" altLang="en-US"/>
              <a:t>Why 8?</a:t>
            </a:r>
          </a:p>
        </p:txBody>
      </p:sp>
    </p:spTree>
    <p:extLst>
      <p:ext uri="{BB962C8B-B14F-4D97-AF65-F5344CB8AC3E}">
        <p14:creationId xmlns:p14="http://schemas.microsoft.com/office/powerpoint/2010/main" xmlns="" val="27789531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8677"/>
                                        </p:tgtEl>
                                        <p:attrNameLst>
                                          <p:attrName>style.visibility</p:attrName>
                                        </p:attrNameLst>
                                      </p:cBhvr>
                                      <p:to>
                                        <p:strVal val="visible"/>
                                      </p:to>
                                    </p:set>
                                    <p:animEffect transition="in" filter="checkerboard(across)">
                                      <p:cBhvr>
                                        <p:cTn id="7" dur="500"/>
                                        <p:tgtEl>
                                          <p:spTgt spid="28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noChangeArrowheads="1"/>
          </p:cNvSpPr>
          <p:nvPr>
            <p:ph type="title"/>
          </p:nvPr>
        </p:nvSpPr>
        <p:spPr/>
        <p:txBody>
          <a:bodyPr/>
          <a:lstStyle/>
          <a:p>
            <a:r>
              <a:rPr lang="en-US" altLang="en-US" sz="4400" b="1">
                <a:solidFill>
                  <a:schemeClr val="tx1"/>
                </a:solidFill>
              </a:rPr>
              <a:t>Propositional Logic: Semantic</a:t>
            </a:r>
            <a:endParaRPr lang="en-MY"/>
          </a:p>
        </p:txBody>
      </p:sp>
      <p:sp>
        <p:nvSpPr>
          <p:cNvPr id="17411" name="Content Placeholder 2"/>
          <p:cNvSpPr>
            <a:spLocks noGrp="1" noChangeArrowheads="1"/>
          </p:cNvSpPr>
          <p:nvPr>
            <p:ph idx="1"/>
          </p:nvPr>
        </p:nvSpPr>
        <p:spPr/>
        <p:txBody>
          <a:bodyPr/>
          <a:lstStyle/>
          <a:p>
            <a:r>
              <a:rPr lang="en-US"/>
              <a:t>Why 8 models?</a:t>
            </a:r>
          </a:p>
          <a:p>
            <a:pPr eaLnBrk="1" hangingPunct="1">
              <a:buFont typeface="Wingdings" panose="05000000000000000000" pitchFamily="2" charset="2"/>
              <a:buNone/>
            </a:pPr>
            <a:r>
              <a:rPr lang="en-US" altLang="en-US"/>
              <a:t> </a:t>
            </a:r>
          </a:p>
          <a:p>
            <a:pPr eaLnBrk="1" hangingPunct="1">
              <a:buFont typeface="Wingdings" panose="05000000000000000000" pitchFamily="2" charset="2"/>
              <a:buNone/>
            </a:pPr>
            <a:r>
              <a:rPr lang="en-US" altLang="en-US" i="1">
                <a:latin typeface="Times New Roman" panose="02020603050405020304" pitchFamily="18" charset="0"/>
              </a:rPr>
              <a:t>P 	       Q 	     R</a:t>
            </a:r>
          </a:p>
          <a:p>
            <a:pPr eaLnBrk="1" hangingPunct="1">
              <a:buFont typeface="Wingdings" panose="05000000000000000000" pitchFamily="2" charset="2"/>
              <a:buNone/>
            </a:pPr>
            <a:r>
              <a:rPr lang="en-US" altLang="en-US" i="1">
                <a:latin typeface="Times New Roman" panose="02020603050405020304" pitchFamily="18" charset="0"/>
              </a:rPr>
              <a:t>true    true     false</a:t>
            </a:r>
            <a:endParaRPr lang="en-MY"/>
          </a:p>
        </p:txBody>
      </p:sp>
      <p:sp>
        <p:nvSpPr>
          <p:cNvPr id="4" name="Rectangle: Rounded Corners 3">
            <a:extLst>
              <a:ext uri="{FF2B5EF4-FFF2-40B4-BE49-F238E27FC236}">
                <a16:creationId xmlns:a16="http://schemas.microsoft.com/office/drawing/2014/main" xmlns="" id="{195EFF75-75F5-49EC-AE26-78F9DD7F4539}"/>
              </a:ext>
            </a:extLst>
          </p:cNvPr>
          <p:cNvSpPr/>
          <p:nvPr/>
        </p:nvSpPr>
        <p:spPr>
          <a:xfrm>
            <a:off x="1143000" y="5170488"/>
            <a:ext cx="7315200" cy="10398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400" b="1" dirty="0">
                <a:solidFill>
                  <a:schemeClr val="tx1"/>
                </a:solidFill>
              </a:rPr>
              <a:t>How many variables? 3 variables P, Q and R</a:t>
            </a:r>
          </a:p>
          <a:p>
            <a:pPr algn="ctr" eaLnBrk="1" hangingPunct="1">
              <a:defRPr/>
            </a:pPr>
            <a:r>
              <a:rPr lang="en-US" sz="2400" b="1" dirty="0">
                <a:solidFill>
                  <a:schemeClr val="tx1"/>
                </a:solidFill>
              </a:rPr>
              <a:t>How many models? 2</a:t>
            </a:r>
            <a:r>
              <a:rPr lang="en-US" sz="2400" b="1" baseline="30000" dirty="0">
                <a:solidFill>
                  <a:schemeClr val="tx1"/>
                </a:solidFill>
              </a:rPr>
              <a:t>3</a:t>
            </a:r>
            <a:r>
              <a:rPr lang="en-US" sz="2400" b="1" dirty="0">
                <a:solidFill>
                  <a:schemeClr val="tx1"/>
                </a:solidFill>
              </a:rPr>
              <a:t> = 8 models</a:t>
            </a:r>
            <a:endParaRPr lang="en-MY" sz="2400" b="1" dirty="0">
              <a:solidFill>
                <a:schemeClr val="tx1"/>
              </a:solidFill>
            </a:endParaRPr>
          </a:p>
        </p:txBody>
      </p:sp>
      <p:pic>
        <p:nvPicPr>
          <p:cNvPr id="17413"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598988" y="2030413"/>
            <a:ext cx="3429000" cy="2882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29002966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914400" y="277813"/>
            <a:ext cx="7772400" cy="715962"/>
          </a:xfrm>
        </p:spPr>
        <p:txBody>
          <a:bodyPr/>
          <a:lstStyle/>
          <a:p>
            <a:pPr eaLnBrk="1" hangingPunct="1"/>
            <a:r>
              <a:rPr lang="en-US" altLang="en-US" sz="3800" b="1" dirty="0">
                <a:solidFill>
                  <a:schemeClr val="tx1"/>
                </a:solidFill>
              </a:rPr>
              <a:t>And (also called </a:t>
            </a:r>
            <a:r>
              <a:rPr lang="en-US" altLang="en-US" sz="3800" b="1" i="1" dirty="0">
                <a:solidFill>
                  <a:schemeClr val="tx1"/>
                </a:solidFill>
              </a:rPr>
              <a:t>conjunction</a:t>
            </a:r>
            <a:r>
              <a:rPr lang="en-US" altLang="en-US" sz="3800" b="1" dirty="0">
                <a:solidFill>
                  <a:schemeClr val="tx1"/>
                </a:solidFill>
              </a:rPr>
              <a:t>)</a:t>
            </a:r>
            <a:endParaRPr lang="en-US" altLang="en-US" sz="3800" dirty="0">
              <a:solidFill>
                <a:schemeClr val="tx1"/>
              </a:solidFill>
            </a:endParaRPr>
          </a:p>
        </p:txBody>
      </p:sp>
      <p:sp>
        <p:nvSpPr>
          <p:cNvPr id="18435" name="Rectangle 6"/>
          <p:cNvSpPr>
            <a:spLocks noGrp="1" noChangeArrowheads="1"/>
          </p:cNvSpPr>
          <p:nvPr>
            <p:ph type="body" sz="half" idx="1"/>
          </p:nvPr>
        </p:nvSpPr>
        <p:spPr>
          <a:xfrm>
            <a:off x="914400" y="1676400"/>
            <a:ext cx="7924800" cy="5029200"/>
          </a:xfrm>
        </p:spPr>
        <p:txBody>
          <a:bodyPr/>
          <a:lstStyle/>
          <a:p>
            <a:pPr eaLnBrk="1" hangingPunct="1">
              <a:buClr>
                <a:srgbClr val="FF0000"/>
              </a:buClr>
              <a:buSzPct val="150000"/>
            </a:pPr>
            <a:r>
              <a:rPr lang="en-US" altLang="en-US" sz="2400" dirty="0"/>
              <a:t>The </a:t>
            </a:r>
            <a:r>
              <a:rPr lang="en-US" altLang="en-US" sz="2400" i="1" dirty="0"/>
              <a:t>conjunction ‘</a:t>
            </a:r>
            <a:r>
              <a:rPr lang="en-US" altLang="en-US" sz="2400" i="1" dirty="0">
                <a:latin typeface="Times New Roman" panose="02020603050405020304" pitchFamily="18" charset="0"/>
              </a:rPr>
              <a:t>p AND q’,</a:t>
            </a:r>
            <a:r>
              <a:rPr lang="en-US" altLang="en-US" sz="2400" dirty="0"/>
              <a:t> written </a:t>
            </a:r>
            <a:r>
              <a:rPr lang="en-US" altLang="en-US" sz="2400" i="1" dirty="0">
                <a:latin typeface="Times New Roman" panose="02020603050405020304" pitchFamily="18" charset="0"/>
              </a:rPr>
              <a:t>p     q</a:t>
            </a:r>
            <a:r>
              <a:rPr lang="en-US" altLang="en-US" sz="2400" dirty="0"/>
              <a:t>, of two propositions is true when both </a:t>
            </a:r>
            <a:r>
              <a:rPr lang="en-US" altLang="en-US" sz="2400" i="1" dirty="0">
                <a:latin typeface="Times New Roman" panose="02020603050405020304" pitchFamily="18" charset="0"/>
              </a:rPr>
              <a:t>p</a:t>
            </a:r>
            <a:r>
              <a:rPr lang="en-US" altLang="en-US" sz="2400" dirty="0"/>
              <a:t> and </a:t>
            </a:r>
            <a:r>
              <a:rPr lang="en-US" altLang="en-US" sz="2400" i="1" dirty="0">
                <a:latin typeface="Times New Roman" panose="02020603050405020304" pitchFamily="18" charset="0"/>
              </a:rPr>
              <a:t>q</a:t>
            </a:r>
            <a:r>
              <a:rPr lang="en-US" altLang="en-US" sz="2400" dirty="0"/>
              <a:t> are true, false otherwise.</a:t>
            </a:r>
          </a:p>
          <a:p>
            <a:pPr eaLnBrk="1" hangingPunct="1">
              <a:buClr>
                <a:srgbClr val="FF0000"/>
              </a:buClr>
              <a:buSzPct val="150000"/>
            </a:pPr>
            <a:r>
              <a:rPr lang="en-US" altLang="en-US" sz="2400" dirty="0"/>
              <a:t>We can </a:t>
            </a:r>
            <a:r>
              <a:rPr lang="en-US" altLang="en-US" sz="2400" dirty="0" err="1"/>
              <a:t>summarise</a:t>
            </a:r>
            <a:r>
              <a:rPr lang="en-US" altLang="en-US" sz="2400" dirty="0"/>
              <a:t> the operation of      using a </a:t>
            </a:r>
            <a:r>
              <a:rPr lang="en-US" altLang="en-US" sz="2400" dirty="0">
                <a:solidFill>
                  <a:srgbClr val="FF0000"/>
                </a:solidFill>
              </a:rPr>
              <a:t>Truth table</a:t>
            </a:r>
            <a:r>
              <a:rPr lang="en-US" altLang="en-US" sz="2400" dirty="0"/>
              <a:t>. Rows in the table give all possible setting of the propositions to true (T) or false (F).</a:t>
            </a:r>
          </a:p>
          <a:p>
            <a:pPr eaLnBrk="1" hangingPunct="1"/>
            <a:endParaRPr lang="en-US" altLang="en-US" sz="2400" dirty="0"/>
          </a:p>
        </p:txBody>
      </p:sp>
      <p:pic>
        <p:nvPicPr>
          <p:cNvPr id="29703" name="Picture 7"/>
          <p:cNvPicPr>
            <a:picLocks noGrp="1" noChangeAspect="1" noChangeArrowheads="1"/>
          </p:cNvPicPr>
          <p:nvPr>
            <p:ph sz="quarter" idx="2"/>
          </p:nvPr>
        </p:nvPicPr>
        <p:blipFill>
          <a:blip r:embed="rId2" cstate="print">
            <a:extLst>
              <a:ext uri="{28A0092B-C50C-407E-A947-70E740481C1C}">
                <a14:useLocalDpi xmlns:a14="http://schemas.microsoft.com/office/drawing/2010/main" xmlns="" val="0"/>
              </a:ext>
            </a:extLst>
          </a:blip>
          <a:srcRect/>
          <a:stretch>
            <a:fillRect/>
          </a:stretch>
        </p:blipFill>
        <p:spPr>
          <a:xfrm>
            <a:off x="4876800" y="3921125"/>
            <a:ext cx="3505200" cy="2590800"/>
          </a:xfrm>
          <a:noFill/>
        </p:spPr>
      </p:pic>
      <p:pic>
        <p:nvPicPr>
          <p:cNvPr id="18437" name="Picture 4"/>
          <p:cNvPicPr>
            <a:picLocks noGrp="1" noChangeAspect="1" noChangeArrowheads="1"/>
          </p:cNvPicPr>
          <p:nvPr>
            <p:ph idx="4294967295"/>
          </p:nvPr>
        </p:nvPicPr>
        <p:blipFill>
          <a:blip r:embed="rId3" cstate="print">
            <a:extLst>
              <a:ext uri="{28A0092B-C50C-407E-A947-70E740481C1C}">
                <a14:useLocalDpi xmlns:a14="http://schemas.microsoft.com/office/drawing/2010/main" xmlns="" val="0"/>
              </a:ext>
            </a:extLst>
          </a:blip>
          <a:srcRect/>
          <a:stretch>
            <a:fillRect/>
          </a:stretch>
        </p:blipFill>
        <p:spPr>
          <a:xfrm>
            <a:off x="1371600" y="409575"/>
            <a:ext cx="485775" cy="452438"/>
          </a:xfrm>
          <a:noFill/>
        </p:spPr>
      </p:pic>
      <p:pic>
        <p:nvPicPr>
          <p:cNvPr id="18438" name="Picture 9"/>
          <p:cNvPicPr>
            <a:picLocks noGrp="1" noChangeAspect="1" noChangeArrowheads="1"/>
          </p:cNvPicPr>
          <p:nvPr>
            <p:ph sz="quarter" idx="3"/>
          </p:nvPr>
        </p:nvPicPr>
        <p:blipFill>
          <a:blip r:embed="rId4" cstate="print">
            <a:extLst>
              <a:ext uri="{28A0092B-C50C-407E-A947-70E740481C1C}">
                <a14:useLocalDpi xmlns:a14="http://schemas.microsoft.com/office/drawing/2010/main" xmlns="" val="0"/>
              </a:ext>
            </a:extLst>
          </a:blip>
          <a:srcRect/>
          <a:stretch>
            <a:fillRect/>
          </a:stretch>
        </p:blipFill>
        <p:spPr>
          <a:xfrm>
            <a:off x="6111875" y="1828800"/>
            <a:ext cx="387350" cy="279400"/>
          </a:xfrm>
          <a:noFill/>
        </p:spPr>
      </p:pic>
      <p:pic>
        <p:nvPicPr>
          <p:cNvPr id="18439" name="Picture 11"/>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789204" y="2959100"/>
            <a:ext cx="387350" cy="279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aphicFrame>
        <p:nvGraphicFramePr>
          <p:cNvPr id="29747" name="Group 51">
            <a:extLst>
              <a:ext uri="{FF2B5EF4-FFF2-40B4-BE49-F238E27FC236}">
                <a16:creationId xmlns:a16="http://schemas.microsoft.com/office/drawing/2014/main" xmlns="" id="{5F9AEA70-9F21-41D4-828D-A4454B103992}"/>
              </a:ext>
            </a:extLst>
          </p:cNvPr>
          <p:cNvGraphicFramePr>
            <a:graphicFrameLocks noGrp="1"/>
          </p:cNvGraphicFramePr>
          <p:nvPr>
            <p:extLst>
              <p:ext uri="{D42A27DB-BD31-4B8C-83A1-F6EECF244321}">
                <p14:modId xmlns:p14="http://schemas.microsoft.com/office/powerpoint/2010/main" xmlns="" val="712704703"/>
              </p:ext>
            </p:extLst>
          </p:nvPr>
        </p:nvGraphicFramePr>
        <p:xfrm>
          <a:off x="1600200" y="4114800"/>
          <a:ext cx="2133600" cy="2286000"/>
        </p:xfrm>
        <a:graphic>
          <a:graphicData uri="http://schemas.openxmlformats.org/drawingml/2006/table">
            <a:tbl>
              <a:tblPr/>
              <a:tblGrid>
                <a:gridCol w="711200">
                  <a:extLst>
                    <a:ext uri="{9D8B030D-6E8A-4147-A177-3AD203B41FA5}">
                      <a16:colId xmlns:a16="http://schemas.microsoft.com/office/drawing/2014/main" xmlns="" val="20000"/>
                    </a:ext>
                  </a:extLst>
                </a:gridCol>
                <a:gridCol w="711200">
                  <a:extLst>
                    <a:ext uri="{9D8B030D-6E8A-4147-A177-3AD203B41FA5}">
                      <a16:colId xmlns:a16="http://schemas.microsoft.com/office/drawing/2014/main" xmlns="" val="20001"/>
                    </a:ext>
                  </a:extLst>
                </a:gridCol>
                <a:gridCol w="711200">
                  <a:extLst>
                    <a:ext uri="{9D8B030D-6E8A-4147-A177-3AD203B41FA5}">
                      <a16:colId xmlns:a16="http://schemas.microsoft.com/office/drawing/2014/main" xmlns="" val="20002"/>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a:ln>
                            <a:noFill/>
                          </a:ln>
                          <a:solidFill>
                            <a:schemeClr val="tx1"/>
                          </a:solidFill>
                          <a:effectLst/>
                          <a:latin typeface="Arial" charset="0"/>
                        </a:rPr>
                        <a:t>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a:ln>
                            <a:noFill/>
                          </a:ln>
                          <a:solidFill>
                            <a:schemeClr val="tx1"/>
                          </a:solidFill>
                          <a:effectLst/>
                          <a:latin typeface="Arial" charset="0"/>
                        </a:rPr>
                        <a:t>q</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492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xmlns="" val="2033910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29703"/>
                                        </p:tgtEl>
                                        <p:attrNameLst>
                                          <p:attrName>style.visibility</p:attrName>
                                        </p:attrNameLst>
                                      </p:cBhvr>
                                      <p:to>
                                        <p:strVal val="visible"/>
                                      </p:to>
                                    </p:set>
                                    <p:animEffect transition="in" filter="diamond(in)">
                                      <p:cBhvr>
                                        <p:cTn id="7" dur="2000"/>
                                        <p:tgtEl>
                                          <p:spTgt spid="297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en-US" b="1">
                <a:solidFill>
                  <a:schemeClr val="tx1"/>
                </a:solidFill>
              </a:rPr>
              <a:t>Natural Language Meaning</a:t>
            </a:r>
            <a:r>
              <a:rPr lang="en-US" altLang="en-US" b="1">
                <a:solidFill>
                  <a:srgbClr val="0000CC"/>
                </a:solidFill>
              </a:rPr>
              <a:t> (1)</a:t>
            </a:r>
            <a:endParaRPr lang="en-US" altLang="en-US">
              <a:solidFill>
                <a:srgbClr val="0000CC"/>
              </a:solidFill>
            </a:endParaRPr>
          </a:p>
        </p:txBody>
      </p:sp>
      <p:sp>
        <p:nvSpPr>
          <p:cNvPr id="19459" name="Rectangle 3"/>
          <p:cNvSpPr>
            <a:spLocks noGrp="1" noChangeArrowheads="1"/>
          </p:cNvSpPr>
          <p:nvPr>
            <p:ph type="body" sz="half" idx="1"/>
          </p:nvPr>
        </p:nvSpPr>
        <p:spPr>
          <a:xfrm>
            <a:off x="1219200" y="1676400"/>
            <a:ext cx="6781800" cy="4876800"/>
          </a:xfrm>
        </p:spPr>
        <p:txBody>
          <a:bodyPr/>
          <a:lstStyle/>
          <a:p>
            <a:pPr eaLnBrk="1" hangingPunct="1">
              <a:buFont typeface="Wingdings" panose="05000000000000000000" pitchFamily="2" charset="2"/>
              <a:buNone/>
            </a:pPr>
            <a:r>
              <a:rPr lang="en-US" altLang="en-US" i="1" dirty="0">
                <a:latin typeface="Times New Roman" panose="02020603050405020304" pitchFamily="18" charset="0"/>
              </a:rPr>
              <a:t>p</a:t>
            </a:r>
            <a:r>
              <a:rPr lang="en-US" altLang="en-US" dirty="0"/>
              <a:t> 			Its Monday.</a:t>
            </a:r>
          </a:p>
          <a:p>
            <a:pPr eaLnBrk="1" hangingPunct="1">
              <a:buFont typeface="Wingdings" panose="05000000000000000000" pitchFamily="2" charset="2"/>
              <a:buNone/>
            </a:pPr>
            <a:r>
              <a:rPr lang="en-US" altLang="en-US" i="1" dirty="0">
                <a:latin typeface="Times New Roman" panose="02020603050405020304" pitchFamily="18" charset="0"/>
              </a:rPr>
              <a:t>q</a:t>
            </a:r>
            <a:r>
              <a:rPr lang="en-US" altLang="en-US" dirty="0"/>
              <a:t> 			Its raining.</a:t>
            </a:r>
          </a:p>
          <a:p>
            <a:pPr eaLnBrk="1" hangingPunct="1">
              <a:buFont typeface="Wingdings" panose="05000000000000000000" pitchFamily="2" charset="2"/>
              <a:buNone/>
            </a:pPr>
            <a:r>
              <a:rPr lang="en-US" altLang="en-US" i="1" dirty="0">
                <a:latin typeface="Times New Roman" panose="02020603050405020304" pitchFamily="18" charset="0"/>
              </a:rPr>
              <a:t>p 	   q</a:t>
            </a:r>
            <a:r>
              <a:rPr lang="en-US" altLang="en-US" dirty="0"/>
              <a:t> 	Its Monday and its raining.</a:t>
            </a:r>
          </a:p>
          <a:p>
            <a:pPr eaLnBrk="1" hangingPunct="1">
              <a:buFont typeface="Wingdings" panose="05000000000000000000" pitchFamily="2" charset="2"/>
              <a:buNone/>
            </a:pPr>
            <a:r>
              <a:rPr lang="en-US" altLang="en-US" dirty="0"/>
              <a:t>			Its Monday but its raining.</a:t>
            </a:r>
          </a:p>
          <a:p>
            <a:pPr eaLnBrk="1" hangingPunct="1">
              <a:buFont typeface="Wingdings" panose="05000000000000000000" pitchFamily="2" charset="2"/>
              <a:buNone/>
            </a:pPr>
            <a:r>
              <a:rPr lang="en-US" altLang="en-US" dirty="0"/>
              <a:t>			Its Monday. Its raining.</a:t>
            </a:r>
          </a:p>
          <a:p>
            <a:pPr eaLnBrk="1" hangingPunct="1"/>
            <a:endParaRPr lang="en-US" altLang="en-US" dirty="0"/>
          </a:p>
        </p:txBody>
      </p:sp>
      <p:pic>
        <p:nvPicPr>
          <p:cNvPr id="19460" name="Picture 4"/>
          <p:cNvPicPr>
            <a:picLocks noGrp="1" noChangeAspect="1" noChangeArrowheads="1"/>
          </p:cNvPicPr>
          <p:nvPr>
            <p:ph sz="half" idx="2"/>
          </p:nvPr>
        </p:nvPicPr>
        <p:blipFill>
          <a:blip r:embed="rId2" cstate="print">
            <a:extLst>
              <a:ext uri="{28A0092B-C50C-407E-A947-70E740481C1C}">
                <a14:useLocalDpi xmlns:a14="http://schemas.microsoft.com/office/drawing/2010/main" xmlns="" val="0"/>
              </a:ext>
            </a:extLst>
          </a:blip>
          <a:srcRect/>
          <a:stretch>
            <a:fillRect/>
          </a:stretch>
        </p:blipFill>
        <p:spPr>
          <a:xfrm>
            <a:off x="1600200" y="2895600"/>
            <a:ext cx="365125" cy="277813"/>
          </a:xfrm>
          <a:noFill/>
        </p:spPr>
      </p:pic>
    </p:spTree>
    <p:extLst>
      <p:ext uri="{BB962C8B-B14F-4D97-AF65-F5344CB8AC3E}">
        <p14:creationId xmlns:p14="http://schemas.microsoft.com/office/powerpoint/2010/main" xmlns="" val="38384573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en-US" b="1">
                <a:solidFill>
                  <a:schemeClr val="tx1"/>
                </a:solidFill>
              </a:rPr>
              <a:t>Natural Language Meaning</a:t>
            </a:r>
            <a:r>
              <a:rPr lang="en-US" altLang="en-US" b="1">
                <a:solidFill>
                  <a:srgbClr val="0000CC"/>
                </a:solidFill>
              </a:rPr>
              <a:t> (2)</a:t>
            </a:r>
            <a:endParaRPr lang="en-US" altLang="en-US">
              <a:solidFill>
                <a:srgbClr val="0000CC"/>
              </a:solidFill>
            </a:endParaRPr>
          </a:p>
        </p:txBody>
      </p:sp>
      <p:sp>
        <p:nvSpPr>
          <p:cNvPr id="20483" name="Rectangle 3"/>
          <p:cNvSpPr>
            <a:spLocks noGrp="1" noChangeArrowheads="1"/>
          </p:cNvSpPr>
          <p:nvPr>
            <p:ph type="body" idx="1"/>
          </p:nvPr>
        </p:nvSpPr>
        <p:spPr/>
        <p:txBody>
          <a:bodyPr/>
          <a:lstStyle/>
          <a:p>
            <a:pPr marL="0" indent="0" eaLnBrk="1" hangingPunct="1">
              <a:buClr>
                <a:srgbClr val="FF0000"/>
              </a:buClr>
              <a:buFont typeface="Wingdings" panose="05000000000000000000" pitchFamily="2" charset="2"/>
              <a:buNone/>
            </a:pPr>
            <a:r>
              <a:rPr lang="en-US" altLang="en-US" sz="2400"/>
              <a:t>Caution:</a:t>
            </a:r>
            <a:r>
              <a:rPr lang="en-US" altLang="en-US" sz="2400">
                <a:solidFill>
                  <a:srgbClr val="FF9933"/>
                </a:solidFill>
              </a:rPr>
              <a:t> semantics?</a:t>
            </a:r>
          </a:p>
          <a:p>
            <a:pPr marL="0" indent="0" eaLnBrk="1" hangingPunct="1">
              <a:buClr>
                <a:srgbClr val="FF0000"/>
              </a:buClr>
              <a:buFont typeface="Wingdings" panose="05000000000000000000" pitchFamily="2" charset="2"/>
              <a:buNone/>
            </a:pPr>
            <a:endParaRPr lang="en-US" altLang="en-US" sz="2400"/>
          </a:p>
          <a:p>
            <a:pPr marL="0" indent="0" eaLnBrk="1" hangingPunct="1">
              <a:buClr>
                <a:srgbClr val="FF0000"/>
              </a:buClr>
              <a:buFont typeface="Wingdings" panose="05000000000000000000" pitchFamily="2" charset="2"/>
              <a:buNone/>
            </a:pPr>
            <a:r>
              <a:rPr lang="en-US" altLang="en-US" sz="2400" i="1">
                <a:latin typeface="Times New Roman" panose="02020603050405020304" pitchFamily="18" charset="0"/>
              </a:rPr>
              <a:t>p</a:t>
            </a:r>
            <a:r>
              <a:rPr lang="en-US" altLang="en-US" sz="2400"/>
              <a:t> 		I took a shower</a:t>
            </a:r>
          </a:p>
          <a:p>
            <a:pPr marL="0" indent="0" eaLnBrk="1" hangingPunct="1">
              <a:buClr>
                <a:srgbClr val="FF0000"/>
              </a:buClr>
              <a:buFont typeface="Wingdings" panose="05000000000000000000" pitchFamily="2" charset="2"/>
              <a:buNone/>
            </a:pPr>
            <a:r>
              <a:rPr lang="en-US" altLang="en-US" sz="2400" i="1">
                <a:latin typeface="Times New Roman" panose="02020603050405020304" pitchFamily="18" charset="0"/>
              </a:rPr>
              <a:t>q</a:t>
            </a:r>
            <a:r>
              <a:rPr lang="en-US" altLang="en-US" sz="2400"/>
              <a:t> 		I woke up</a:t>
            </a:r>
          </a:p>
          <a:p>
            <a:pPr marL="0" indent="0" eaLnBrk="1" hangingPunct="1">
              <a:buClr>
                <a:srgbClr val="FF0000"/>
              </a:buClr>
              <a:buFont typeface="Wingdings" panose="05000000000000000000" pitchFamily="2" charset="2"/>
              <a:buNone/>
            </a:pPr>
            <a:r>
              <a:rPr lang="en-US" altLang="en-US" sz="2400" i="1">
                <a:latin typeface="Times New Roman" panose="02020603050405020304" pitchFamily="18" charset="0"/>
              </a:rPr>
              <a:t>p ^ q</a:t>
            </a:r>
            <a:r>
              <a:rPr lang="en-US" altLang="en-US" sz="2400"/>
              <a:t> 		“I took a shower and I woke up”</a:t>
            </a:r>
          </a:p>
          <a:p>
            <a:pPr marL="0" indent="0" eaLnBrk="1" hangingPunct="1">
              <a:buClr>
                <a:srgbClr val="FF0000"/>
              </a:buClr>
              <a:buFont typeface="Wingdings" panose="05000000000000000000" pitchFamily="2" charset="2"/>
              <a:buNone/>
            </a:pPr>
            <a:r>
              <a:rPr lang="en-US" altLang="en-US" sz="2400" i="1">
                <a:latin typeface="Times New Roman" panose="02020603050405020304" pitchFamily="18" charset="0"/>
              </a:rPr>
              <a:t>q ^ p</a:t>
            </a:r>
            <a:r>
              <a:rPr lang="en-US" altLang="en-US" sz="2400"/>
              <a:t> 		“I woke up and I took a shower”.</a:t>
            </a:r>
          </a:p>
          <a:p>
            <a:pPr marL="0" indent="0" eaLnBrk="1" hangingPunct="1">
              <a:buClr>
                <a:srgbClr val="FF0000"/>
              </a:buClr>
              <a:buFont typeface="Wingdings" panose="05000000000000000000" pitchFamily="2" charset="2"/>
              <a:buNone/>
            </a:pPr>
            <a:r>
              <a:rPr lang="en-US" altLang="en-US" sz="2400"/>
              <a:t>Logically the same! </a:t>
            </a:r>
            <a:r>
              <a:rPr lang="en-US" altLang="en-US" sz="2400" i="1"/>
              <a:t>WE </a:t>
            </a:r>
            <a:r>
              <a:rPr lang="en-US" altLang="en-US" sz="2400"/>
              <a:t>may see difference.</a:t>
            </a:r>
          </a:p>
          <a:p>
            <a:pPr marL="0" indent="0" eaLnBrk="1" hangingPunct="1">
              <a:buClr>
                <a:srgbClr val="FF0000"/>
              </a:buClr>
              <a:buFont typeface="Wingdings" panose="05000000000000000000" pitchFamily="2" charset="2"/>
              <a:buNone/>
            </a:pPr>
            <a:endParaRPr lang="en-US" altLang="en-US" sz="2400"/>
          </a:p>
          <a:p>
            <a:pPr marL="0" indent="0" eaLnBrk="1" hangingPunct="1">
              <a:buClr>
                <a:srgbClr val="FF0000"/>
              </a:buClr>
              <a:buFont typeface="Wingdings" panose="05000000000000000000" pitchFamily="2" charset="2"/>
              <a:buNone/>
            </a:pPr>
            <a:r>
              <a:rPr lang="en-US" altLang="en-US" sz="2400"/>
              <a:t>The word </a:t>
            </a:r>
            <a:r>
              <a:rPr lang="en-US" altLang="en-US" sz="2400" i="1"/>
              <a:t>both </a:t>
            </a:r>
            <a:r>
              <a:rPr lang="en-US" altLang="en-US" sz="2400"/>
              <a:t>is often useful eg. </a:t>
            </a:r>
            <a:r>
              <a:rPr lang="en-US" altLang="en-US" sz="2400" i="1"/>
              <a:t>I both took a shower and I woke up</a:t>
            </a:r>
            <a:r>
              <a:rPr lang="en-US" altLang="en-US" sz="2400"/>
              <a:t>.</a:t>
            </a:r>
          </a:p>
        </p:txBody>
      </p:sp>
    </p:spTree>
    <p:extLst>
      <p:ext uri="{BB962C8B-B14F-4D97-AF65-F5344CB8AC3E}">
        <p14:creationId xmlns:p14="http://schemas.microsoft.com/office/powerpoint/2010/main" xmlns="" val="214103652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914400" y="277813"/>
            <a:ext cx="7772400" cy="869950"/>
          </a:xfrm>
        </p:spPr>
        <p:txBody>
          <a:bodyPr/>
          <a:lstStyle/>
          <a:p>
            <a:pPr eaLnBrk="1" hangingPunct="1"/>
            <a:r>
              <a:rPr lang="en-US" altLang="en-US" b="1">
                <a:solidFill>
                  <a:schemeClr val="tx1"/>
                </a:solidFill>
              </a:rPr>
              <a:t>Or</a:t>
            </a:r>
            <a:r>
              <a:rPr lang="en-US" altLang="en-US" b="1">
                <a:solidFill>
                  <a:srgbClr val="0000CC"/>
                </a:solidFill>
              </a:rPr>
              <a:t> </a:t>
            </a:r>
            <a:endParaRPr lang="en-US" altLang="en-US">
              <a:solidFill>
                <a:srgbClr val="0000CC"/>
              </a:solidFill>
            </a:endParaRPr>
          </a:p>
        </p:txBody>
      </p:sp>
      <p:sp>
        <p:nvSpPr>
          <p:cNvPr id="21507" name="Rectangle 3"/>
          <p:cNvSpPr>
            <a:spLocks noGrp="1" noChangeArrowheads="1"/>
          </p:cNvSpPr>
          <p:nvPr>
            <p:ph type="body" sz="half" idx="1"/>
          </p:nvPr>
        </p:nvSpPr>
        <p:spPr>
          <a:xfrm>
            <a:off x="914400" y="1600200"/>
            <a:ext cx="7772400" cy="4530725"/>
          </a:xfrm>
        </p:spPr>
        <p:txBody>
          <a:bodyPr/>
          <a:lstStyle/>
          <a:p>
            <a:pPr marL="0" indent="0" eaLnBrk="1" hangingPunct="1">
              <a:buClr>
                <a:schemeClr val="tx1"/>
              </a:buClr>
              <a:buFont typeface="Wingdings" panose="05000000000000000000" pitchFamily="2" charset="2"/>
              <a:buNone/>
            </a:pPr>
            <a:r>
              <a:rPr lang="en-US" altLang="en-US" sz="2400"/>
              <a:t>Also called </a:t>
            </a:r>
            <a:r>
              <a:rPr lang="en-US" altLang="en-US" sz="2400" i="1"/>
              <a:t>disjunction.</a:t>
            </a:r>
          </a:p>
          <a:p>
            <a:pPr marL="0" indent="0" eaLnBrk="1" hangingPunct="1">
              <a:buClr>
                <a:schemeClr val="tx1"/>
              </a:buClr>
              <a:buFont typeface="Wingdings" panose="05000000000000000000" pitchFamily="2" charset="2"/>
              <a:buNone/>
            </a:pPr>
            <a:r>
              <a:rPr lang="en-US" altLang="en-US" sz="2400"/>
              <a:t>The disjunction ‘</a:t>
            </a:r>
            <a:r>
              <a:rPr lang="en-US" altLang="en-US" sz="2400" i="1">
                <a:latin typeface="Times New Roman" panose="02020603050405020304" pitchFamily="18" charset="0"/>
              </a:rPr>
              <a:t>p OR q</a:t>
            </a:r>
            <a:r>
              <a:rPr lang="en-US" altLang="en-US" sz="2400"/>
              <a:t>’, written </a:t>
            </a:r>
            <a:r>
              <a:rPr lang="en-US" altLang="en-US" sz="2400" i="1">
                <a:latin typeface="Times New Roman" panose="02020603050405020304" pitchFamily="18" charset="0"/>
              </a:rPr>
              <a:t>p    q</a:t>
            </a:r>
            <a:r>
              <a:rPr lang="en-US" altLang="en-US" sz="2400"/>
              <a:t>, of two propositions is true when </a:t>
            </a:r>
            <a:r>
              <a:rPr lang="en-US" altLang="en-US" sz="2400" i="1">
                <a:latin typeface="Times New Roman" panose="02020603050405020304" pitchFamily="18" charset="0"/>
              </a:rPr>
              <a:t>p</a:t>
            </a:r>
            <a:r>
              <a:rPr lang="en-US" altLang="en-US" sz="2400"/>
              <a:t> or </a:t>
            </a:r>
            <a:r>
              <a:rPr lang="en-US" altLang="en-US" sz="2400" i="1">
                <a:latin typeface="Times New Roman" panose="02020603050405020304" pitchFamily="18" charset="0"/>
              </a:rPr>
              <a:t>q</a:t>
            </a:r>
            <a:r>
              <a:rPr lang="en-US" altLang="en-US" sz="2400"/>
              <a:t> (or both) are true, false otherwise.</a:t>
            </a:r>
          </a:p>
          <a:p>
            <a:pPr marL="0" indent="0" eaLnBrk="1" hangingPunct="1">
              <a:buClr>
                <a:schemeClr val="tx1"/>
              </a:buClr>
              <a:buFont typeface="Wingdings" panose="05000000000000000000" pitchFamily="2" charset="2"/>
              <a:buNone/>
            </a:pPr>
            <a:r>
              <a:rPr lang="en-US" altLang="en-US" sz="2400"/>
              <a:t>Sometimes called </a:t>
            </a:r>
            <a:r>
              <a:rPr lang="en-US" altLang="en-US" sz="2400" i="1"/>
              <a:t>inclusive or</a:t>
            </a:r>
            <a:r>
              <a:rPr lang="en-US" altLang="en-US" sz="2400"/>
              <a:t>.</a:t>
            </a:r>
          </a:p>
          <a:p>
            <a:pPr marL="0" indent="0" eaLnBrk="1" hangingPunct="1">
              <a:buClr>
                <a:schemeClr val="tx1"/>
              </a:buClr>
              <a:buFont typeface="Wingdings" panose="05000000000000000000" pitchFamily="2" charset="2"/>
              <a:buNone/>
            </a:pPr>
            <a:endParaRPr lang="en-US" altLang="en-US" sz="2400"/>
          </a:p>
        </p:txBody>
      </p:sp>
      <p:pic>
        <p:nvPicPr>
          <p:cNvPr id="21508" name="Picture 4"/>
          <p:cNvPicPr>
            <a:picLocks noGrp="1" noChangeAspect="1" noChangeArrowheads="1"/>
          </p:cNvPicPr>
          <p:nvPr>
            <p:ph sz="quarter" idx="2"/>
          </p:nvPr>
        </p:nvPicPr>
        <p:blipFill>
          <a:blip r:embed="rId2" cstate="print">
            <a:extLst>
              <a:ext uri="{28A0092B-C50C-407E-A947-70E740481C1C}">
                <a14:useLocalDpi xmlns:a14="http://schemas.microsoft.com/office/drawing/2010/main" xmlns="" val="0"/>
              </a:ext>
            </a:extLst>
          </a:blip>
          <a:srcRect/>
          <a:stretch>
            <a:fillRect/>
          </a:stretch>
        </p:blipFill>
        <p:spPr>
          <a:xfrm>
            <a:off x="3962400" y="595539"/>
            <a:ext cx="519113" cy="419100"/>
          </a:xfrm>
          <a:noFill/>
        </p:spPr>
      </p:pic>
      <p:pic>
        <p:nvPicPr>
          <p:cNvPr id="21509" name="Picture 6"/>
          <p:cNvPicPr>
            <a:picLocks noGrp="1" noChangeAspect="1" noChangeArrowheads="1"/>
          </p:cNvPicPr>
          <p:nvPr>
            <p:ph sz="quarter" idx="3"/>
          </p:nvPr>
        </p:nvPicPr>
        <p:blipFill>
          <a:blip r:embed="rId3" cstate="print">
            <a:extLst>
              <a:ext uri="{28A0092B-C50C-407E-A947-70E740481C1C}">
                <a14:useLocalDpi xmlns:a14="http://schemas.microsoft.com/office/drawing/2010/main" xmlns="" val="0"/>
              </a:ext>
            </a:extLst>
          </a:blip>
          <a:srcRect/>
          <a:stretch>
            <a:fillRect/>
          </a:stretch>
        </p:blipFill>
        <p:spPr>
          <a:xfrm>
            <a:off x="5247244" y="2133600"/>
            <a:ext cx="241300" cy="263525"/>
          </a:xfrm>
          <a:noFill/>
        </p:spPr>
      </p:pic>
      <p:pic>
        <p:nvPicPr>
          <p:cNvPr id="38920" name="Picture 8"/>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455722" y="3429000"/>
            <a:ext cx="3048000" cy="2819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aphicFrame>
        <p:nvGraphicFramePr>
          <p:cNvPr id="38921" name="Group 9">
            <a:extLst>
              <a:ext uri="{FF2B5EF4-FFF2-40B4-BE49-F238E27FC236}">
                <a16:creationId xmlns:a16="http://schemas.microsoft.com/office/drawing/2014/main" xmlns="" id="{3E178545-AFCC-42D7-B301-0E36FA473C75}"/>
              </a:ext>
            </a:extLst>
          </p:cNvPr>
          <p:cNvGraphicFramePr>
            <a:graphicFrameLocks noGrp="1"/>
          </p:cNvGraphicFramePr>
          <p:nvPr>
            <p:extLst>
              <p:ext uri="{D42A27DB-BD31-4B8C-83A1-F6EECF244321}">
                <p14:modId xmlns:p14="http://schemas.microsoft.com/office/powerpoint/2010/main" xmlns="" val="1888661092"/>
              </p:ext>
            </p:extLst>
          </p:nvPr>
        </p:nvGraphicFramePr>
        <p:xfrm>
          <a:off x="1454835" y="3657600"/>
          <a:ext cx="2133600" cy="2286000"/>
        </p:xfrm>
        <a:graphic>
          <a:graphicData uri="http://schemas.openxmlformats.org/drawingml/2006/table">
            <a:tbl>
              <a:tblPr/>
              <a:tblGrid>
                <a:gridCol w="711200">
                  <a:extLst>
                    <a:ext uri="{9D8B030D-6E8A-4147-A177-3AD203B41FA5}">
                      <a16:colId xmlns:a16="http://schemas.microsoft.com/office/drawing/2014/main" xmlns="" val="20000"/>
                    </a:ext>
                  </a:extLst>
                </a:gridCol>
                <a:gridCol w="711200">
                  <a:extLst>
                    <a:ext uri="{9D8B030D-6E8A-4147-A177-3AD203B41FA5}">
                      <a16:colId xmlns:a16="http://schemas.microsoft.com/office/drawing/2014/main" xmlns="" val="20001"/>
                    </a:ext>
                  </a:extLst>
                </a:gridCol>
                <a:gridCol w="711200">
                  <a:extLst>
                    <a:ext uri="{9D8B030D-6E8A-4147-A177-3AD203B41FA5}">
                      <a16:colId xmlns:a16="http://schemas.microsoft.com/office/drawing/2014/main" xmlns="" val="20002"/>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a:ln>
                            <a:noFill/>
                          </a:ln>
                          <a:solidFill>
                            <a:schemeClr val="tx1"/>
                          </a:solidFill>
                          <a:effectLst/>
                          <a:latin typeface="Arial" charset="0"/>
                        </a:rPr>
                        <a:t>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dirty="0">
                          <a:ln>
                            <a:noFill/>
                          </a:ln>
                          <a:solidFill>
                            <a:schemeClr val="tx1"/>
                          </a:solidFill>
                          <a:effectLst/>
                          <a:latin typeface="Arial" charset="0"/>
                        </a:rPr>
                        <a:t>q</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492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xmlns="" val="40649459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920"/>
                                        </p:tgtEl>
                                        <p:attrNameLst>
                                          <p:attrName>style.visibility</p:attrName>
                                        </p:attrNameLst>
                                      </p:cBhvr>
                                      <p:to>
                                        <p:strVal val="visible"/>
                                      </p:to>
                                    </p:set>
                                    <p:animEffect transition="in" filter="checkerboard(across)">
                                      <p:cBhvr>
                                        <p:cTn id="7" dur="500"/>
                                        <p:tgtEl>
                                          <p:spTgt spid="38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914400" y="277813"/>
            <a:ext cx="7772400" cy="944562"/>
          </a:xfrm>
        </p:spPr>
        <p:txBody>
          <a:bodyPr/>
          <a:lstStyle/>
          <a:p>
            <a:pPr eaLnBrk="1" hangingPunct="1"/>
            <a:r>
              <a:rPr lang="en-US" altLang="en-US" b="1">
                <a:solidFill>
                  <a:schemeClr val="tx1"/>
                </a:solidFill>
              </a:rPr>
              <a:t>Natural Language Meaning</a:t>
            </a:r>
            <a:endParaRPr lang="en-US" altLang="en-US">
              <a:solidFill>
                <a:schemeClr val="tx1"/>
              </a:solidFill>
            </a:endParaRPr>
          </a:p>
        </p:txBody>
      </p:sp>
      <p:sp>
        <p:nvSpPr>
          <p:cNvPr id="22531" name="Rectangle 3"/>
          <p:cNvSpPr>
            <a:spLocks noGrp="1" noChangeArrowheads="1"/>
          </p:cNvSpPr>
          <p:nvPr>
            <p:ph type="body" sz="half" idx="1"/>
          </p:nvPr>
        </p:nvSpPr>
        <p:spPr>
          <a:xfrm>
            <a:off x="838200" y="1600200"/>
            <a:ext cx="7467600" cy="3886200"/>
          </a:xfrm>
        </p:spPr>
        <p:txBody>
          <a:bodyPr/>
          <a:lstStyle/>
          <a:p>
            <a:pPr marL="0" indent="0" eaLnBrk="1" hangingPunct="1">
              <a:buClr>
                <a:schemeClr val="tx1"/>
              </a:buClr>
              <a:buFont typeface="Wingdings" panose="05000000000000000000" pitchFamily="2" charset="2"/>
              <a:buNone/>
            </a:pPr>
            <a:r>
              <a:rPr lang="en-US" altLang="en-US" sz="2400" i="1">
                <a:latin typeface="Times New Roman" panose="02020603050405020304" pitchFamily="18" charset="0"/>
              </a:rPr>
              <a:t>p</a:t>
            </a:r>
            <a:r>
              <a:rPr lang="en-US" altLang="en-US" sz="2400"/>
              <a:t> 	It’s Monday.</a:t>
            </a:r>
          </a:p>
          <a:p>
            <a:pPr marL="0" indent="0" eaLnBrk="1" hangingPunct="1">
              <a:buClr>
                <a:schemeClr val="tx1"/>
              </a:buClr>
              <a:buFont typeface="Wingdings" panose="05000000000000000000" pitchFamily="2" charset="2"/>
              <a:buNone/>
            </a:pPr>
            <a:r>
              <a:rPr lang="en-US" altLang="en-US" sz="2400" i="1">
                <a:latin typeface="Times New Roman" panose="02020603050405020304" pitchFamily="18" charset="0"/>
              </a:rPr>
              <a:t>q</a:t>
            </a:r>
            <a:r>
              <a:rPr lang="en-US" altLang="en-US" sz="2400"/>
              <a:t> 	It’s raining.</a:t>
            </a:r>
          </a:p>
          <a:p>
            <a:pPr marL="0" indent="0" eaLnBrk="1" hangingPunct="1">
              <a:buClr>
                <a:schemeClr val="tx1"/>
              </a:buClr>
              <a:buFont typeface="Wingdings" panose="05000000000000000000" pitchFamily="2" charset="2"/>
              <a:buNone/>
            </a:pPr>
            <a:r>
              <a:rPr lang="en-US" altLang="en-US" sz="2400" i="1">
                <a:latin typeface="Times New Roman" panose="02020603050405020304" pitchFamily="18" charset="0"/>
              </a:rPr>
              <a:t>p    q</a:t>
            </a:r>
            <a:r>
              <a:rPr lang="en-US" altLang="en-US" sz="2400"/>
              <a:t> 	It’s Monday or it is raining.</a:t>
            </a:r>
          </a:p>
          <a:p>
            <a:pPr marL="0" indent="0" eaLnBrk="1" hangingPunct="1">
              <a:buClr>
                <a:schemeClr val="tx1"/>
              </a:buClr>
              <a:buFont typeface="Wingdings" panose="05000000000000000000" pitchFamily="2" charset="2"/>
              <a:buNone/>
            </a:pPr>
            <a:endParaRPr lang="en-US" altLang="en-US" sz="2400"/>
          </a:p>
          <a:p>
            <a:pPr marL="0" indent="0" eaLnBrk="1" hangingPunct="1">
              <a:buClr>
                <a:schemeClr val="tx1"/>
              </a:buClr>
              <a:buFont typeface="Wingdings" panose="05000000000000000000" pitchFamily="2" charset="2"/>
              <a:buNone/>
            </a:pPr>
            <a:r>
              <a:rPr lang="en-US" altLang="en-US" sz="2400"/>
              <a:t>The word </a:t>
            </a:r>
            <a:r>
              <a:rPr lang="en-US" altLang="en-US" sz="2400" i="1"/>
              <a:t>either </a:t>
            </a:r>
            <a:r>
              <a:rPr lang="en-US" altLang="en-US" sz="2400"/>
              <a:t>is often useful eg. </a:t>
            </a:r>
            <a:r>
              <a:rPr lang="en-US" altLang="en-US" sz="2400" i="1">
                <a:solidFill>
                  <a:srgbClr val="FF9933"/>
                </a:solidFill>
              </a:rPr>
              <a:t>either</a:t>
            </a:r>
            <a:r>
              <a:rPr lang="en-US" altLang="en-US" sz="2400" i="1"/>
              <a:t> it’s Monday or it is raining</a:t>
            </a:r>
            <a:r>
              <a:rPr lang="en-US" altLang="en-US" sz="2400"/>
              <a:t>.</a:t>
            </a:r>
          </a:p>
          <a:p>
            <a:pPr marL="0" indent="0" eaLnBrk="1" hangingPunct="1">
              <a:buClr>
                <a:schemeClr val="tx1"/>
              </a:buClr>
              <a:buFont typeface="Wingdings" panose="05000000000000000000" pitchFamily="2" charset="2"/>
              <a:buNone/>
            </a:pPr>
            <a:endParaRPr lang="en-US" altLang="en-US" sz="2400"/>
          </a:p>
          <a:p>
            <a:pPr marL="0" indent="0" eaLnBrk="1" hangingPunct="1">
              <a:buClr>
                <a:schemeClr val="tx1"/>
              </a:buClr>
              <a:buFont typeface="Wingdings" panose="05000000000000000000" pitchFamily="2" charset="2"/>
              <a:buNone/>
            </a:pPr>
            <a:r>
              <a:rPr lang="en-US" altLang="en-US" sz="2400"/>
              <a:t>It </a:t>
            </a:r>
            <a:r>
              <a:rPr lang="en-US" altLang="en-US" sz="2400" i="1"/>
              <a:t>also </a:t>
            </a:r>
            <a:r>
              <a:rPr lang="en-US" altLang="en-US" sz="2400"/>
              <a:t>includes the case of rain on a Monday!</a:t>
            </a:r>
          </a:p>
        </p:txBody>
      </p:sp>
      <p:pic>
        <p:nvPicPr>
          <p:cNvPr id="22532" name="Picture 4"/>
          <p:cNvPicPr>
            <a:picLocks noGrp="1" noChangeAspect="1" noChangeArrowheads="1"/>
          </p:cNvPicPr>
          <p:nvPr>
            <p:ph sz="half" idx="2"/>
          </p:nvPr>
        </p:nvPicPr>
        <p:blipFill>
          <a:blip r:embed="rId2" cstate="print">
            <a:extLst>
              <a:ext uri="{28A0092B-C50C-407E-A947-70E740481C1C}">
                <a14:useLocalDpi xmlns:a14="http://schemas.microsoft.com/office/drawing/2010/main" xmlns="" val="0"/>
              </a:ext>
            </a:extLst>
          </a:blip>
          <a:srcRect/>
          <a:stretch>
            <a:fillRect/>
          </a:stretch>
        </p:blipFill>
        <p:spPr>
          <a:xfrm>
            <a:off x="1066800" y="2590800"/>
            <a:ext cx="239713" cy="257175"/>
          </a:xfrm>
          <a:noFill/>
        </p:spPr>
      </p:pic>
    </p:spTree>
    <p:extLst>
      <p:ext uri="{BB962C8B-B14F-4D97-AF65-F5344CB8AC3E}">
        <p14:creationId xmlns:p14="http://schemas.microsoft.com/office/powerpoint/2010/main" xmlns="" val="308946077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914400" y="277813"/>
            <a:ext cx="7772400" cy="792162"/>
          </a:xfrm>
        </p:spPr>
        <p:txBody>
          <a:bodyPr/>
          <a:lstStyle/>
          <a:p>
            <a:pPr eaLnBrk="1" hangingPunct="1"/>
            <a:r>
              <a:rPr lang="en-US" altLang="en-US" b="1">
                <a:solidFill>
                  <a:schemeClr val="tx1"/>
                </a:solidFill>
              </a:rPr>
              <a:t>Not</a:t>
            </a:r>
            <a:r>
              <a:rPr lang="en-US" altLang="en-US" b="1">
                <a:solidFill>
                  <a:schemeClr val="bg1"/>
                </a:solidFill>
              </a:rPr>
              <a:t> </a:t>
            </a:r>
            <a:endParaRPr lang="en-US" altLang="en-US">
              <a:solidFill>
                <a:schemeClr val="bg1"/>
              </a:solidFill>
            </a:endParaRPr>
          </a:p>
        </p:txBody>
      </p:sp>
      <p:sp>
        <p:nvSpPr>
          <p:cNvPr id="23555" name="Rectangle 3"/>
          <p:cNvSpPr>
            <a:spLocks noGrp="1" noChangeArrowheads="1"/>
          </p:cNvSpPr>
          <p:nvPr>
            <p:ph type="body" sz="half" idx="1"/>
          </p:nvPr>
        </p:nvSpPr>
        <p:spPr>
          <a:xfrm>
            <a:off x="990600" y="1676400"/>
            <a:ext cx="7239000" cy="4876800"/>
          </a:xfrm>
        </p:spPr>
        <p:txBody>
          <a:bodyPr/>
          <a:lstStyle/>
          <a:p>
            <a:pPr marL="0" indent="0" eaLnBrk="1" hangingPunct="1">
              <a:buClr>
                <a:schemeClr val="tx1"/>
              </a:buClr>
              <a:buFont typeface="Wingdings" panose="05000000000000000000" pitchFamily="2" charset="2"/>
              <a:buNone/>
            </a:pPr>
            <a:r>
              <a:rPr lang="en-US" altLang="en-US" sz="2000" dirty="0"/>
              <a:t>Also known as </a:t>
            </a:r>
            <a:r>
              <a:rPr lang="en-US" altLang="en-US" sz="2000" i="1" dirty="0">
                <a:solidFill>
                  <a:srgbClr val="FF9933"/>
                </a:solidFill>
              </a:rPr>
              <a:t>negation</a:t>
            </a:r>
          </a:p>
          <a:p>
            <a:pPr>
              <a:buClr>
                <a:schemeClr val="tx1"/>
              </a:buClr>
            </a:pPr>
            <a:r>
              <a:rPr lang="en-US" altLang="en-US" sz="2000" dirty="0"/>
              <a:t>The negation ‘</a:t>
            </a:r>
            <a:r>
              <a:rPr lang="en-US" altLang="en-US" sz="1800" dirty="0"/>
              <a:t>NOT</a:t>
            </a:r>
            <a:r>
              <a:rPr lang="en-US" altLang="en-US" sz="2000" i="1" dirty="0">
                <a:latin typeface="Times New Roman" panose="02020603050405020304" pitchFamily="18" charset="0"/>
              </a:rPr>
              <a:t> p</a:t>
            </a:r>
            <a:r>
              <a:rPr lang="en-US" altLang="en-US" sz="2000" dirty="0"/>
              <a:t>’ of a proposition (or    </a:t>
            </a:r>
            <a:r>
              <a:rPr lang="en-US" altLang="en-US" sz="2000" i="1" dirty="0">
                <a:latin typeface="Times New Roman" panose="02020603050405020304" pitchFamily="18" charset="0"/>
              </a:rPr>
              <a:t>p</a:t>
            </a:r>
            <a:r>
              <a:rPr lang="en-US" altLang="en-US" sz="2000" dirty="0"/>
              <a:t>) is true when p is false and is false otherwise.    </a:t>
            </a:r>
            <a:r>
              <a:rPr lang="en-US" altLang="en-US" sz="2000" i="1" dirty="0">
                <a:latin typeface="Times New Roman" panose="02020603050405020304" pitchFamily="18" charset="0"/>
              </a:rPr>
              <a:t>p</a:t>
            </a:r>
            <a:r>
              <a:rPr lang="en-US" altLang="en-US" sz="2000" dirty="0"/>
              <a:t> may be read </a:t>
            </a:r>
            <a:r>
              <a:rPr lang="en-US" altLang="en-US" sz="2000" dirty="0">
                <a:solidFill>
                  <a:schemeClr val="accent2"/>
                </a:solidFill>
              </a:rPr>
              <a:t>that it is false that </a:t>
            </a:r>
            <a:r>
              <a:rPr lang="en-US" altLang="en-US" sz="2000" i="1" dirty="0">
                <a:solidFill>
                  <a:schemeClr val="accent2"/>
                </a:solidFill>
                <a:latin typeface="Times New Roman" panose="02020603050405020304" pitchFamily="18" charset="0"/>
              </a:rPr>
              <a:t>p</a:t>
            </a:r>
            <a:r>
              <a:rPr lang="en-US" altLang="en-US" sz="2000" dirty="0"/>
              <a:t>.</a:t>
            </a:r>
          </a:p>
          <a:p>
            <a:pPr marL="0" indent="0" eaLnBrk="1" hangingPunct="1">
              <a:buClr>
                <a:schemeClr val="tx1"/>
              </a:buClr>
              <a:buFont typeface="Wingdings" panose="05000000000000000000" pitchFamily="2" charset="2"/>
              <a:buNone/>
            </a:pPr>
            <a:endParaRPr lang="en-US" altLang="en-US" sz="2000" dirty="0"/>
          </a:p>
          <a:p>
            <a:pPr marL="0" indent="0" eaLnBrk="1" hangingPunct="1">
              <a:buClr>
                <a:schemeClr val="tx1"/>
              </a:buClr>
              <a:buFont typeface="Wingdings" panose="05000000000000000000" pitchFamily="2" charset="2"/>
              <a:buNone/>
            </a:pPr>
            <a:endParaRPr lang="en-US" altLang="en-US" sz="2000" dirty="0"/>
          </a:p>
          <a:p>
            <a:pPr marL="0" indent="0" eaLnBrk="1" hangingPunct="1">
              <a:buClr>
                <a:schemeClr val="tx1"/>
              </a:buClr>
              <a:buFont typeface="Wingdings" panose="05000000000000000000" pitchFamily="2" charset="2"/>
              <a:buNone/>
            </a:pPr>
            <a:endParaRPr lang="en-US" altLang="en-US" sz="2000" dirty="0"/>
          </a:p>
          <a:p>
            <a:pPr marL="0" indent="0" eaLnBrk="1" hangingPunct="1">
              <a:buClr>
                <a:schemeClr val="tx1"/>
              </a:buClr>
              <a:buFont typeface="Wingdings" panose="05000000000000000000" pitchFamily="2" charset="2"/>
              <a:buNone/>
            </a:pPr>
            <a:endParaRPr lang="en-US" altLang="en-US" sz="2000" dirty="0"/>
          </a:p>
          <a:p>
            <a:pPr marL="0" indent="0" eaLnBrk="1" hangingPunct="1">
              <a:buClr>
                <a:schemeClr val="tx1"/>
              </a:buClr>
              <a:buFont typeface="Wingdings" panose="05000000000000000000" pitchFamily="2" charset="2"/>
              <a:buNone/>
            </a:pPr>
            <a:endParaRPr lang="en-US" altLang="en-US" sz="2000" dirty="0"/>
          </a:p>
          <a:p>
            <a:pPr marL="0" indent="0" eaLnBrk="1" hangingPunct="1">
              <a:buClr>
                <a:schemeClr val="tx1"/>
              </a:buClr>
              <a:buFont typeface="Wingdings" panose="05000000000000000000" pitchFamily="2" charset="2"/>
              <a:buNone/>
            </a:pPr>
            <a:endParaRPr lang="en-US" altLang="en-US" sz="2000" dirty="0"/>
          </a:p>
          <a:p>
            <a:pPr>
              <a:buClr>
                <a:schemeClr val="tx1"/>
              </a:buClr>
            </a:pPr>
            <a:r>
              <a:rPr lang="en-US" altLang="en-US" sz="2000" dirty="0"/>
              <a:t>Negation is a </a:t>
            </a:r>
            <a:r>
              <a:rPr lang="en-US" altLang="en-US" sz="2000" i="1" dirty="0">
                <a:solidFill>
                  <a:srgbClr val="FF9933"/>
                </a:solidFill>
              </a:rPr>
              <a:t>unary </a:t>
            </a:r>
            <a:r>
              <a:rPr lang="en-US" altLang="en-US" sz="2000" dirty="0"/>
              <a:t>connective. It only takes one argument.</a:t>
            </a:r>
          </a:p>
          <a:p>
            <a:pPr>
              <a:buClr>
                <a:schemeClr val="tx1"/>
              </a:buClr>
            </a:pPr>
            <a:r>
              <a:rPr lang="en-US" altLang="en-US" sz="2000" dirty="0"/>
              <a:t>Conjunction and disjunction were both </a:t>
            </a:r>
            <a:r>
              <a:rPr lang="en-US" altLang="en-US" sz="2000" i="1" dirty="0"/>
              <a:t>binary </a:t>
            </a:r>
            <a:r>
              <a:rPr lang="en-US" altLang="en-US" sz="2000" dirty="0"/>
              <a:t>connectives.</a:t>
            </a:r>
          </a:p>
        </p:txBody>
      </p:sp>
      <p:pic>
        <p:nvPicPr>
          <p:cNvPr id="23556" name="Picture 4"/>
          <p:cNvPicPr>
            <a:picLocks noGrp="1" noChangeAspect="1" noChangeArrowheads="1"/>
          </p:cNvPicPr>
          <p:nvPr>
            <p:ph sz="quarter" idx="2"/>
          </p:nvPr>
        </p:nvPicPr>
        <p:blipFill>
          <a:blip r:embed="rId2" cstate="print">
            <a:extLst>
              <a:ext uri="{28A0092B-C50C-407E-A947-70E740481C1C}">
                <a14:useLocalDpi xmlns:a14="http://schemas.microsoft.com/office/drawing/2010/main" xmlns="" val="0"/>
              </a:ext>
            </a:extLst>
          </a:blip>
          <a:srcRect/>
          <a:stretch>
            <a:fillRect/>
          </a:stretch>
        </p:blipFill>
        <p:spPr>
          <a:xfrm>
            <a:off x="3657600" y="517525"/>
            <a:ext cx="452438" cy="312738"/>
          </a:xfrm>
          <a:noFill/>
        </p:spPr>
      </p:pic>
      <p:pic>
        <p:nvPicPr>
          <p:cNvPr id="23557" name="Picture 6"/>
          <p:cNvPicPr>
            <a:picLocks noGrp="1" noChangeAspect="1" noChangeArrowheads="1"/>
          </p:cNvPicPr>
          <p:nvPr>
            <p:ph sz="quarter" idx="3"/>
          </p:nvPr>
        </p:nvPicPr>
        <p:blipFill>
          <a:blip r:embed="rId3" cstate="print">
            <a:extLst>
              <a:ext uri="{28A0092B-C50C-407E-A947-70E740481C1C}">
                <a14:useLocalDpi xmlns:a14="http://schemas.microsoft.com/office/drawing/2010/main" xmlns="" val="0"/>
              </a:ext>
            </a:extLst>
          </a:blip>
          <a:srcRect/>
          <a:stretch>
            <a:fillRect/>
          </a:stretch>
        </p:blipFill>
        <p:spPr>
          <a:xfrm>
            <a:off x="5638800" y="2133600"/>
            <a:ext cx="211138" cy="171450"/>
          </a:xfrm>
          <a:noFill/>
        </p:spPr>
      </p:pic>
      <p:pic>
        <p:nvPicPr>
          <p:cNvPr id="40968" name="Picture 8"/>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943600" y="2667000"/>
            <a:ext cx="2667000" cy="2286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3559" name="Picture 9"/>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287618" y="2438400"/>
            <a:ext cx="222250"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aphicFrame>
        <p:nvGraphicFramePr>
          <p:cNvPr id="40997" name="Group 37">
            <a:extLst>
              <a:ext uri="{FF2B5EF4-FFF2-40B4-BE49-F238E27FC236}">
                <a16:creationId xmlns:a16="http://schemas.microsoft.com/office/drawing/2014/main" xmlns="" id="{C9BCD448-1AAD-4810-9B3B-0CB07F25B74A}"/>
              </a:ext>
            </a:extLst>
          </p:cNvPr>
          <p:cNvGraphicFramePr>
            <a:graphicFrameLocks noGrp="1"/>
          </p:cNvGraphicFramePr>
          <p:nvPr/>
        </p:nvGraphicFramePr>
        <p:xfrm>
          <a:off x="2590800" y="3171825"/>
          <a:ext cx="1422400" cy="1371600"/>
        </p:xfrm>
        <a:graphic>
          <a:graphicData uri="http://schemas.openxmlformats.org/drawingml/2006/table">
            <a:tbl>
              <a:tblPr/>
              <a:tblGrid>
                <a:gridCol w="711200">
                  <a:extLst>
                    <a:ext uri="{9D8B030D-6E8A-4147-A177-3AD203B41FA5}">
                      <a16:colId xmlns:a16="http://schemas.microsoft.com/office/drawing/2014/main" xmlns="" val="20000"/>
                    </a:ext>
                  </a:extLst>
                </a:gridCol>
                <a:gridCol w="711200">
                  <a:extLst>
                    <a:ext uri="{9D8B030D-6E8A-4147-A177-3AD203B41FA5}">
                      <a16:colId xmlns:a16="http://schemas.microsoft.com/office/drawing/2014/main" xmlns=""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a:ln>
                            <a:noFill/>
                          </a:ln>
                          <a:solidFill>
                            <a:schemeClr val="tx1"/>
                          </a:solidFill>
                          <a:effectLst/>
                          <a:latin typeface="Arial" charset="0"/>
                        </a:rPr>
                        <a:t>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xmlns="" val="35098348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968"/>
                                        </p:tgtEl>
                                        <p:attrNameLst>
                                          <p:attrName>style.visibility</p:attrName>
                                        </p:attrNameLst>
                                      </p:cBhvr>
                                      <p:to>
                                        <p:strVal val="visible"/>
                                      </p:to>
                                    </p:set>
                                    <p:animEffect transition="in" filter="box(in)">
                                      <p:cBhvr>
                                        <p:cTn id="7" dur="500"/>
                                        <p:tgtEl>
                                          <p:spTgt spid="40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b="1">
                <a:solidFill>
                  <a:schemeClr val="tx1"/>
                </a:solidFill>
              </a:rPr>
              <a:t>Natural Language Meaning</a:t>
            </a:r>
            <a:endParaRPr lang="en-US" altLang="en-US">
              <a:solidFill>
                <a:schemeClr val="tx1"/>
              </a:solidFill>
            </a:endParaRPr>
          </a:p>
        </p:txBody>
      </p:sp>
      <p:sp>
        <p:nvSpPr>
          <p:cNvPr id="24579" name="Rectangle 3"/>
          <p:cNvSpPr>
            <a:spLocks noGrp="1" noChangeArrowheads="1"/>
          </p:cNvSpPr>
          <p:nvPr>
            <p:ph type="body" sz="half" idx="1"/>
          </p:nvPr>
        </p:nvSpPr>
        <p:spPr>
          <a:xfrm>
            <a:off x="914400" y="1600200"/>
            <a:ext cx="7700963" cy="4530725"/>
          </a:xfrm>
        </p:spPr>
        <p:txBody>
          <a:bodyPr/>
          <a:lstStyle/>
          <a:p>
            <a:pPr eaLnBrk="1" hangingPunct="1">
              <a:buClr>
                <a:schemeClr val="tx1"/>
              </a:buClr>
              <a:buFont typeface="Wingdings" panose="05000000000000000000" pitchFamily="2" charset="2"/>
              <a:buNone/>
            </a:pPr>
            <a:r>
              <a:rPr lang="en-US" altLang="en-US" sz="2400" i="1" dirty="0">
                <a:latin typeface="Times New Roman" panose="02020603050405020304" pitchFamily="18" charset="0"/>
              </a:rPr>
              <a:t>  p</a:t>
            </a:r>
            <a:r>
              <a:rPr lang="en-US" altLang="en-US" sz="2400" dirty="0"/>
              <a:t> 	Logic is easy.</a:t>
            </a:r>
          </a:p>
          <a:p>
            <a:pPr eaLnBrk="1" hangingPunct="1">
              <a:buClr>
                <a:schemeClr val="tx1"/>
              </a:buClr>
              <a:buFont typeface="Wingdings" panose="05000000000000000000" pitchFamily="2" charset="2"/>
              <a:buNone/>
            </a:pPr>
            <a:r>
              <a:rPr lang="en-US" altLang="en-US" sz="2400" dirty="0"/>
              <a:t>   </a:t>
            </a:r>
            <a:r>
              <a:rPr lang="en-US" altLang="en-US" sz="2400" i="1" dirty="0">
                <a:latin typeface="Times New Roman" panose="02020603050405020304" pitchFamily="18" charset="0"/>
              </a:rPr>
              <a:t>p</a:t>
            </a:r>
            <a:r>
              <a:rPr lang="en-US" altLang="en-US" sz="2400" dirty="0"/>
              <a:t> 	It is false that logic is easy.</a:t>
            </a:r>
          </a:p>
          <a:p>
            <a:pPr eaLnBrk="1" hangingPunct="1">
              <a:buClr>
                <a:schemeClr val="tx1"/>
              </a:buClr>
              <a:buFont typeface="Wingdings" panose="05000000000000000000" pitchFamily="2" charset="2"/>
              <a:buNone/>
            </a:pPr>
            <a:r>
              <a:rPr lang="en-US" altLang="en-US" sz="2400" dirty="0"/>
              <a:t>		It is not the case that logic is easy.</a:t>
            </a:r>
          </a:p>
          <a:p>
            <a:pPr eaLnBrk="1" hangingPunct="1">
              <a:buClr>
                <a:schemeClr val="tx1"/>
              </a:buClr>
              <a:buFont typeface="Wingdings" panose="05000000000000000000" pitchFamily="2" charset="2"/>
              <a:buNone/>
            </a:pPr>
            <a:r>
              <a:rPr lang="en-US" altLang="en-US" sz="2400" dirty="0"/>
              <a:t>		Logic is not easy.</a:t>
            </a:r>
          </a:p>
          <a:p>
            <a:pPr eaLnBrk="1" hangingPunct="1">
              <a:buClr>
                <a:schemeClr val="tx1"/>
              </a:buClr>
              <a:buFont typeface="Wingdings" panose="05000000000000000000" pitchFamily="2" charset="2"/>
              <a:buNone/>
            </a:pPr>
            <a:endParaRPr lang="en-US" altLang="en-US" sz="2400" dirty="0"/>
          </a:p>
        </p:txBody>
      </p:sp>
      <p:pic>
        <p:nvPicPr>
          <p:cNvPr id="24580" name="Picture 4"/>
          <p:cNvPicPr>
            <a:picLocks noGrp="1" noChangeAspect="1" noChangeArrowheads="1"/>
          </p:cNvPicPr>
          <p:nvPr>
            <p:ph sz="half" idx="2"/>
          </p:nvPr>
        </p:nvPicPr>
        <p:blipFill>
          <a:blip r:embed="rId2" cstate="print">
            <a:extLst>
              <a:ext uri="{28A0092B-C50C-407E-A947-70E740481C1C}">
                <a14:useLocalDpi xmlns:a14="http://schemas.microsoft.com/office/drawing/2010/main" xmlns="" val="0"/>
              </a:ext>
            </a:extLst>
          </a:blip>
          <a:srcRect/>
          <a:stretch>
            <a:fillRect/>
          </a:stretch>
        </p:blipFill>
        <p:spPr>
          <a:xfrm>
            <a:off x="985838" y="2133600"/>
            <a:ext cx="211137" cy="171450"/>
          </a:xfrm>
          <a:noFill/>
        </p:spPr>
      </p:pic>
    </p:spTree>
    <p:extLst>
      <p:ext uri="{BB962C8B-B14F-4D97-AF65-F5344CB8AC3E}">
        <p14:creationId xmlns:p14="http://schemas.microsoft.com/office/powerpoint/2010/main" xmlns="" val="160251725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en-US" b="1">
                <a:solidFill>
                  <a:schemeClr val="tx1"/>
                </a:solidFill>
              </a:rPr>
              <a:t>If . . . then </a:t>
            </a:r>
            <a:r>
              <a:rPr lang="en-US" altLang="en-US" b="1">
                <a:solidFill>
                  <a:schemeClr val="bg1"/>
                </a:solidFill>
              </a:rPr>
              <a:t> . .</a:t>
            </a:r>
            <a:r>
              <a:rPr lang="en-US" altLang="en-US" b="1">
                <a:solidFill>
                  <a:srgbClr val="0000CC"/>
                </a:solidFill>
              </a:rPr>
              <a:t>   </a:t>
            </a:r>
            <a:endParaRPr lang="en-US" altLang="en-US">
              <a:solidFill>
                <a:srgbClr val="0000CC"/>
              </a:solidFill>
            </a:endParaRPr>
          </a:p>
        </p:txBody>
      </p:sp>
      <p:sp>
        <p:nvSpPr>
          <p:cNvPr id="25603" name="Rectangle 3"/>
          <p:cNvSpPr>
            <a:spLocks noGrp="1" noChangeArrowheads="1"/>
          </p:cNvSpPr>
          <p:nvPr>
            <p:ph type="body" sz="half" idx="1"/>
          </p:nvPr>
        </p:nvSpPr>
        <p:spPr>
          <a:xfrm>
            <a:off x="457200" y="1600200"/>
            <a:ext cx="8305800" cy="4953000"/>
          </a:xfrm>
        </p:spPr>
        <p:txBody>
          <a:bodyPr/>
          <a:lstStyle/>
          <a:p>
            <a:pPr marL="0" indent="0" eaLnBrk="1" hangingPunct="1">
              <a:buClr>
                <a:schemeClr val="tx1"/>
              </a:buClr>
              <a:buFont typeface="Wingdings" panose="05000000000000000000" pitchFamily="2" charset="2"/>
              <a:buNone/>
            </a:pPr>
            <a:r>
              <a:rPr lang="en-US" altLang="en-US" sz="2400"/>
              <a:t>Also known as </a:t>
            </a:r>
            <a:r>
              <a:rPr lang="en-US" altLang="en-US" sz="2400" b="1"/>
              <a:t>implication</a:t>
            </a:r>
          </a:p>
          <a:p>
            <a:pPr marL="0" indent="0" eaLnBrk="1" hangingPunct="1">
              <a:buClr>
                <a:schemeClr val="tx1"/>
              </a:buClr>
              <a:buFont typeface="Wingdings" panose="05000000000000000000" pitchFamily="2" charset="2"/>
              <a:buNone/>
            </a:pPr>
            <a:r>
              <a:rPr lang="en-US" altLang="en-US" sz="2400"/>
              <a:t>The implication ‘</a:t>
            </a:r>
            <a:r>
              <a:rPr lang="en-US" altLang="en-US" sz="2400" i="1">
                <a:latin typeface="Times New Roman" panose="02020603050405020304" pitchFamily="18" charset="0"/>
              </a:rPr>
              <a:t>p</a:t>
            </a:r>
            <a:r>
              <a:rPr lang="en-US" altLang="en-US" sz="2400"/>
              <a:t> </a:t>
            </a:r>
            <a:r>
              <a:rPr lang="en-US" altLang="en-US" sz="1800"/>
              <a:t>IMPLIES</a:t>
            </a:r>
            <a:r>
              <a:rPr lang="en-US" altLang="en-US" sz="2400"/>
              <a:t> </a:t>
            </a:r>
            <a:r>
              <a:rPr lang="en-US" altLang="en-US" sz="2400" i="1">
                <a:latin typeface="Times New Roman" panose="02020603050405020304" pitchFamily="18" charset="0"/>
              </a:rPr>
              <a:t>q</a:t>
            </a:r>
            <a:r>
              <a:rPr lang="en-US" altLang="en-US" sz="2400"/>
              <a:t>’, written </a:t>
            </a:r>
            <a:r>
              <a:rPr lang="en-US" altLang="en-US" sz="2400" i="1">
                <a:latin typeface="Times New Roman" panose="02020603050405020304" pitchFamily="18" charset="0"/>
              </a:rPr>
              <a:t>p</a:t>
            </a:r>
            <a:r>
              <a:rPr lang="en-US" altLang="en-US" sz="2400"/>
              <a:t>    </a:t>
            </a:r>
            <a:r>
              <a:rPr lang="en-US" altLang="en-US" sz="2400" i="1">
                <a:latin typeface="Times New Roman" panose="02020603050405020304" pitchFamily="18" charset="0"/>
              </a:rPr>
              <a:t>q</a:t>
            </a:r>
            <a:r>
              <a:rPr lang="en-US" altLang="en-US" sz="2400"/>
              <a:t>, of two propositions is true when either </a:t>
            </a:r>
            <a:r>
              <a:rPr lang="en-US" altLang="en-US" sz="2400" i="1">
                <a:latin typeface="Times New Roman" panose="02020603050405020304" pitchFamily="18" charset="0"/>
              </a:rPr>
              <a:t>p</a:t>
            </a:r>
            <a:r>
              <a:rPr lang="en-US" altLang="en-US" sz="2400"/>
              <a:t> is false or </a:t>
            </a:r>
            <a:r>
              <a:rPr lang="en-US" altLang="en-US" sz="2400" i="1">
                <a:latin typeface="Times New Roman" panose="02020603050405020304" pitchFamily="18" charset="0"/>
              </a:rPr>
              <a:t>q</a:t>
            </a:r>
            <a:r>
              <a:rPr lang="en-US" altLang="en-US" sz="2400"/>
              <a:t> is true, and false otherwise. An if…then statement will be false when </a:t>
            </a:r>
            <a:r>
              <a:rPr lang="en-US" altLang="en-US" sz="2400" i="1"/>
              <a:t>p</a:t>
            </a:r>
            <a:r>
              <a:rPr lang="en-US" altLang="en-US" sz="2400"/>
              <a:t> is true and </a:t>
            </a:r>
            <a:r>
              <a:rPr lang="en-US" altLang="en-US" sz="2400" i="1"/>
              <a:t>q</a:t>
            </a:r>
            <a:r>
              <a:rPr lang="en-US" altLang="en-US" sz="2400"/>
              <a:t> is false, and will be true for all other cases</a:t>
            </a:r>
          </a:p>
          <a:p>
            <a:pPr marL="0" indent="0" eaLnBrk="1" hangingPunct="1">
              <a:buClr>
                <a:schemeClr val="tx1"/>
              </a:buClr>
              <a:buFont typeface="Wingdings" panose="05000000000000000000" pitchFamily="2" charset="2"/>
              <a:buNone/>
            </a:pPr>
            <a:endParaRPr lang="en-US" altLang="en-US" sz="2400"/>
          </a:p>
        </p:txBody>
      </p:sp>
      <p:pic>
        <p:nvPicPr>
          <p:cNvPr id="25604" name="Picture 4"/>
          <p:cNvPicPr>
            <a:picLocks noGrp="1" noChangeAspect="1" noChangeArrowheads="1"/>
          </p:cNvPicPr>
          <p:nvPr>
            <p:ph sz="quarter" idx="2"/>
          </p:nvPr>
        </p:nvPicPr>
        <p:blipFill>
          <a:blip r:embed="rId2" cstate="print">
            <a:extLst>
              <a:ext uri="{28A0092B-C50C-407E-A947-70E740481C1C}">
                <a14:useLocalDpi xmlns:a14="http://schemas.microsoft.com/office/drawing/2010/main" xmlns="" val="0"/>
              </a:ext>
            </a:extLst>
          </a:blip>
          <a:srcRect/>
          <a:stretch>
            <a:fillRect/>
          </a:stretch>
        </p:blipFill>
        <p:spPr>
          <a:xfrm>
            <a:off x="2514600" y="660400"/>
            <a:ext cx="550863" cy="377825"/>
          </a:xfrm>
          <a:noFill/>
        </p:spPr>
      </p:pic>
      <p:pic>
        <p:nvPicPr>
          <p:cNvPr id="25605" name="Picture 6"/>
          <p:cNvPicPr>
            <a:picLocks noGrp="1" noChangeAspect="1" noChangeArrowheads="1"/>
          </p:cNvPicPr>
          <p:nvPr>
            <p:ph sz="quarter" idx="3"/>
          </p:nvPr>
        </p:nvPicPr>
        <p:blipFill>
          <a:blip r:embed="rId3" cstate="print">
            <a:extLst>
              <a:ext uri="{28A0092B-C50C-407E-A947-70E740481C1C}">
                <a14:useLocalDpi xmlns:a14="http://schemas.microsoft.com/office/drawing/2010/main" xmlns="" val="0"/>
              </a:ext>
            </a:extLst>
          </a:blip>
          <a:srcRect/>
          <a:stretch>
            <a:fillRect/>
          </a:stretch>
        </p:blipFill>
        <p:spPr>
          <a:xfrm>
            <a:off x="5105400" y="2133600"/>
            <a:ext cx="303213" cy="255588"/>
          </a:xfrm>
          <a:noFill/>
        </p:spPr>
      </p:pic>
      <p:pic>
        <p:nvPicPr>
          <p:cNvPr id="47112" name="Picture 8"/>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457700" y="3694113"/>
            <a:ext cx="3429000" cy="3171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aphicFrame>
        <p:nvGraphicFramePr>
          <p:cNvPr id="47113" name="Group 9">
            <a:extLst>
              <a:ext uri="{FF2B5EF4-FFF2-40B4-BE49-F238E27FC236}">
                <a16:creationId xmlns:a16="http://schemas.microsoft.com/office/drawing/2014/main" xmlns="" id="{DC5701A4-0566-41A7-BEDC-A08FEB872F3D}"/>
              </a:ext>
            </a:extLst>
          </p:cNvPr>
          <p:cNvGraphicFramePr>
            <a:graphicFrameLocks noGrp="1"/>
          </p:cNvGraphicFramePr>
          <p:nvPr/>
        </p:nvGraphicFramePr>
        <p:xfrm>
          <a:off x="1447800" y="4114800"/>
          <a:ext cx="2133600" cy="2286000"/>
        </p:xfrm>
        <a:graphic>
          <a:graphicData uri="http://schemas.openxmlformats.org/drawingml/2006/table">
            <a:tbl>
              <a:tblPr/>
              <a:tblGrid>
                <a:gridCol w="711200">
                  <a:extLst>
                    <a:ext uri="{9D8B030D-6E8A-4147-A177-3AD203B41FA5}">
                      <a16:colId xmlns:a16="http://schemas.microsoft.com/office/drawing/2014/main" xmlns="" val="20000"/>
                    </a:ext>
                  </a:extLst>
                </a:gridCol>
                <a:gridCol w="711200">
                  <a:extLst>
                    <a:ext uri="{9D8B030D-6E8A-4147-A177-3AD203B41FA5}">
                      <a16:colId xmlns:a16="http://schemas.microsoft.com/office/drawing/2014/main" xmlns="" val="20001"/>
                    </a:ext>
                  </a:extLst>
                </a:gridCol>
                <a:gridCol w="711200">
                  <a:extLst>
                    <a:ext uri="{9D8B030D-6E8A-4147-A177-3AD203B41FA5}">
                      <a16:colId xmlns:a16="http://schemas.microsoft.com/office/drawing/2014/main" xmlns="" val="20002"/>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a:ln>
                            <a:noFill/>
                          </a:ln>
                          <a:solidFill>
                            <a:schemeClr val="tx1"/>
                          </a:solidFill>
                          <a:effectLst/>
                          <a:latin typeface="Arial" charset="0"/>
                        </a:rPr>
                        <a:t>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sz="2400" b="0" i="0" u="none" strike="noStrike" cap="none" normalizeH="0" baseline="0">
                          <a:ln>
                            <a:noFill/>
                          </a:ln>
                          <a:solidFill>
                            <a:schemeClr val="tx1"/>
                          </a:solidFill>
                          <a:effectLst/>
                          <a:latin typeface="Arial" charset="0"/>
                        </a:rPr>
                        <a:t>q</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492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810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xmlns="" val="28602553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7112"/>
                                        </p:tgtEl>
                                        <p:attrNameLst>
                                          <p:attrName>style.visibility</p:attrName>
                                        </p:attrNameLst>
                                      </p:cBhvr>
                                      <p:to>
                                        <p:strVal val="visible"/>
                                      </p:to>
                                    </p:set>
                                    <p:animEffect transition="in" filter="checkerboard(across)">
                                      <p:cBhvr>
                                        <p:cTn id="7" dur="500"/>
                                        <p:tgtEl>
                                          <p:spTgt spid="47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b="1">
                <a:solidFill>
                  <a:schemeClr val="tx1"/>
                </a:solidFill>
              </a:rPr>
              <a:t>Natural Language Meaning</a:t>
            </a:r>
            <a:endParaRPr lang="en-US" altLang="en-US">
              <a:solidFill>
                <a:schemeClr val="tx1"/>
              </a:solidFill>
            </a:endParaRPr>
          </a:p>
        </p:txBody>
      </p:sp>
      <p:sp>
        <p:nvSpPr>
          <p:cNvPr id="26627" name="Rectangle 3"/>
          <p:cNvSpPr>
            <a:spLocks noGrp="1" noChangeArrowheads="1"/>
          </p:cNvSpPr>
          <p:nvPr>
            <p:ph type="body" sz="half" idx="1"/>
          </p:nvPr>
        </p:nvSpPr>
        <p:spPr>
          <a:xfrm>
            <a:off x="457200" y="1600200"/>
            <a:ext cx="8305800" cy="4724400"/>
          </a:xfrm>
        </p:spPr>
        <p:txBody>
          <a:bodyPr/>
          <a:lstStyle/>
          <a:p>
            <a:pPr marL="0" indent="0" eaLnBrk="1" hangingPunct="1">
              <a:buClr>
                <a:schemeClr val="tx1"/>
              </a:buClr>
              <a:buFont typeface="Wingdings" panose="05000000000000000000" pitchFamily="2" charset="2"/>
              <a:buNone/>
            </a:pPr>
            <a:r>
              <a:rPr lang="en-US" altLang="en-US" sz="2400" i="1">
                <a:latin typeface="Times New Roman" panose="02020603050405020304" pitchFamily="18" charset="0"/>
              </a:rPr>
              <a:t>p</a:t>
            </a:r>
            <a:r>
              <a:rPr lang="en-US" altLang="en-US" sz="2400"/>
              <a:t> 		I study hard.</a:t>
            </a:r>
          </a:p>
          <a:p>
            <a:pPr marL="0" indent="0" eaLnBrk="1" hangingPunct="1">
              <a:buClr>
                <a:schemeClr val="tx1"/>
              </a:buClr>
              <a:buFont typeface="Wingdings" panose="05000000000000000000" pitchFamily="2" charset="2"/>
              <a:buNone/>
            </a:pPr>
            <a:r>
              <a:rPr lang="en-US" altLang="en-US" sz="2400" i="1">
                <a:latin typeface="Times New Roman" panose="02020603050405020304" pitchFamily="18" charset="0"/>
              </a:rPr>
              <a:t>q</a:t>
            </a:r>
            <a:r>
              <a:rPr lang="en-US" altLang="en-US" sz="2400"/>
              <a:t> 		I get rich.</a:t>
            </a:r>
          </a:p>
          <a:p>
            <a:pPr marL="0" indent="0" eaLnBrk="1" hangingPunct="1">
              <a:buClr>
                <a:schemeClr val="tx1"/>
              </a:buClr>
              <a:buFont typeface="Wingdings" panose="05000000000000000000" pitchFamily="2" charset="2"/>
              <a:buNone/>
            </a:pPr>
            <a:r>
              <a:rPr lang="en-US" altLang="en-US" sz="2400" i="1">
                <a:latin typeface="Times New Roman" panose="02020603050405020304" pitchFamily="18" charset="0"/>
              </a:rPr>
              <a:t>p    q</a:t>
            </a:r>
            <a:r>
              <a:rPr lang="en-US" altLang="en-US" sz="2400"/>
              <a:t> 		If I study hard then I get rich.</a:t>
            </a:r>
          </a:p>
          <a:p>
            <a:pPr marL="0" indent="0" eaLnBrk="1" hangingPunct="1">
              <a:buClr>
                <a:schemeClr val="tx1"/>
              </a:buClr>
              <a:buFont typeface="Wingdings" panose="05000000000000000000" pitchFamily="2" charset="2"/>
              <a:buNone/>
            </a:pPr>
            <a:r>
              <a:rPr lang="en-US" altLang="en-US" sz="2400"/>
              <a:t>		Whenever I study hard, I get rich.</a:t>
            </a:r>
          </a:p>
          <a:p>
            <a:pPr marL="0" indent="0" eaLnBrk="1" hangingPunct="1">
              <a:buClr>
                <a:schemeClr val="tx1"/>
              </a:buClr>
              <a:buFont typeface="Wingdings" panose="05000000000000000000" pitchFamily="2" charset="2"/>
              <a:buNone/>
            </a:pPr>
            <a:r>
              <a:rPr lang="en-US" altLang="en-US" sz="2400"/>
              <a:t>		That I study hard implies I get rich.</a:t>
            </a:r>
          </a:p>
          <a:p>
            <a:pPr marL="0" indent="0" eaLnBrk="1" hangingPunct="1">
              <a:buClr>
                <a:schemeClr val="tx1"/>
              </a:buClr>
              <a:buFont typeface="Wingdings" panose="05000000000000000000" pitchFamily="2" charset="2"/>
              <a:buNone/>
            </a:pPr>
            <a:r>
              <a:rPr lang="en-US" altLang="en-US" sz="2400"/>
              <a:t>		I get rich, if I study hard.</a:t>
            </a:r>
          </a:p>
          <a:p>
            <a:pPr marL="0" indent="0" eaLnBrk="1" hangingPunct="1">
              <a:buClr>
                <a:schemeClr val="tx1"/>
              </a:buClr>
              <a:buFont typeface="Wingdings" panose="05000000000000000000" pitchFamily="2" charset="2"/>
              <a:buNone/>
            </a:pPr>
            <a:endParaRPr lang="en-US" altLang="en-US" sz="2400"/>
          </a:p>
        </p:txBody>
      </p:sp>
      <p:pic>
        <p:nvPicPr>
          <p:cNvPr id="26628" name="Picture 4"/>
          <p:cNvPicPr>
            <a:picLocks noGrp="1" noChangeAspect="1" noChangeArrowheads="1"/>
          </p:cNvPicPr>
          <p:nvPr>
            <p:ph sz="half" idx="2"/>
          </p:nvPr>
        </p:nvPicPr>
        <p:blipFill>
          <a:blip r:embed="rId2" cstate="print">
            <a:extLst>
              <a:ext uri="{28A0092B-C50C-407E-A947-70E740481C1C}">
                <a14:useLocalDpi xmlns:a14="http://schemas.microsoft.com/office/drawing/2010/main" xmlns="" val="0"/>
              </a:ext>
            </a:extLst>
          </a:blip>
          <a:srcRect/>
          <a:stretch>
            <a:fillRect/>
          </a:stretch>
        </p:blipFill>
        <p:spPr>
          <a:xfrm>
            <a:off x="685800" y="2610728"/>
            <a:ext cx="303213" cy="255588"/>
          </a:xfrm>
          <a:noFill/>
        </p:spPr>
      </p:pic>
    </p:spTree>
    <p:extLst>
      <p:ext uri="{BB962C8B-B14F-4D97-AF65-F5344CB8AC3E}">
        <p14:creationId xmlns:p14="http://schemas.microsoft.com/office/powerpoint/2010/main" xmlns="" val="185093774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en-US" b="1">
                <a:solidFill>
                  <a:schemeClr val="tx1"/>
                </a:solidFill>
              </a:rPr>
              <a:t>More About Implication</a:t>
            </a:r>
            <a:endParaRPr lang="en-US" altLang="en-US">
              <a:solidFill>
                <a:schemeClr val="tx1"/>
              </a:solidFill>
            </a:endParaRPr>
          </a:p>
        </p:txBody>
      </p:sp>
      <p:sp>
        <p:nvSpPr>
          <p:cNvPr id="27651" name="Rectangle 3"/>
          <p:cNvSpPr>
            <a:spLocks noGrp="1" noChangeArrowheads="1"/>
          </p:cNvSpPr>
          <p:nvPr>
            <p:ph type="body" sz="half" idx="1"/>
          </p:nvPr>
        </p:nvSpPr>
        <p:spPr>
          <a:xfrm>
            <a:off x="914400" y="1600200"/>
            <a:ext cx="7772400" cy="4530725"/>
          </a:xfrm>
        </p:spPr>
        <p:txBody>
          <a:bodyPr/>
          <a:lstStyle/>
          <a:p>
            <a:pPr eaLnBrk="1" hangingPunct="1">
              <a:buFont typeface="Wingdings" panose="05000000000000000000" pitchFamily="2" charset="2"/>
              <a:buNone/>
            </a:pPr>
            <a:r>
              <a:rPr lang="en-US" altLang="en-US" sz="2400" i="1">
                <a:latin typeface="Times New Roman" panose="02020603050405020304" pitchFamily="18" charset="0"/>
              </a:rPr>
              <a:t>	p    q</a:t>
            </a:r>
            <a:r>
              <a:rPr lang="en-US" altLang="en-US" sz="2400"/>
              <a:t> is true in the following situations</a:t>
            </a:r>
          </a:p>
          <a:p>
            <a:pPr eaLnBrk="1" hangingPunct="1">
              <a:buClr>
                <a:srgbClr val="FF0000"/>
              </a:buClr>
              <a:buSzPct val="150000"/>
            </a:pPr>
            <a:r>
              <a:rPr lang="en-US" altLang="en-US" sz="2400"/>
              <a:t>I study hard and I get rich; or</a:t>
            </a:r>
          </a:p>
          <a:p>
            <a:pPr eaLnBrk="1" hangingPunct="1">
              <a:buClr>
                <a:srgbClr val="FF0000"/>
              </a:buClr>
              <a:buSzPct val="150000"/>
            </a:pPr>
            <a:r>
              <a:rPr lang="en-US" altLang="en-US" sz="2400"/>
              <a:t>I don't study hard and I get rich; or</a:t>
            </a:r>
          </a:p>
          <a:p>
            <a:pPr eaLnBrk="1" hangingPunct="1">
              <a:buClr>
                <a:srgbClr val="FF0000"/>
              </a:buClr>
              <a:buSzPct val="150000"/>
            </a:pPr>
            <a:r>
              <a:rPr lang="en-US" altLang="en-US" sz="2400"/>
              <a:t>I don't study hard and I don't get rich.</a:t>
            </a:r>
          </a:p>
          <a:p>
            <a:pPr eaLnBrk="1" hangingPunct="1">
              <a:buClr>
                <a:srgbClr val="FF0000"/>
              </a:buClr>
              <a:buFont typeface="Wingdings" panose="05000000000000000000" pitchFamily="2" charset="2"/>
              <a:buNone/>
            </a:pPr>
            <a:r>
              <a:rPr lang="en-US" altLang="en-US" sz="2400"/>
              <a:t>	</a:t>
            </a:r>
          </a:p>
          <a:p>
            <a:pPr eaLnBrk="1" hangingPunct="1">
              <a:buClr>
                <a:srgbClr val="FF0000"/>
              </a:buClr>
              <a:buFont typeface="Wingdings" panose="05000000000000000000" pitchFamily="2" charset="2"/>
              <a:buNone/>
            </a:pPr>
            <a:r>
              <a:rPr lang="en-US" altLang="en-US" sz="2400"/>
              <a:t>	The last two situations, i.e. when </a:t>
            </a:r>
            <a:r>
              <a:rPr lang="en-US" altLang="en-US" sz="2400" i="1">
                <a:latin typeface="Times New Roman" panose="02020603050405020304" pitchFamily="18" charset="0"/>
              </a:rPr>
              <a:t>p</a:t>
            </a:r>
            <a:r>
              <a:rPr lang="en-US" altLang="en-US" sz="2400"/>
              <a:t> is false (I don't study hard) we can't say whether I will get rich or not. However if I've studied hard but failed to become rich then the proposition is clearly false.</a:t>
            </a:r>
          </a:p>
        </p:txBody>
      </p:sp>
      <p:pic>
        <p:nvPicPr>
          <p:cNvPr id="27652" name="Picture 8"/>
          <p:cNvPicPr>
            <a:picLocks noGrp="1" noChangeAspect="1" noChangeArrowheads="1"/>
          </p:cNvPicPr>
          <p:nvPr>
            <p:ph sz="half" idx="2"/>
          </p:nvPr>
        </p:nvPicPr>
        <p:blipFill>
          <a:blip r:embed="rId2" cstate="print">
            <a:extLst>
              <a:ext uri="{28A0092B-C50C-407E-A947-70E740481C1C}">
                <a14:useLocalDpi xmlns:a14="http://schemas.microsoft.com/office/drawing/2010/main" xmlns="" val="0"/>
              </a:ext>
            </a:extLst>
          </a:blip>
          <a:srcRect/>
          <a:stretch>
            <a:fillRect/>
          </a:stretch>
        </p:blipFill>
        <p:spPr>
          <a:xfrm>
            <a:off x="1490663" y="1677988"/>
            <a:ext cx="303212" cy="254000"/>
          </a:xfrm>
          <a:noFill/>
        </p:spPr>
      </p:pic>
    </p:spTree>
    <p:extLst>
      <p:ext uri="{BB962C8B-B14F-4D97-AF65-F5344CB8AC3E}">
        <p14:creationId xmlns:p14="http://schemas.microsoft.com/office/powerpoint/2010/main" xmlns="" val="111326196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en-US" b="1">
                <a:solidFill>
                  <a:schemeClr val="tx1"/>
                </a:solidFill>
              </a:rPr>
              <a:t>Contrapositive</a:t>
            </a:r>
            <a:endParaRPr lang="en-US" altLang="en-US">
              <a:solidFill>
                <a:schemeClr val="tx1"/>
              </a:solidFill>
            </a:endParaRPr>
          </a:p>
        </p:txBody>
      </p:sp>
      <p:sp>
        <p:nvSpPr>
          <p:cNvPr id="28675" name="Rectangle 3"/>
          <p:cNvSpPr>
            <a:spLocks noGrp="1" noChangeArrowheads="1"/>
          </p:cNvSpPr>
          <p:nvPr>
            <p:ph type="body" sz="half" idx="1"/>
          </p:nvPr>
        </p:nvSpPr>
        <p:spPr>
          <a:xfrm>
            <a:off x="1143000" y="1600200"/>
            <a:ext cx="7086600" cy="4724400"/>
          </a:xfrm>
        </p:spPr>
        <p:txBody>
          <a:bodyPr/>
          <a:lstStyle/>
          <a:p>
            <a:pPr eaLnBrk="1" hangingPunct="1">
              <a:buClr>
                <a:schemeClr val="tx1"/>
              </a:buClr>
              <a:buFont typeface="Wingdings" panose="05000000000000000000" pitchFamily="2" charset="2"/>
              <a:buNone/>
            </a:pPr>
            <a:r>
              <a:rPr lang="en-US" altLang="en-US" sz="2400" i="1">
                <a:latin typeface="Times New Roman" panose="02020603050405020304" pitchFamily="18" charset="0"/>
              </a:rPr>
              <a:t>p    q</a:t>
            </a:r>
            <a:r>
              <a:rPr lang="en-US" altLang="en-US" sz="2400"/>
              <a:t> 		If I study hard then I get rich.</a:t>
            </a:r>
          </a:p>
          <a:p>
            <a:pPr eaLnBrk="1" hangingPunct="1">
              <a:buClr>
                <a:schemeClr val="tx1"/>
              </a:buClr>
              <a:buFont typeface="Wingdings" panose="05000000000000000000" pitchFamily="2" charset="2"/>
              <a:buNone/>
            </a:pPr>
            <a:r>
              <a:rPr lang="en-US" altLang="en-US" sz="2400" i="1">
                <a:latin typeface="Times New Roman" panose="02020603050405020304" pitchFamily="18" charset="0"/>
              </a:rPr>
              <a:t>q    p</a:t>
            </a:r>
            <a:r>
              <a:rPr lang="en-US" altLang="en-US" sz="2400"/>
              <a:t> 		If I get rich then I study hard.</a:t>
            </a:r>
          </a:p>
          <a:p>
            <a:pPr eaLnBrk="1" hangingPunct="1">
              <a:buClr>
                <a:schemeClr val="tx1"/>
              </a:buClr>
              <a:buFont typeface="Wingdings" panose="05000000000000000000" pitchFamily="2" charset="2"/>
              <a:buNone/>
            </a:pPr>
            <a:r>
              <a:rPr lang="en-US" altLang="en-US" sz="2400"/>
              <a:t>			(the </a:t>
            </a:r>
            <a:r>
              <a:rPr lang="en-US" altLang="en-US" sz="2400" b="1"/>
              <a:t>converse.</a:t>
            </a:r>
            <a:r>
              <a:rPr lang="en-US" altLang="en-US" sz="2400"/>
              <a:t>)</a:t>
            </a:r>
          </a:p>
          <a:p>
            <a:pPr eaLnBrk="1" hangingPunct="1">
              <a:buClr>
                <a:schemeClr val="tx1"/>
              </a:buClr>
              <a:buFont typeface="Wingdings" panose="05000000000000000000" pitchFamily="2" charset="2"/>
              <a:buNone/>
            </a:pPr>
            <a:r>
              <a:rPr lang="en-US" altLang="en-US" sz="2400" i="1">
                <a:latin typeface="Times New Roman" panose="02020603050405020304" pitchFamily="18" charset="0"/>
              </a:rPr>
              <a:t>  q       p</a:t>
            </a:r>
            <a:r>
              <a:rPr lang="en-US" altLang="en-US" sz="2400"/>
              <a:t> 	If I don't get rich then I don't study 			hard.</a:t>
            </a:r>
          </a:p>
          <a:p>
            <a:pPr eaLnBrk="1" hangingPunct="1">
              <a:buClr>
                <a:schemeClr val="tx1"/>
              </a:buClr>
              <a:buFont typeface="Wingdings" panose="05000000000000000000" pitchFamily="2" charset="2"/>
              <a:buNone/>
            </a:pPr>
            <a:r>
              <a:rPr lang="en-US" altLang="en-US" sz="2400"/>
              <a:t>			(the </a:t>
            </a:r>
            <a:r>
              <a:rPr lang="en-US" altLang="en-US" sz="2400" b="1"/>
              <a:t>contrapositive.</a:t>
            </a:r>
            <a:r>
              <a:rPr lang="en-US" altLang="en-US" sz="2400"/>
              <a:t>)</a:t>
            </a:r>
          </a:p>
        </p:txBody>
      </p:sp>
      <p:pic>
        <p:nvPicPr>
          <p:cNvPr id="28676" name="Picture 4"/>
          <p:cNvPicPr>
            <a:picLocks noGrp="1" noChangeAspect="1" noChangeArrowheads="1"/>
          </p:cNvPicPr>
          <p:nvPr>
            <p:ph sz="quarter" idx="2"/>
          </p:nvPr>
        </p:nvPicPr>
        <p:blipFill>
          <a:blip r:embed="rId2" cstate="print">
            <a:extLst>
              <a:ext uri="{28A0092B-C50C-407E-A947-70E740481C1C}">
                <a14:useLocalDpi xmlns:a14="http://schemas.microsoft.com/office/drawing/2010/main" xmlns="" val="0"/>
              </a:ext>
            </a:extLst>
          </a:blip>
          <a:srcRect/>
          <a:stretch>
            <a:fillRect/>
          </a:stretch>
        </p:blipFill>
        <p:spPr>
          <a:xfrm>
            <a:off x="1371600" y="1752600"/>
            <a:ext cx="303213" cy="257175"/>
          </a:xfrm>
          <a:noFill/>
        </p:spPr>
      </p:pic>
      <p:pic>
        <p:nvPicPr>
          <p:cNvPr id="28677" name="Picture 6"/>
          <p:cNvPicPr>
            <a:picLocks noGrp="1" noChangeAspect="1" noChangeArrowheads="1"/>
          </p:cNvPicPr>
          <p:nvPr>
            <p:ph sz="quarter" idx="3"/>
          </p:nvPr>
        </p:nvPicPr>
        <p:blipFill>
          <a:blip r:embed="rId2" cstate="print">
            <a:extLst>
              <a:ext uri="{28A0092B-C50C-407E-A947-70E740481C1C}">
                <a14:useLocalDpi xmlns:a14="http://schemas.microsoft.com/office/drawing/2010/main" xmlns="" val="0"/>
              </a:ext>
            </a:extLst>
          </a:blip>
          <a:srcRect/>
          <a:stretch>
            <a:fillRect/>
          </a:stretch>
        </p:blipFill>
        <p:spPr>
          <a:xfrm>
            <a:off x="1524000" y="3048000"/>
            <a:ext cx="303213" cy="255588"/>
          </a:xfrm>
          <a:noFill/>
        </p:spPr>
      </p:pic>
      <p:pic>
        <p:nvPicPr>
          <p:cNvPr id="28678" name="Picture 8"/>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371600" y="2209800"/>
            <a:ext cx="320675" cy="2555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8679" name="Picture 9"/>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143000" y="3124200"/>
            <a:ext cx="222250"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8680" name="Picture 10"/>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828800" y="3124200"/>
            <a:ext cx="222250" cy="17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293001879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en-US" b="1">
                <a:solidFill>
                  <a:schemeClr val="tx1"/>
                </a:solidFill>
              </a:rPr>
              <a:t>Biconditional </a:t>
            </a:r>
            <a:endParaRPr lang="en-US" altLang="en-US">
              <a:solidFill>
                <a:schemeClr val="tx1"/>
              </a:solidFill>
            </a:endParaRPr>
          </a:p>
        </p:txBody>
      </p:sp>
      <p:sp>
        <p:nvSpPr>
          <p:cNvPr id="29699" name="Rectangle 3"/>
          <p:cNvSpPr>
            <a:spLocks noGrp="1" noChangeArrowheads="1"/>
          </p:cNvSpPr>
          <p:nvPr>
            <p:ph type="body" sz="half" idx="1"/>
          </p:nvPr>
        </p:nvSpPr>
        <p:spPr>
          <a:xfrm>
            <a:off x="533400" y="1600200"/>
            <a:ext cx="8229600" cy="4525963"/>
          </a:xfrm>
        </p:spPr>
        <p:txBody>
          <a:bodyPr/>
          <a:lstStyle/>
          <a:p>
            <a:pPr eaLnBrk="1" hangingPunct="1">
              <a:buClr>
                <a:srgbClr val="FF0000"/>
              </a:buClr>
              <a:buSzPct val="150000"/>
            </a:pPr>
            <a:r>
              <a:rPr lang="en-US" altLang="en-US" sz="2400" dirty="0"/>
              <a:t>Also known as </a:t>
            </a:r>
            <a:r>
              <a:rPr lang="en-US" altLang="en-US" sz="2400" dirty="0" err="1"/>
              <a:t>iff</a:t>
            </a:r>
            <a:r>
              <a:rPr lang="en-US" altLang="en-US" sz="2400" dirty="0"/>
              <a:t> (</a:t>
            </a:r>
            <a:r>
              <a:rPr lang="en-US" altLang="en-US" sz="2400" dirty="0">
                <a:solidFill>
                  <a:srgbClr val="FF9933"/>
                </a:solidFill>
              </a:rPr>
              <a:t>if and only if</a:t>
            </a:r>
            <a:r>
              <a:rPr lang="en-US" altLang="en-US" sz="2400" dirty="0"/>
              <a:t>) or the </a:t>
            </a:r>
            <a:r>
              <a:rPr lang="en-US" altLang="en-US" sz="2400" dirty="0" err="1"/>
              <a:t>biconditional</a:t>
            </a:r>
            <a:r>
              <a:rPr lang="en-US" altLang="en-US" sz="2400" dirty="0"/>
              <a:t>.</a:t>
            </a:r>
          </a:p>
          <a:p>
            <a:pPr eaLnBrk="1" hangingPunct="1">
              <a:buClr>
                <a:srgbClr val="FF0000"/>
              </a:buClr>
              <a:buSzPct val="150000"/>
            </a:pPr>
            <a:r>
              <a:rPr lang="en-US" altLang="en-US" sz="2400" dirty="0"/>
              <a:t>The biconditional, written as </a:t>
            </a:r>
            <a:r>
              <a:rPr lang="en-US" altLang="en-US" sz="2400" i="1" dirty="0">
                <a:latin typeface="Times New Roman" panose="02020603050405020304" pitchFamily="18" charset="0"/>
              </a:rPr>
              <a:t>p      q</a:t>
            </a:r>
            <a:r>
              <a:rPr lang="en-US" altLang="en-US" sz="2400" dirty="0"/>
              <a:t>, of two propositions is true when both </a:t>
            </a:r>
            <a:r>
              <a:rPr lang="en-US" altLang="en-US" sz="2400" i="1" dirty="0">
                <a:latin typeface="Times New Roman" panose="02020603050405020304" pitchFamily="18" charset="0"/>
              </a:rPr>
              <a:t>p</a:t>
            </a:r>
            <a:r>
              <a:rPr lang="en-US" altLang="en-US" sz="2400" dirty="0"/>
              <a:t> and </a:t>
            </a:r>
            <a:r>
              <a:rPr lang="en-US" altLang="en-US" sz="2400" i="1" dirty="0">
                <a:latin typeface="Times New Roman" panose="02020603050405020304" pitchFamily="18" charset="0"/>
              </a:rPr>
              <a:t>q</a:t>
            </a:r>
            <a:r>
              <a:rPr lang="en-US" altLang="en-US" sz="2400" dirty="0"/>
              <a:t> are true or when both </a:t>
            </a:r>
            <a:r>
              <a:rPr lang="en-US" altLang="en-US" sz="2400" i="1" dirty="0">
                <a:latin typeface="Times New Roman" panose="02020603050405020304" pitchFamily="18" charset="0"/>
              </a:rPr>
              <a:t>p</a:t>
            </a:r>
            <a:r>
              <a:rPr lang="en-US" altLang="en-US" sz="2400" dirty="0"/>
              <a:t> and </a:t>
            </a:r>
            <a:r>
              <a:rPr lang="en-US" altLang="en-US" sz="2400" i="1" dirty="0">
                <a:latin typeface="Times New Roman" panose="02020603050405020304" pitchFamily="18" charset="0"/>
              </a:rPr>
              <a:t>q</a:t>
            </a:r>
            <a:r>
              <a:rPr lang="en-US" altLang="en-US" sz="2400" dirty="0"/>
              <a:t> are false, and false otherwise.</a:t>
            </a:r>
          </a:p>
        </p:txBody>
      </p:sp>
      <p:pic>
        <p:nvPicPr>
          <p:cNvPr id="29700" name="Picture 4"/>
          <p:cNvPicPr>
            <a:picLocks noGrp="1" noChangeAspect="1" noChangeArrowheads="1"/>
          </p:cNvPicPr>
          <p:nvPr>
            <p:ph sz="quarter" idx="2"/>
          </p:nvPr>
        </p:nvPicPr>
        <p:blipFill>
          <a:blip r:embed="rId2" cstate="print">
            <a:extLst>
              <a:ext uri="{28A0092B-C50C-407E-A947-70E740481C1C}">
                <a14:useLocalDpi xmlns:a14="http://schemas.microsoft.com/office/drawing/2010/main" xmlns="" val="0"/>
              </a:ext>
            </a:extLst>
          </a:blip>
          <a:srcRect/>
          <a:stretch>
            <a:fillRect/>
          </a:stretch>
        </p:blipFill>
        <p:spPr>
          <a:xfrm>
            <a:off x="2514600" y="644524"/>
            <a:ext cx="685800" cy="582613"/>
          </a:xfrm>
          <a:noFill/>
        </p:spPr>
      </p:pic>
      <p:pic>
        <p:nvPicPr>
          <p:cNvPr id="29701" name="Picture 6"/>
          <p:cNvPicPr>
            <a:picLocks noGrp="1" noChangeAspect="1" noChangeArrowheads="1"/>
          </p:cNvPicPr>
          <p:nvPr>
            <p:ph sz="quarter" idx="3"/>
          </p:nvPr>
        </p:nvPicPr>
        <p:blipFill>
          <a:blip r:embed="rId3" cstate="print">
            <a:extLst>
              <a:ext uri="{28A0092B-C50C-407E-A947-70E740481C1C}">
                <a14:useLocalDpi xmlns:a14="http://schemas.microsoft.com/office/drawing/2010/main" xmlns="" val="0"/>
              </a:ext>
            </a:extLst>
          </a:blip>
          <a:srcRect/>
          <a:stretch>
            <a:fillRect/>
          </a:stretch>
        </p:blipFill>
        <p:spPr>
          <a:xfrm>
            <a:off x="4724400" y="2057400"/>
            <a:ext cx="431800" cy="396875"/>
          </a:xfrm>
          <a:noFill/>
        </p:spPr>
      </p:pic>
      <p:pic>
        <p:nvPicPr>
          <p:cNvPr id="29702" name="Picture 8"/>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048000" y="3200400"/>
            <a:ext cx="3429000" cy="3054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7387601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noChangeArrowheads="1"/>
          </p:cNvSpPr>
          <p:nvPr>
            <p:ph type="title"/>
          </p:nvPr>
        </p:nvSpPr>
        <p:spPr/>
        <p:txBody>
          <a:bodyPr/>
          <a:lstStyle/>
          <a:p>
            <a:r>
              <a:rPr lang="en-US" altLang="en-US" b="1">
                <a:solidFill>
                  <a:schemeClr val="tx1"/>
                </a:solidFill>
              </a:rPr>
              <a:t>Biconditional</a:t>
            </a:r>
            <a:endParaRPr lang="en-MY"/>
          </a:p>
        </p:txBody>
      </p:sp>
      <p:sp>
        <p:nvSpPr>
          <p:cNvPr id="30723" name="Content Placeholder 2"/>
          <p:cNvSpPr>
            <a:spLocks noGrp="1" noChangeArrowheads="1"/>
          </p:cNvSpPr>
          <p:nvPr>
            <p:ph idx="1"/>
          </p:nvPr>
        </p:nvSpPr>
        <p:spPr/>
        <p:txBody>
          <a:bodyPr/>
          <a:lstStyle/>
          <a:p>
            <a:pPr marL="0" indent="0" eaLnBrk="1" hangingPunct="1">
              <a:buClr>
                <a:schemeClr val="tx1"/>
              </a:buClr>
              <a:buFont typeface="Wingdings" panose="05000000000000000000" pitchFamily="2" charset="2"/>
              <a:buNone/>
            </a:pPr>
            <a:r>
              <a:rPr lang="en-US" altLang="en-US" i="1">
                <a:latin typeface="Times New Roman" panose="02020603050405020304" pitchFamily="18" charset="0"/>
              </a:rPr>
              <a:t>p</a:t>
            </a:r>
            <a:r>
              <a:rPr lang="en-US" altLang="en-US"/>
              <a:t> 		A shape is a rectangle.</a:t>
            </a:r>
          </a:p>
          <a:p>
            <a:pPr marL="0" indent="0" eaLnBrk="1" hangingPunct="1">
              <a:buClr>
                <a:schemeClr val="tx1"/>
              </a:buClr>
              <a:buFont typeface="Wingdings" panose="05000000000000000000" pitchFamily="2" charset="2"/>
              <a:buNone/>
            </a:pPr>
            <a:r>
              <a:rPr lang="en-US" altLang="en-US" i="1">
                <a:latin typeface="Times New Roman" panose="02020603050405020304" pitchFamily="18" charset="0"/>
              </a:rPr>
              <a:t>q</a:t>
            </a:r>
            <a:r>
              <a:rPr lang="en-US" altLang="en-US"/>
              <a:t> 		A shape has four sides.</a:t>
            </a:r>
          </a:p>
          <a:p>
            <a:pPr marL="0" indent="0" eaLnBrk="1" hangingPunct="1">
              <a:buClr>
                <a:schemeClr val="tx1"/>
              </a:buClr>
              <a:buFont typeface="Wingdings" panose="05000000000000000000" pitchFamily="2" charset="2"/>
              <a:buNone/>
            </a:pPr>
            <a:r>
              <a:rPr lang="en-US" altLang="en-US" i="1">
                <a:latin typeface="Times New Roman" panose="02020603050405020304" pitchFamily="18" charset="0"/>
              </a:rPr>
              <a:t>p      q</a:t>
            </a:r>
            <a:r>
              <a:rPr lang="en-US" altLang="en-US"/>
              <a:t> 	A shape is a rectangle if and only if 		it has four sides.</a:t>
            </a:r>
          </a:p>
          <a:p>
            <a:pPr marL="0" indent="0" eaLnBrk="1" hangingPunct="1">
              <a:buClr>
                <a:schemeClr val="tx1"/>
              </a:buClr>
              <a:buFont typeface="Wingdings" panose="05000000000000000000" pitchFamily="2" charset="2"/>
              <a:buNone/>
            </a:pPr>
            <a:r>
              <a:rPr lang="en-US" altLang="en-US"/>
              <a:t>		</a:t>
            </a:r>
            <a:endParaRPr lang="en-MY"/>
          </a:p>
        </p:txBody>
      </p:sp>
      <p:pic>
        <p:nvPicPr>
          <p:cNvPr id="30724" name="Picture 6"/>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38200" y="2879725"/>
            <a:ext cx="4318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2731798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en-US" b="1">
                <a:solidFill>
                  <a:schemeClr val="tx1"/>
                </a:solidFill>
              </a:rPr>
              <a:t>WFF</a:t>
            </a:r>
            <a:endParaRPr lang="en-US" altLang="en-US">
              <a:solidFill>
                <a:schemeClr val="tx1"/>
              </a:solidFill>
            </a:endParaRPr>
          </a:p>
        </p:txBody>
      </p:sp>
      <p:sp>
        <p:nvSpPr>
          <p:cNvPr id="31747"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en-US" dirty="0"/>
              <a:t>	The set of sentences or </a:t>
            </a:r>
            <a:r>
              <a:rPr lang="en-US" altLang="en-US" i="1" dirty="0"/>
              <a:t>well-formed propositional formulae </a:t>
            </a:r>
            <a:r>
              <a:rPr lang="en-US" altLang="en-US" dirty="0"/>
              <a:t>(WFF) is defined as:</a:t>
            </a:r>
          </a:p>
          <a:p>
            <a:pPr eaLnBrk="1" hangingPunct="1">
              <a:buClr>
                <a:srgbClr val="FF0000"/>
              </a:buClr>
              <a:buSzPct val="150000"/>
            </a:pPr>
            <a:r>
              <a:rPr lang="en-US" altLang="en-US" dirty="0"/>
              <a:t>Any propositional symbol is in WFF.</a:t>
            </a:r>
          </a:p>
          <a:p>
            <a:pPr eaLnBrk="1" hangingPunct="1">
              <a:buClr>
                <a:srgbClr val="FF0000"/>
              </a:buClr>
              <a:buSzPct val="150000"/>
            </a:pPr>
            <a:r>
              <a:rPr lang="en-US" altLang="en-US" dirty="0"/>
              <a:t>The nullary connectives, </a:t>
            </a:r>
            <a:r>
              <a:rPr lang="en-US" altLang="en-US" b="1" dirty="0"/>
              <a:t>true </a:t>
            </a:r>
            <a:r>
              <a:rPr lang="en-US" altLang="en-US" dirty="0"/>
              <a:t>and </a:t>
            </a:r>
            <a:r>
              <a:rPr lang="en-US" altLang="en-US" b="1" dirty="0"/>
              <a:t>false </a:t>
            </a:r>
            <a:r>
              <a:rPr lang="en-US" altLang="en-US" dirty="0"/>
              <a:t>are in WFF.</a:t>
            </a:r>
          </a:p>
          <a:p>
            <a:pPr eaLnBrk="1" hangingPunct="1">
              <a:buClr>
                <a:srgbClr val="FF0000"/>
              </a:buClr>
              <a:buSzPct val="150000"/>
            </a:pPr>
            <a:r>
              <a:rPr lang="en-US" altLang="en-US" dirty="0"/>
              <a:t>If A and B are in WFF then so is ~A, A v B, </a:t>
            </a:r>
          </a:p>
          <a:p>
            <a:pPr eaLnBrk="1" hangingPunct="1">
              <a:buClr>
                <a:srgbClr val="FF0000"/>
              </a:buClr>
              <a:buSzPct val="150000"/>
              <a:buFont typeface="Wingdings" panose="05000000000000000000" pitchFamily="2" charset="2"/>
              <a:buNone/>
            </a:pPr>
            <a:r>
              <a:rPr lang="en-US" altLang="en-US" dirty="0"/>
              <a:t>	A ^ B, A</a:t>
            </a:r>
            <a:r>
              <a:rPr lang="en-US" altLang="en-US" dirty="0">
                <a:latin typeface="Wingdings 3" panose="05040102010807070707" pitchFamily="18" charset="2"/>
                <a:sym typeface="Wingdings 3" panose="05040102010807070707" pitchFamily="18" charset="2"/>
              </a:rPr>
              <a:t></a:t>
            </a:r>
            <a:r>
              <a:rPr lang="en-US" altLang="en-US" dirty="0"/>
              <a:t> B and A </a:t>
            </a:r>
            <a:r>
              <a:rPr lang="en-US" altLang="en-US" dirty="0">
                <a:latin typeface="Wingdings 3" panose="05040102010807070707" pitchFamily="18" charset="2"/>
              </a:rPr>
              <a:t>1</a:t>
            </a:r>
            <a:r>
              <a:rPr lang="en-US" altLang="en-US" dirty="0"/>
              <a:t>  B.</a:t>
            </a:r>
          </a:p>
          <a:p>
            <a:pPr eaLnBrk="1" hangingPunct="1">
              <a:buClr>
                <a:srgbClr val="FF0000"/>
              </a:buClr>
              <a:buSzPct val="150000"/>
            </a:pPr>
            <a:r>
              <a:rPr lang="en-US" altLang="en-US" dirty="0"/>
              <a:t>If A is in WFF then so is (A).</a:t>
            </a:r>
          </a:p>
          <a:p>
            <a:pPr eaLnBrk="1" hangingPunct="1"/>
            <a:endParaRPr lang="en-US" altLang="en-US" dirty="0"/>
          </a:p>
        </p:txBody>
      </p:sp>
    </p:spTree>
    <p:extLst>
      <p:ext uri="{BB962C8B-B14F-4D97-AF65-F5344CB8AC3E}">
        <p14:creationId xmlns:p14="http://schemas.microsoft.com/office/powerpoint/2010/main" xmlns="" val="60092592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en-US" b="1">
                <a:solidFill>
                  <a:schemeClr val="tx1"/>
                </a:solidFill>
              </a:rPr>
              <a:t>Example</a:t>
            </a:r>
          </a:p>
        </p:txBody>
      </p:sp>
      <p:sp>
        <p:nvSpPr>
          <p:cNvPr id="32771" name="Rectangle 3"/>
          <p:cNvSpPr>
            <a:spLocks noGrp="1" noChangeArrowheads="1"/>
          </p:cNvSpPr>
          <p:nvPr>
            <p:ph type="body" sz="half" idx="1"/>
          </p:nvPr>
        </p:nvSpPr>
        <p:spPr>
          <a:xfrm>
            <a:off x="914400" y="1600200"/>
            <a:ext cx="7772400" cy="4530725"/>
          </a:xfrm>
        </p:spPr>
        <p:txBody>
          <a:bodyPr/>
          <a:lstStyle/>
          <a:p>
            <a:pPr eaLnBrk="1" hangingPunct="1">
              <a:buClr>
                <a:schemeClr val="tx1"/>
              </a:buClr>
              <a:buFont typeface="Wingdings" panose="05000000000000000000" pitchFamily="2" charset="2"/>
              <a:buNone/>
            </a:pPr>
            <a:r>
              <a:rPr lang="en-US" altLang="en-US" sz="2400" dirty="0"/>
              <a:t>The following are well formed formulae</a:t>
            </a:r>
          </a:p>
          <a:p>
            <a:pPr eaLnBrk="1" hangingPunct="1">
              <a:buClr>
                <a:schemeClr val="tx1"/>
              </a:buClr>
              <a:buFont typeface="Wingdings" panose="05000000000000000000" pitchFamily="2" charset="2"/>
              <a:buNone/>
            </a:pPr>
            <a:endParaRPr lang="en-US" altLang="en-US" sz="2400" dirty="0"/>
          </a:p>
          <a:p>
            <a:pPr eaLnBrk="1" hangingPunct="1">
              <a:buClr>
                <a:schemeClr val="tx1"/>
              </a:buClr>
              <a:buFont typeface="Wingdings" panose="05000000000000000000" pitchFamily="2" charset="2"/>
              <a:buNone/>
            </a:pPr>
            <a:endParaRPr lang="en-US" altLang="en-US" sz="2400" dirty="0"/>
          </a:p>
          <a:p>
            <a:pPr eaLnBrk="1" hangingPunct="1">
              <a:buClr>
                <a:schemeClr val="tx1"/>
              </a:buClr>
              <a:buFont typeface="Wingdings" panose="05000000000000000000" pitchFamily="2" charset="2"/>
              <a:buNone/>
            </a:pPr>
            <a:r>
              <a:rPr lang="en-US" altLang="en-US" sz="2400" dirty="0"/>
              <a:t>whereas</a:t>
            </a:r>
          </a:p>
          <a:p>
            <a:pPr eaLnBrk="1" hangingPunct="1">
              <a:buClr>
                <a:schemeClr val="tx1"/>
              </a:buClr>
              <a:buFont typeface="Wingdings" panose="05000000000000000000" pitchFamily="2" charset="2"/>
              <a:buNone/>
            </a:pPr>
            <a:endParaRPr lang="en-US" altLang="en-US" sz="2400" dirty="0"/>
          </a:p>
          <a:p>
            <a:pPr eaLnBrk="1" hangingPunct="1">
              <a:buClr>
                <a:schemeClr val="tx1"/>
              </a:buClr>
              <a:buFont typeface="Wingdings" panose="05000000000000000000" pitchFamily="2" charset="2"/>
              <a:buNone/>
            </a:pPr>
            <a:endParaRPr lang="en-US" altLang="en-US" sz="2400" dirty="0"/>
          </a:p>
          <a:p>
            <a:pPr eaLnBrk="1" hangingPunct="1">
              <a:buClr>
                <a:schemeClr val="tx1"/>
              </a:buClr>
              <a:buFont typeface="Wingdings" panose="05000000000000000000" pitchFamily="2" charset="2"/>
              <a:buNone/>
            </a:pPr>
            <a:endParaRPr lang="en-US" altLang="en-US" sz="2400" dirty="0"/>
          </a:p>
          <a:p>
            <a:pPr eaLnBrk="1" hangingPunct="1">
              <a:buClr>
                <a:schemeClr val="tx1"/>
              </a:buClr>
              <a:buFont typeface="Wingdings" panose="05000000000000000000" pitchFamily="2" charset="2"/>
              <a:buNone/>
            </a:pPr>
            <a:r>
              <a:rPr lang="en-US" altLang="en-US" sz="2400" dirty="0">
                <a:solidFill>
                  <a:srgbClr val="FF9933"/>
                </a:solidFill>
              </a:rPr>
              <a:t>are not.</a:t>
            </a:r>
          </a:p>
          <a:p>
            <a:pPr eaLnBrk="1" hangingPunct="1">
              <a:buClr>
                <a:schemeClr val="tx1"/>
              </a:buClr>
              <a:buFont typeface="Wingdings" panose="05000000000000000000" pitchFamily="2" charset="2"/>
              <a:buNone/>
            </a:pPr>
            <a:endParaRPr lang="en-US" altLang="en-US" sz="2400" dirty="0">
              <a:solidFill>
                <a:srgbClr val="FF9933"/>
              </a:solidFill>
            </a:endParaRPr>
          </a:p>
        </p:txBody>
      </p:sp>
      <p:pic>
        <p:nvPicPr>
          <p:cNvPr id="32772" name="Picture 6"/>
          <p:cNvPicPr>
            <a:picLocks noGrp="1" noChangeAspect="1" noChangeArrowheads="1"/>
          </p:cNvPicPr>
          <p:nvPr>
            <p:ph sz="quarter" idx="3"/>
          </p:nvPr>
        </p:nvPicPr>
        <p:blipFill>
          <a:blip r:embed="rId2" cstate="print">
            <a:extLst>
              <a:ext uri="{28A0092B-C50C-407E-A947-70E740481C1C}">
                <a14:useLocalDpi xmlns:a14="http://schemas.microsoft.com/office/drawing/2010/main" xmlns="" val="0"/>
              </a:ext>
            </a:extLst>
          </a:blip>
          <a:srcRect/>
          <a:stretch>
            <a:fillRect/>
          </a:stretch>
        </p:blipFill>
        <p:spPr>
          <a:xfrm>
            <a:off x="1633538" y="2439988"/>
            <a:ext cx="6262687" cy="406400"/>
          </a:xfrm>
          <a:noFill/>
        </p:spPr>
      </p:pic>
      <p:pic>
        <p:nvPicPr>
          <p:cNvPr id="32773" name="Picture 9"/>
          <p:cNvPicPr>
            <a:picLocks noGrp="1" noChangeAspect="1" noChangeArrowheads="1"/>
          </p:cNvPicPr>
          <p:nvPr>
            <p:ph sz="quarter" idx="2"/>
          </p:nvPr>
        </p:nvPicPr>
        <p:blipFill>
          <a:blip r:embed="rId3" cstate="print">
            <a:extLst>
              <a:ext uri="{28A0092B-C50C-407E-A947-70E740481C1C}">
                <a14:useLocalDpi xmlns:a14="http://schemas.microsoft.com/office/drawing/2010/main" xmlns="" val="0"/>
              </a:ext>
            </a:extLst>
          </a:blip>
          <a:srcRect/>
          <a:stretch>
            <a:fillRect/>
          </a:stretch>
        </p:blipFill>
        <p:spPr>
          <a:xfrm>
            <a:off x="2352675" y="4041775"/>
            <a:ext cx="4319588" cy="481013"/>
          </a:xfrm>
        </p:spPr>
      </p:pic>
    </p:spTree>
    <p:extLst>
      <p:ext uri="{BB962C8B-B14F-4D97-AF65-F5344CB8AC3E}">
        <p14:creationId xmlns:p14="http://schemas.microsoft.com/office/powerpoint/2010/main" xmlns="" val="339163168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en-US" b="1">
                <a:solidFill>
                  <a:srgbClr val="FF9933"/>
                </a:solidFill>
              </a:rPr>
              <a:t>Recap: Truth Tables</a:t>
            </a:r>
            <a:endParaRPr lang="en-US" altLang="en-US">
              <a:solidFill>
                <a:srgbClr val="FF9933"/>
              </a:solidFill>
            </a:endParaRPr>
          </a:p>
        </p:txBody>
      </p:sp>
      <p:pic>
        <p:nvPicPr>
          <p:cNvPr id="33795" name="Picture 4"/>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a:xfrm>
            <a:off x="304800" y="1676400"/>
            <a:ext cx="8686800" cy="4648200"/>
          </a:xfrm>
          <a:noFill/>
        </p:spPr>
      </p:pic>
    </p:spTree>
    <p:extLst>
      <p:ext uri="{BB962C8B-B14F-4D97-AF65-F5344CB8AC3E}">
        <p14:creationId xmlns:p14="http://schemas.microsoft.com/office/powerpoint/2010/main" xmlns="" val="189507747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914400" y="277813"/>
            <a:ext cx="7772400" cy="792162"/>
          </a:xfrm>
        </p:spPr>
        <p:txBody>
          <a:bodyPr/>
          <a:lstStyle/>
          <a:p>
            <a:pPr eaLnBrk="1" hangingPunct="1"/>
            <a:r>
              <a:rPr lang="en-US" altLang="en-US" sz="2900" b="1">
                <a:solidFill>
                  <a:schemeClr val="tx1"/>
                </a:solidFill>
              </a:rPr>
              <a:t>Truth Tables for Compound Propositions</a:t>
            </a:r>
            <a:endParaRPr lang="en-US" altLang="en-US" sz="2900">
              <a:solidFill>
                <a:schemeClr val="tx1"/>
              </a:solidFill>
            </a:endParaRPr>
          </a:p>
        </p:txBody>
      </p:sp>
      <p:sp>
        <p:nvSpPr>
          <p:cNvPr id="34819" name="Rectangle 3"/>
          <p:cNvSpPr>
            <a:spLocks noGrp="1" noChangeArrowheads="1"/>
          </p:cNvSpPr>
          <p:nvPr>
            <p:ph type="body" idx="1"/>
          </p:nvPr>
        </p:nvSpPr>
        <p:spPr>
          <a:xfrm>
            <a:off x="1143000" y="1600200"/>
            <a:ext cx="7543800" cy="4953000"/>
          </a:xfrm>
        </p:spPr>
        <p:txBody>
          <a:bodyPr/>
          <a:lstStyle/>
          <a:p>
            <a:pPr eaLnBrk="1" hangingPunct="1">
              <a:lnSpc>
                <a:spcPct val="90000"/>
              </a:lnSpc>
              <a:buClr>
                <a:srgbClr val="FF0000"/>
              </a:buClr>
              <a:buSzPct val="150000"/>
            </a:pPr>
            <a:r>
              <a:rPr lang="en-US" altLang="en-US" sz="2000"/>
              <a:t>Truth tables may be used to show </a:t>
            </a:r>
            <a:r>
              <a:rPr lang="en-US" altLang="en-US" sz="2000" b="1"/>
              <a:t>interpretations </a:t>
            </a:r>
            <a:r>
              <a:rPr lang="en-US" altLang="en-US" sz="2000"/>
              <a:t>of compound propositions.</a:t>
            </a:r>
          </a:p>
          <a:p>
            <a:pPr eaLnBrk="1" hangingPunct="1">
              <a:lnSpc>
                <a:spcPct val="90000"/>
              </a:lnSpc>
              <a:buClr>
                <a:srgbClr val="FF0000"/>
              </a:buClr>
              <a:buSzPct val="150000"/>
            </a:pPr>
            <a:r>
              <a:rPr lang="en-US" altLang="en-US" sz="2000"/>
              <a:t>To draw up a truth table, construct a column for each proposition involved.</a:t>
            </a:r>
          </a:p>
          <a:p>
            <a:pPr eaLnBrk="1" hangingPunct="1">
              <a:lnSpc>
                <a:spcPct val="90000"/>
              </a:lnSpc>
              <a:buClr>
                <a:srgbClr val="FF0000"/>
              </a:buClr>
              <a:buSzPct val="150000"/>
            </a:pPr>
            <a:r>
              <a:rPr lang="en-US" altLang="en-US" sz="2000"/>
              <a:t>You need 2</a:t>
            </a:r>
            <a:r>
              <a:rPr lang="en-US" altLang="en-US" sz="2000" baseline="30000"/>
              <a:t>n</a:t>
            </a:r>
            <a:r>
              <a:rPr lang="en-US" altLang="en-US" sz="2000"/>
              <a:t> rows for n propositions for all possible ways of setting the propositions to T and F.</a:t>
            </a:r>
          </a:p>
          <a:p>
            <a:pPr eaLnBrk="1" hangingPunct="1">
              <a:lnSpc>
                <a:spcPct val="90000"/>
              </a:lnSpc>
              <a:buClr>
                <a:srgbClr val="FF0000"/>
              </a:buClr>
              <a:buSzPct val="150000"/>
            </a:pPr>
            <a:r>
              <a:rPr lang="en-US" altLang="en-US" sz="2000"/>
              <a:t>If we have 3 propositions, p; q; r, i.e. we need 2</a:t>
            </a:r>
            <a:r>
              <a:rPr lang="en-US" altLang="en-US" sz="2000" baseline="30000"/>
              <a:t>3</a:t>
            </a:r>
            <a:r>
              <a:rPr lang="en-US" altLang="en-US" sz="2000"/>
              <a:t> = 8 rows.</a:t>
            </a:r>
          </a:p>
          <a:p>
            <a:pPr eaLnBrk="1" hangingPunct="1">
              <a:lnSpc>
                <a:spcPct val="90000"/>
              </a:lnSpc>
              <a:buClr>
                <a:srgbClr val="FF0000"/>
              </a:buClr>
              <a:buSzPct val="150000"/>
            </a:pPr>
            <a:r>
              <a:rPr lang="en-US" altLang="en-US" sz="2000"/>
              <a:t>Next, construct a column for each connective, the most deeply nested first.</a:t>
            </a:r>
          </a:p>
          <a:p>
            <a:pPr eaLnBrk="1" hangingPunct="1">
              <a:lnSpc>
                <a:spcPct val="90000"/>
              </a:lnSpc>
              <a:buClr>
                <a:srgbClr val="FF0000"/>
              </a:buClr>
              <a:buSzPct val="150000"/>
            </a:pPr>
            <a:r>
              <a:rPr lang="en-US" altLang="en-US" sz="2000"/>
              <a:t>Evaluate each column using values for propositions or previous columns.</a:t>
            </a:r>
          </a:p>
        </p:txBody>
      </p:sp>
    </p:spTree>
    <p:extLst>
      <p:ext uri="{BB962C8B-B14F-4D97-AF65-F5344CB8AC3E}">
        <p14:creationId xmlns:p14="http://schemas.microsoft.com/office/powerpoint/2010/main" xmlns="" val="124391111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3"/>
          <p:cNvSpPr>
            <a:spLocks noGrp="1" noChangeArrowheads="1"/>
          </p:cNvSpPr>
          <p:nvPr>
            <p:ph type="title"/>
          </p:nvPr>
        </p:nvSpPr>
        <p:spPr/>
        <p:txBody>
          <a:bodyPr/>
          <a:lstStyle/>
          <a:p>
            <a:pPr eaLnBrk="1" hangingPunct="1"/>
            <a:r>
              <a:rPr lang="en-US" altLang="en-US" b="1" dirty="0">
                <a:solidFill>
                  <a:schemeClr val="tx1"/>
                </a:solidFill>
              </a:rPr>
              <a:t>Quiz</a:t>
            </a:r>
          </a:p>
        </p:txBody>
      </p:sp>
      <p:sp>
        <p:nvSpPr>
          <p:cNvPr id="35843" name="Rectangle 3"/>
          <p:cNvSpPr>
            <a:spLocks noGrp="1" noChangeArrowheads="1"/>
          </p:cNvSpPr>
          <p:nvPr>
            <p:ph type="body" sz="half" idx="1"/>
          </p:nvPr>
        </p:nvSpPr>
        <p:spPr>
          <a:xfrm>
            <a:off x="914400" y="1295400"/>
            <a:ext cx="3886200" cy="3429000"/>
          </a:xfrm>
        </p:spPr>
        <p:txBody>
          <a:bodyPr/>
          <a:lstStyle/>
          <a:p>
            <a:pPr marL="0" indent="0" eaLnBrk="1" hangingPunct="1">
              <a:buClr>
                <a:schemeClr val="tx1"/>
              </a:buClr>
              <a:buFont typeface="Wingdings" panose="05000000000000000000" pitchFamily="2" charset="2"/>
              <a:buNone/>
            </a:pPr>
            <a:endParaRPr lang="en-US" altLang="en-US" sz="2000" dirty="0"/>
          </a:p>
          <a:p>
            <a:pPr marL="0" indent="0" eaLnBrk="1" hangingPunct="1">
              <a:buClr>
                <a:schemeClr val="tx1"/>
              </a:buClr>
              <a:buFont typeface="Wingdings" panose="05000000000000000000" pitchFamily="2" charset="2"/>
              <a:buNone/>
            </a:pPr>
            <a:r>
              <a:rPr lang="en-US" altLang="en-US" sz="2000" i="1" dirty="0">
                <a:latin typeface="Times New Roman" panose="02020603050405020304" pitchFamily="18" charset="0"/>
              </a:rPr>
              <a:t>p..</a:t>
            </a:r>
            <a:r>
              <a:rPr lang="en-US" altLang="en-US" sz="2000" dirty="0"/>
              <a:t> (my breakfast is) eggs.</a:t>
            </a:r>
          </a:p>
          <a:p>
            <a:pPr marL="0" indent="0" eaLnBrk="1" hangingPunct="1">
              <a:buClr>
                <a:schemeClr val="tx1"/>
              </a:buClr>
              <a:buFont typeface="Wingdings" panose="05000000000000000000" pitchFamily="2" charset="2"/>
              <a:buNone/>
            </a:pPr>
            <a:r>
              <a:rPr lang="en-US" altLang="en-US" sz="2000" i="1" dirty="0">
                <a:latin typeface="Times New Roman" panose="02020603050405020304" pitchFamily="18" charset="0"/>
              </a:rPr>
              <a:t>q..</a:t>
            </a:r>
            <a:r>
              <a:rPr lang="en-US" altLang="en-US" sz="2000" dirty="0"/>
              <a:t> (my breakfast is) cereal.</a:t>
            </a:r>
          </a:p>
          <a:p>
            <a:pPr marL="0" indent="0" eaLnBrk="1" hangingPunct="1">
              <a:buClr>
                <a:schemeClr val="tx1"/>
              </a:buClr>
              <a:buFont typeface="Wingdings" panose="05000000000000000000" pitchFamily="2" charset="2"/>
              <a:buNone/>
            </a:pPr>
            <a:r>
              <a:rPr lang="en-US" altLang="en-US" sz="2000" i="1" dirty="0">
                <a:latin typeface="Times New Roman" panose="02020603050405020304" pitchFamily="18" charset="0"/>
              </a:rPr>
              <a:t>r..</a:t>
            </a:r>
            <a:r>
              <a:rPr lang="en-US" altLang="en-US" sz="2000" dirty="0"/>
              <a:t> (my breakfast is) toast.</a:t>
            </a:r>
          </a:p>
          <a:p>
            <a:pPr marL="0" indent="0" eaLnBrk="1" hangingPunct="1">
              <a:buClr>
                <a:schemeClr val="tx1"/>
              </a:buClr>
              <a:buFont typeface="Wingdings" panose="05000000000000000000" pitchFamily="2" charset="2"/>
              <a:buNone/>
            </a:pPr>
            <a:endParaRPr lang="en-US" altLang="en-US" sz="2000" dirty="0"/>
          </a:p>
          <a:p>
            <a:pPr marL="0" indent="0" eaLnBrk="1" hangingPunct="1"/>
            <a:r>
              <a:rPr lang="en-US" altLang="en-US" sz="2000" dirty="0"/>
              <a:t>The statement ‘my breakfast is either eggs or cereal, and toast’ may be written in symbolic form as ???</a:t>
            </a:r>
          </a:p>
        </p:txBody>
      </p:sp>
      <p:pic>
        <p:nvPicPr>
          <p:cNvPr id="35844" name="Picture 12"/>
          <p:cNvPicPr>
            <a:picLocks noGrp="1" noChangeAspect="1" noChangeArrowheads="1"/>
          </p:cNvPicPr>
          <p:nvPr>
            <p:ph sz="quarter" idx="2"/>
          </p:nvPr>
        </p:nvPicPr>
        <p:blipFill>
          <a:blip r:embed="rId2" cstate="print">
            <a:extLst>
              <a:ext uri="{28A0092B-C50C-407E-A947-70E740481C1C}">
                <a14:useLocalDpi xmlns:a14="http://schemas.microsoft.com/office/drawing/2010/main" xmlns="" val="0"/>
              </a:ext>
            </a:extLst>
          </a:blip>
          <a:srcRect/>
          <a:stretch>
            <a:fillRect/>
          </a:stretch>
        </p:blipFill>
        <p:spPr>
          <a:xfrm>
            <a:off x="6262688" y="2555875"/>
            <a:ext cx="1036637" cy="274638"/>
          </a:xfrm>
          <a:noFill/>
        </p:spPr>
      </p:pic>
      <p:pic>
        <p:nvPicPr>
          <p:cNvPr id="35845" name="Picture 4"/>
          <p:cNvPicPr>
            <a:picLocks noGrp="1" noChangeAspect="1" noChangeArrowheads="1"/>
          </p:cNvPicPr>
          <p:nvPr>
            <p:ph sz="quarter" idx="4294967295"/>
          </p:nvPr>
        </p:nvPicPr>
        <p:blipFill>
          <a:blip r:embed="rId3" cstate="print">
            <a:extLst>
              <a:ext uri="{28A0092B-C50C-407E-A947-70E740481C1C}">
                <a14:useLocalDpi xmlns:a14="http://schemas.microsoft.com/office/drawing/2010/main" xmlns="" val="0"/>
              </a:ext>
            </a:extLst>
          </a:blip>
          <a:srcRect/>
          <a:stretch>
            <a:fillRect/>
          </a:stretch>
        </p:blipFill>
        <p:spPr>
          <a:xfrm>
            <a:off x="4886325" y="1600200"/>
            <a:ext cx="4181475" cy="4572000"/>
          </a:xfrm>
          <a:noFill/>
        </p:spPr>
      </p:pic>
      <p:sp>
        <p:nvSpPr>
          <p:cNvPr id="35846" name="AutoShape 24"/>
          <p:cNvSpPr>
            <a:spLocks noChangeArrowheads="1"/>
          </p:cNvSpPr>
          <p:nvPr/>
        </p:nvSpPr>
        <p:spPr bwMode="auto">
          <a:xfrm>
            <a:off x="762000" y="5105400"/>
            <a:ext cx="4191000" cy="685800"/>
          </a:xfrm>
          <a:prstGeom prst="wedgeEllipseCallout">
            <a:avLst>
              <a:gd name="adj1" fmla="val -40343"/>
              <a:gd name="adj2" fmla="val 78935"/>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lstStyle>
            <a:lvl1pPr>
              <a:spcBef>
                <a:spcPct val="20000"/>
              </a:spcBef>
              <a:buClr>
                <a:schemeClr val="folHlink"/>
              </a:buClr>
              <a:buSzPct val="90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n"/>
              <a:defRPr sz="2600">
                <a:solidFill>
                  <a:schemeClr val="tx1"/>
                </a:solidFill>
                <a:latin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n"/>
              <a:defRPr sz="2300">
                <a:solidFill>
                  <a:schemeClr val="tx1"/>
                </a:solidFill>
                <a:latin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lang="en-US" altLang="en-US" sz="1800">
                <a:solidFill>
                  <a:srgbClr val="FF0000"/>
                </a:solidFill>
              </a:rPr>
              <a:t>WHAT DOES THE TABLE TELL U?</a:t>
            </a:r>
          </a:p>
        </p:txBody>
      </p:sp>
      <p:pic>
        <p:nvPicPr>
          <p:cNvPr id="35847" name="Picture 25" descr="j0299125"/>
          <p:cNvPicPr>
            <a:picLocks noGrp="1" noChangeAspect="1" noChangeArrowheads="1"/>
          </p:cNvPicPr>
          <p:nvPr>
            <p:ph sz="quarter" idx="3"/>
          </p:nvPr>
        </p:nvPicPr>
        <p:blipFill>
          <a:blip r:embed="rId4" cstate="print">
            <a:extLst>
              <a:ext uri="{28A0092B-C50C-407E-A947-70E740481C1C}">
                <a14:useLocalDpi xmlns:a14="http://schemas.microsoft.com/office/drawing/2010/main" xmlns="" val="0"/>
              </a:ext>
            </a:extLst>
          </a:blip>
          <a:srcRect/>
          <a:stretch>
            <a:fillRect/>
          </a:stretch>
        </p:blipFill>
        <p:spPr>
          <a:xfrm>
            <a:off x="76200" y="4876800"/>
            <a:ext cx="1100138" cy="1804988"/>
          </a:xfrm>
          <a:noFill/>
        </p:spPr>
      </p:pic>
    </p:spTree>
    <p:extLst>
      <p:ext uri="{BB962C8B-B14F-4D97-AF65-F5344CB8AC3E}">
        <p14:creationId xmlns:p14="http://schemas.microsoft.com/office/powerpoint/2010/main" xmlns="" val="353527524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Quiz</a:t>
            </a:r>
            <a:endParaRPr lang="en-MY" dirty="0"/>
          </a:p>
        </p:txBody>
      </p:sp>
      <p:sp>
        <p:nvSpPr>
          <p:cNvPr id="3" name="Content Placeholder 2"/>
          <p:cNvSpPr>
            <a:spLocks noGrp="1"/>
          </p:cNvSpPr>
          <p:nvPr>
            <p:ph idx="1"/>
          </p:nvPr>
        </p:nvSpPr>
        <p:spPr/>
        <p:txBody>
          <a:bodyPr>
            <a:normAutofit lnSpcReduction="10000"/>
          </a:bodyPr>
          <a:lstStyle/>
          <a:p>
            <a:r>
              <a:rPr lang="en-MY" dirty="0" smtClean="0"/>
              <a:t>Write this sentence in logic</a:t>
            </a:r>
          </a:p>
          <a:p>
            <a:pPr lvl="1"/>
            <a:r>
              <a:rPr lang="en-US" altLang="en-US" dirty="0"/>
              <a:t>my breakfast is either eggs or cereal, and toast</a:t>
            </a:r>
            <a:endParaRPr lang="en-MY" dirty="0" smtClean="0"/>
          </a:p>
          <a:p>
            <a:r>
              <a:rPr lang="en-MY" dirty="0" smtClean="0"/>
              <a:t>I </a:t>
            </a:r>
            <a:r>
              <a:rPr lang="en-MY" dirty="0"/>
              <a:t>want pizza A, maybe pizza B, but I also want pizza C. Which pizza combinations will make me happy?</a:t>
            </a:r>
          </a:p>
          <a:p>
            <a:r>
              <a:rPr lang="en-MY" dirty="0"/>
              <a:t>Write a human sentence for this </a:t>
            </a:r>
            <a:r>
              <a:rPr lang="en-MY" dirty="0" smtClean="0"/>
              <a:t>logic (p is eggs, q is cereal and r is toast)</a:t>
            </a:r>
            <a:endParaRPr lang="en-MY" dirty="0"/>
          </a:p>
          <a:p>
            <a:pPr lvl="1"/>
            <a:r>
              <a:rPr lang="en-MY" dirty="0"/>
              <a:t>(p AND q) OR r</a:t>
            </a:r>
          </a:p>
          <a:p>
            <a:pPr lvl="1"/>
            <a:r>
              <a:rPr lang="en-MY" dirty="0"/>
              <a:t>(NOT p) OR q</a:t>
            </a:r>
          </a:p>
          <a:p>
            <a:endParaRPr lang="en-MY" dirty="0"/>
          </a:p>
        </p:txBody>
      </p:sp>
      <p:sp>
        <p:nvSpPr>
          <p:cNvPr id="4" name="Date Placeholder 3"/>
          <p:cNvSpPr>
            <a:spLocks noGrp="1"/>
          </p:cNvSpPr>
          <p:nvPr>
            <p:ph type="dt" sz="half" idx="10"/>
          </p:nvPr>
        </p:nvSpPr>
        <p:spPr/>
        <p:txBody>
          <a:bodyPr/>
          <a:lstStyle/>
          <a:p>
            <a:r>
              <a:rPr lang="en-US"/>
              <a:t>2019</a:t>
            </a:r>
          </a:p>
        </p:txBody>
      </p:sp>
      <p:sp>
        <p:nvSpPr>
          <p:cNvPr id="5" name="Footer Placeholder 4"/>
          <p:cNvSpPr>
            <a:spLocks noGrp="1"/>
          </p:cNvSpPr>
          <p:nvPr>
            <p:ph type="ftr" sz="quarter" idx="11"/>
          </p:nvPr>
        </p:nvSpPr>
        <p:spPr/>
        <p:txBody>
          <a:bodyPr/>
          <a:lstStyle/>
          <a:p>
            <a:r>
              <a:rPr lang="en-US"/>
              <a:t>MECQ1203: Artificial Intelligence</a:t>
            </a:r>
          </a:p>
        </p:txBody>
      </p:sp>
      <p:sp>
        <p:nvSpPr>
          <p:cNvPr id="6" name="Slide Number Placeholder 5"/>
          <p:cNvSpPr>
            <a:spLocks noGrp="1"/>
          </p:cNvSpPr>
          <p:nvPr>
            <p:ph type="sldNum" sz="quarter" idx="12"/>
          </p:nvPr>
        </p:nvSpPr>
        <p:spPr/>
        <p:txBody>
          <a:bodyPr/>
          <a:lstStyle/>
          <a:p>
            <a:fld id="{0362C787-829C-4B6B-B21B-90D8981190F3}" type="slidenum">
              <a:rPr lang="en-US" smtClean="0"/>
              <a:pPr/>
              <a:t>50</a:t>
            </a:fld>
            <a:endParaRPr lang="en-US"/>
          </a:p>
        </p:txBody>
      </p:sp>
    </p:spTree>
    <p:extLst>
      <p:ext uri="{BB962C8B-B14F-4D97-AF65-F5344CB8AC3E}">
        <p14:creationId xmlns:p14="http://schemas.microsoft.com/office/powerpoint/2010/main" xmlns="" val="105381402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en-US" b="1">
                <a:solidFill>
                  <a:schemeClr val="tx1"/>
                </a:solidFill>
              </a:rPr>
              <a:t>... So</a:t>
            </a:r>
            <a:endParaRPr lang="en-US" altLang="en-US">
              <a:solidFill>
                <a:schemeClr val="tx1"/>
              </a:solidFill>
            </a:endParaRPr>
          </a:p>
        </p:txBody>
      </p:sp>
      <p:sp>
        <p:nvSpPr>
          <p:cNvPr id="36867" name="Rectangle 3"/>
          <p:cNvSpPr>
            <a:spLocks noGrp="1" noChangeArrowheads="1"/>
          </p:cNvSpPr>
          <p:nvPr>
            <p:ph type="body" idx="1"/>
          </p:nvPr>
        </p:nvSpPr>
        <p:spPr/>
        <p:txBody>
          <a:bodyPr/>
          <a:lstStyle/>
          <a:p>
            <a:pPr eaLnBrk="1" hangingPunct="1">
              <a:buClr>
                <a:schemeClr val="tx1"/>
              </a:buClr>
              <a:buFont typeface="Wingdings" panose="05000000000000000000" pitchFamily="2" charset="2"/>
              <a:buNone/>
            </a:pPr>
            <a:r>
              <a:rPr lang="en-US" altLang="en-US"/>
              <a:t>	The truth table gives results for all possible interpretations of </a:t>
            </a:r>
            <a:r>
              <a:rPr lang="en-US" altLang="en-US" i="1">
                <a:latin typeface="Times New Roman" panose="02020603050405020304" pitchFamily="18" charset="0"/>
              </a:rPr>
              <a:t>p</a:t>
            </a:r>
            <a:r>
              <a:rPr lang="en-US" altLang="en-US"/>
              <a:t>, </a:t>
            </a:r>
            <a:r>
              <a:rPr lang="en-US" altLang="en-US" i="1">
                <a:latin typeface="Times New Roman" panose="02020603050405020304" pitchFamily="18" charset="0"/>
              </a:rPr>
              <a:t>q</a:t>
            </a:r>
            <a:r>
              <a:rPr lang="en-US" altLang="en-US"/>
              <a:t> and </a:t>
            </a:r>
            <a:r>
              <a:rPr lang="en-US" altLang="en-US" i="1">
                <a:latin typeface="Times New Roman" panose="02020603050405020304" pitchFamily="18" charset="0"/>
              </a:rPr>
              <a:t>r</a:t>
            </a:r>
            <a:r>
              <a:rPr lang="en-US" altLang="en-US"/>
              <a:t>. The compound proposition is true if</a:t>
            </a:r>
          </a:p>
          <a:p>
            <a:pPr eaLnBrk="1" hangingPunct="1">
              <a:buClr>
                <a:srgbClr val="FF0000"/>
              </a:buClr>
              <a:buSzPct val="150000"/>
            </a:pPr>
            <a:r>
              <a:rPr lang="en-US" altLang="en-US"/>
              <a:t>I eat cereal, eggs and toast; or</a:t>
            </a:r>
          </a:p>
          <a:p>
            <a:pPr eaLnBrk="1" hangingPunct="1">
              <a:buClr>
                <a:srgbClr val="FF0000"/>
              </a:buClr>
              <a:buSzPct val="150000"/>
            </a:pPr>
            <a:r>
              <a:rPr lang="en-US" altLang="en-US"/>
              <a:t>I eat cereal and toast; or</a:t>
            </a:r>
          </a:p>
          <a:p>
            <a:pPr eaLnBrk="1" hangingPunct="1">
              <a:buClr>
                <a:srgbClr val="FF0000"/>
              </a:buClr>
              <a:buSzPct val="150000"/>
            </a:pPr>
            <a:r>
              <a:rPr lang="en-US" altLang="en-US"/>
              <a:t>I eat eggs and toast.</a:t>
            </a:r>
          </a:p>
          <a:p>
            <a:pPr eaLnBrk="1" hangingPunct="1">
              <a:buClr>
                <a:srgbClr val="FF0000"/>
              </a:buClr>
              <a:buSzPct val="150000"/>
            </a:pPr>
            <a:endParaRPr lang="en-US" altLang="en-US"/>
          </a:p>
          <a:p>
            <a:pPr eaLnBrk="1" hangingPunct="1">
              <a:buClr>
                <a:srgbClr val="FF0000"/>
              </a:buClr>
              <a:buSzPct val="150000"/>
              <a:buFont typeface="Wingdings" panose="05000000000000000000" pitchFamily="2" charset="2"/>
              <a:buNone/>
            </a:pPr>
            <a:r>
              <a:rPr lang="en-US" altLang="en-US" i="1"/>
              <a:t>Interpretation - A line in the truth table.</a:t>
            </a:r>
          </a:p>
        </p:txBody>
      </p:sp>
    </p:spTree>
    <p:extLst>
      <p:ext uri="{BB962C8B-B14F-4D97-AF65-F5344CB8AC3E}">
        <p14:creationId xmlns:p14="http://schemas.microsoft.com/office/powerpoint/2010/main" xmlns="" val="42486601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en-US" sz="3800" b="1">
                <a:solidFill>
                  <a:schemeClr val="tx1"/>
                </a:solidFill>
              </a:rPr>
              <a:t>Try this..</a:t>
            </a:r>
            <a:endParaRPr lang="en-US" altLang="en-US" sz="3800">
              <a:solidFill>
                <a:schemeClr val="tx1"/>
              </a:solidFill>
            </a:endParaRPr>
          </a:p>
        </p:txBody>
      </p:sp>
      <p:sp>
        <p:nvSpPr>
          <p:cNvPr id="37891" name="Rectangle 3"/>
          <p:cNvSpPr>
            <a:spLocks noGrp="1" noChangeArrowheads="1"/>
          </p:cNvSpPr>
          <p:nvPr>
            <p:ph type="body" sz="half" idx="1"/>
          </p:nvPr>
        </p:nvSpPr>
        <p:spPr>
          <a:xfrm>
            <a:off x="914400" y="1676400"/>
            <a:ext cx="7772400" cy="4800600"/>
          </a:xfrm>
        </p:spPr>
        <p:txBody>
          <a:bodyPr/>
          <a:lstStyle/>
          <a:p>
            <a:pPr eaLnBrk="1" hangingPunct="1">
              <a:buClr>
                <a:srgbClr val="FF0000"/>
              </a:buClr>
              <a:buSzPct val="150000"/>
            </a:pPr>
            <a:r>
              <a:rPr lang="en-US" altLang="en-US" sz="2400" dirty="0"/>
              <a:t>Complete the truth table for </a:t>
            </a:r>
          </a:p>
          <a:p>
            <a:pPr eaLnBrk="1" hangingPunct="1">
              <a:buClr>
                <a:srgbClr val="FF0000"/>
              </a:buClr>
              <a:buSzPct val="150000"/>
            </a:pPr>
            <a:endParaRPr lang="en-US" altLang="en-US" sz="2400" dirty="0"/>
          </a:p>
          <a:p>
            <a:pPr eaLnBrk="1" hangingPunct="1">
              <a:buClr>
                <a:srgbClr val="FF0000"/>
              </a:buClr>
              <a:buSzPct val="150000"/>
            </a:pPr>
            <a:endParaRPr lang="en-US" altLang="en-US" sz="2400" dirty="0"/>
          </a:p>
          <a:p>
            <a:pPr eaLnBrk="1" hangingPunct="1">
              <a:buClr>
                <a:srgbClr val="FF0000"/>
              </a:buClr>
              <a:buSzPct val="150000"/>
            </a:pPr>
            <a:endParaRPr lang="en-US" altLang="en-US" sz="2400" dirty="0"/>
          </a:p>
          <a:p>
            <a:pPr eaLnBrk="1" hangingPunct="1">
              <a:buClr>
                <a:srgbClr val="FF0000"/>
              </a:buClr>
              <a:buSzPct val="150000"/>
            </a:pPr>
            <a:endParaRPr lang="en-US" altLang="en-US" sz="2400" dirty="0"/>
          </a:p>
          <a:p>
            <a:pPr eaLnBrk="1" hangingPunct="1">
              <a:buClr>
                <a:srgbClr val="FF0000"/>
              </a:buClr>
              <a:buSzPct val="150000"/>
            </a:pPr>
            <a:endParaRPr lang="en-US" altLang="en-US" sz="2400" dirty="0"/>
          </a:p>
          <a:p>
            <a:pPr eaLnBrk="1" hangingPunct="1">
              <a:buClr>
                <a:srgbClr val="FF0000"/>
              </a:buClr>
              <a:buSzPct val="150000"/>
            </a:pPr>
            <a:r>
              <a:rPr lang="en-US" altLang="en-US" sz="2400" dirty="0"/>
              <a:t>Show that the formula                     is </a:t>
            </a:r>
            <a:r>
              <a:rPr lang="en-US" altLang="en-US" sz="2400" dirty="0" err="1"/>
              <a:t>satisfiable</a:t>
            </a:r>
            <a:endParaRPr lang="en-US" altLang="en-US" sz="2400" dirty="0"/>
          </a:p>
          <a:p>
            <a:pPr eaLnBrk="1" hangingPunct="1">
              <a:buClr>
                <a:srgbClr val="FF0000"/>
              </a:buClr>
              <a:buSzPct val="150000"/>
            </a:pPr>
            <a:r>
              <a:rPr lang="en-US" altLang="en-US" sz="2400" dirty="0"/>
              <a:t>Find an interpretation which satisfies</a:t>
            </a:r>
          </a:p>
          <a:p>
            <a:pPr eaLnBrk="1" hangingPunct="1">
              <a:buClr>
                <a:srgbClr val="FF0000"/>
              </a:buClr>
              <a:buSzPct val="150000"/>
            </a:pPr>
            <a:endParaRPr lang="en-US" altLang="en-US" sz="2400" dirty="0"/>
          </a:p>
          <a:p>
            <a:pPr eaLnBrk="1" hangingPunct="1">
              <a:buClr>
                <a:srgbClr val="FF0000"/>
              </a:buClr>
              <a:buSzPct val="150000"/>
            </a:pPr>
            <a:r>
              <a:rPr lang="en-US" altLang="en-US" sz="2400" dirty="0"/>
              <a:t>Show               is valid.</a:t>
            </a:r>
          </a:p>
          <a:p>
            <a:pPr eaLnBrk="1" hangingPunct="1"/>
            <a:endParaRPr lang="en-US" altLang="en-US" sz="2400" dirty="0"/>
          </a:p>
        </p:txBody>
      </p:sp>
      <p:pic>
        <p:nvPicPr>
          <p:cNvPr id="37892" name="Picture 4"/>
          <p:cNvPicPr>
            <a:picLocks noGrp="1" noChangeAspect="1" noChangeArrowheads="1"/>
          </p:cNvPicPr>
          <p:nvPr>
            <p:ph sz="quarter" idx="2"/>
          </p:nvPr>
        </p:nvPicPr>
        <p:blipFill>
          <a:blip r:embed="rId2" cstate="print">
            <a:extLst>
              <a:ext uri="{28A0092B-C50C-407E-A947-70E740481C1C}">
                <a14:useLocalDpi xmlns:a14="http://schemas.microsoft.com/office/drawing/2010/main" xmlns="" val="0"/>
              </a:ext>
            </a:extLst>
          </a:blip>
          <a:srcRect/>
          <a:stretch>
            <a:fillRect/>
          </a:stretch>
        </p:blipFill>
        <p:spPr>
          <a:xfrm>
            <a:off x="5181600" y="1676400"/>
            <a:ext cx="3048000" cy="498475"/>
          </a:xfrm>
          <a:noFill/>
        </p:spPr>
      </p:pic>
      <p:pic>
        <p:nvPicPr>
          <p:cNvPr id="37893" name="Picture 6"/>
          <p:cNvPicPr>
            <a:picLocks noGrp="1" noChangeAspect="1" noChangeArrowheads="1"/>
          </p:cNvPicPr>
          <p:nvPr>
            <p:ph sz="quarter" idx="3"/>
          </p:nvPr>
        </p:nvPicPr>
        <p:blipFill>
          <a:blip r:embed="rId3" cstate="print">
            <a:extLst>
              <a:ext uri="{28A0092B-C50C-407E-A947-70E740481C1C}">
                <a14:useLocalDpi xmlns:a14="http://schemas.microsoft.com/office/drawing/2010/main" xmlns="" val="0"/>
              </a:ext>
            </a:extLst>
          </a:blip>
          <a:srcRect/>
          <a:stretch>
            <a:fillRect/>
          </a:stretch>
        </p:blipFill>
        <p:spPr>
          <a:xfrm>
            <a:off x="1752600" y="2209800"/>
            <a:ext cx="5614988" cy="2058988"/>
          </a:xfrm>
          <a:noFill/>
        </p:spPr>
      </p:pic>
      <p:pic>
        <p:nvPicPr>
          <p:cNvPr id="37894" name="Picture 8"/>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419600" y="4343400"/>
            <a:ext cx="1374775" cy="436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7895" name="Picture 9"/>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1905000" y="5257800"/>
            <a:ext cx="2362200" cy="411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7896" name="Picture 11"/>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2286000" y="5715000"/>
            <a:ext cx="814388" cy="312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49916550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95600" y="3657600"/>
            <a:ext cx="5562600" cy="936625"/>
          </a:xfrm>
        </p:spPr>
        <p:txBody>
          <a:bodyPr>
            <a:normAutofit fontScale="90000"/>
          </a:bodyPr>
          <a:lstStyle/>
          <a:p>
            <a:r>
              <a:rPr lang="en-GB" sz="5400" dirty="0"/>
              <a:t>2.3 Predicate Logic</a:t>
            </a:r>
            <a:r>
              <a:rPr lang="en-US" sz="5400" dirty="0">
                <a:solidFill>
                  <a:srgbClr val="FF0000"/>
                </a:solidFill>
              </a:rPr>
              <a:t/>
            </a:r>
            <a:br>
              <a:rPr lang="en-US" sz="5400" dirty="0">
                <a:solidFill>
                  <a:srgbClr val="FF0000"/>
                </a:solidFill>
              </a:rPr>
            </a:br>
            <a:endParaRPr lang="en-US" sz="5400" b="1" dirty="0">
              <a:latin typeface="Roboto" pitchFamily="2" charset="0"/>
              <a:ea typeface="Roboto" pitchFamily="2" charset="0"/>
            </a:endParaRPr>
          </a:p>
        </p:txBody>
      </p:sp>
      <p:pic>
        <p:nvPicPr>
          <p:cNvPr id="5" name="Picture 2" descr="Image result for artificial intelligence icon"/>
          <p:cNvPicPr>
            <a:picLocks noChangeAspect="1" noChangeArrowheads="1"/>
          </p:cNvPicPr>
          <p:nvPr/>
        </p:nvPicPr>
        <p:blipFill rotWithShape="1">
          <a:blip r:embed="rId2" cstate="print">
            <a:duotone>
              <a:prstClr val="black"/>
              <a:schemeClr val="accent2">
                <a:tint val="45000"/>
                <a:satMod val="400000"/>
              </a:schemeClr>
            </a:duotone>
            <a:extLst>
              <a:ext uri="{BEBA8EAE-BF5A-486C-A8C5-ECC9F3942E4B}">
                <a14:imgProps xmlns:a14="http://schemas.microsoft.com/office/drawing/2010/main" xmlns="">
                  <a14:imgLayer r:embed="rId3">
                    <a14:imgEffect>
                      <a14:backgroundRemoval t="5429" b="69497" l="10000" r="90000">
                        <a14:foregroundMark x1="65976" y1="28727" x2="65976" y2="28727"/>
                        <a14:foregroundMark x1="58293" y1="30997" x2="58293" y2="30997"/>
                        <a14:foregroundMark x1="60732" y1="35933" x2="60732" y2="35933"/>
                        <a14:foregroundMark x1="58293" y1="41165" x2="58293" y2="41165"/>
                        <a14:foregroundMark x1="65122" y1="41757" x2="65122" y2="41757"/>
                        <a14:foregroundMark x1="69634" y1="36130" x2="69634" y2="36130"/>
                        <a14:foregroundMark x1="61220" y1="48963" x2="61220" y2="48963"/>
                        <a14:foregroundMark x1="50854" y1="66732" x2="50854" y2="66732"/>
                        <a14:foregroundMark x1="51098" y1="5429" x2="51098" y2="5429"/>
                      </a14:backgroundRemoval>
                    </a14:imgEffect>
                  </a14:imgLayer>
                </a14:imgProps>
              </a:ext>
              <a:ext uri="{28A0092B-C50C-407E-A947-70E740481C1C}">
                <a14:useLocalDpi xmlns:a14="http://schemas.microsoft.com/office/drawing/2010/main" xmlns="" val="0"/>
              </a:ext>
            </a:extLst>
          </a:blip>
          <a:srcRect l="14092" r="15445" b="29337"/>
          <a:stretch/>
        </p:blipFill>
        <p:spPr bwMode="auto">
          <a:xfrm>
            <a:off x="457200" y="2590800"/>
            <a:ext cx="2071412" cy="256625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62580409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a:bodyPr>
          <a:lstStyle/>
          <a:p>
            <a:r>
              <a:rPr lang="en-GB" b="1" dirty="0"/>
              <a:t>Predicate Logic</a:t>
            </a:r>
          </a:p>
        </p:txBody>
      </p:sp>
      <p:sp>
        <p:nvSpPr>
          <p:cNvPr id="9219" name="Rectangle 3"/>
          <p:cNvSpPr>
            <a:spLocks noGrp="1" noChangeArrowheads="1"/>
          </p:cNvSpPr>
          <p:nvPr>
            <p:ph type="body" idx="1"/>
          </p:nvPr>
        </p:nvSpPr>
        <p:spPr>
          <a:xfrm>
            <a:off x="693057" y="1828800"/>
            <a:ext cx="8001000" cy="4343400"/>
          </a:xfrm>
        </p:spPr>
        <p:txBody>
          <a:bodyPr>
            <a:normAutofit fontScale="92500" lnSpcReduction="10000"/>
          </a:bodyPr>
          <a:lstStyle/>
          <a:p>
            <a:r>
              <a:rPr lang="en-GB" dirty="0"/>
              <a:t>Propositional logic combines atoms</a:t>
            </a:r>
          </a:p>
          <a:p>
            <a:pPr lvl="1"/>
            <a:r>
              <a:rPr lang="en-GB" dirty="0"/>
              <a:t>An atom contains no propositional connectives</a:t>
            </a:r>
          </a:p>
          <a:p>
            <a:pPr lvl="1"/>
            <a:r>
              <a:rPr lang="en-GB" dirty="0"/>
              <a:t>Have no structure (</a:t>
            </a:r>
            <a:r>
              <a:rPr lang="en-GB" dirty="0" err="1"/>
              <a:t>today_is_wet</a:t>
            </a:r>
            <a:r>
              <a:rPr lang="en-GB" dirty="0"/>
              <a:t>, </a:t>
            </a:r>
            <a:r>
              <a:rPr lang="en-GB" dirty="0" err="1"/>
              <a:t>john_likes_apples</a:t>
            </a:r>
            <a:r>
              <a:rPr lang="en-GB" dirty="0"/>
              <a:t>)</a:t>
            </a:r>
          </a:p>
          <a:p>
            <a:r>
              <a:rPr lang="en-GB" b="1" dirty="0"/>
              <a:t>Predicates</a:t>
            </a:r>
            <a:r>
              <a:rPr lang="en-GB" dirty="0"/>
              <a:t> allow us to talk about objects</a:t>
            </a:r>
          </a:p>
          <a:p>
            <a:pPr lvl="1"/>
            <a:r>
              <a:rPr lang="en-GB" dirty="0"/>
              <a:t>Properties:   </a:t>
            </a:r>
            <a:r>
              <a:rPr lang="en-GB" dirty="0" err="1"/>
              <a:t>is_wet</a:t>
            </a:r>
            <a:r>
              <a:rPr lang="en-GB" dirty="0"/>
              <a:t>(today)</a:t>
            </a:r>
          </a:p>
          <a:p>
            <a:pPr lvl="1"/>
            <a:r>
              <a:rPr lang="en-GB" dirty="0"/>
              <a:t>Relations:    likes(john, apples)</a:t>
            </a:r>
          </a:p>
          <a:p>
            <a:pPr lvl="1"/>
            <a:r>
              <a:rPr lang="en-GB" dirty="0"/>
              <a:t>True or false</a:t>
            </a:r>
          </a:p>
          <a:p>
            <a:r>
              <a:rPr lang="en-GB" dirty="0"/>
              <a:t>In predicate logic each atom is a predicate</a:t>
            </a:r>
          </a:p>
          <a:p>
            <a:pPr lvl="1"/>
            <a:r>
              <a:rPr lang="en-GB" dirty="0"/>
              <a:t>e.g. first order logic, higher-order logic</a:t>
            </a:r>
          </a:p>
        </p:txBody>
      </p:sp>
    </p:spTree>
    <p:extLst>
      <p:ext uri="{BB962C8B-B14F-4D97-AF65-F5344CB8AC3E}">
        <p14:creationId xmlns:p14="http://schemas.microsoft.com/office/powerpoint/2010/main" xmlns="" val="40314966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MECQ1203: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55</a:t>
            </a:fld>
            <a:endParaRPr lang="en-US"/>
          </a:p>
        </p:txBody>
      </p:sp>
      <p:sp>
        <p:nvSpPr>
          <p:cNvPr id="6" name="Rectangle 5"/>
          <p:cNvSpPr/>
          <p:nvPr/>
        </p:nvSpPr>
        <p:spPr>
          <a:xfrm>
            <a:off x="3505200" y="381000"/>
            <a:ext cx="2813591" cy="769441"/>
          </a:xfrm>
          <a:prstGeom prst="rect">
            <a:avLst/>
          </a:prstGeom>
        </p:spPr>
        <p:txBody>
          <a:bodyPr wrap="none">
            <a:spAutoFit/>
          </a:bodyPr>
          <a:lstStyle/>
          <a:p>
            <a:r>
              <a:rPr lang="en-GB" sz="4400" b="1" dirty="0">
                <a:solidFill>
                  <a:srgbClr val="FF0000"/>
                </a:solidFill>
              </a:rPr>
              <a:t>Activity 2.3</a:t>
            </a:r>
            <a:endParaRPr lang="en-US" sz="4400" b="1" dirty="0">
              <a:solidFill>
                <a:srgbClr val="FF0000"/>
              </a:solidFill>
            </a:endParaRPr>
          </a:p>
        </p:txBody>
      </p:sp>
      <p:sp>
        <p:nvSpPr>
          <p:cNvPr id="11" name="Rectangle 10"/>
          <p:cNvSpPr/>
          <p:nvPr/>
        </p:nvSpPr>
        <p:spPr>
          <a:xfrm>
            <a:off x="612386" y="1555075"/>
            <a:ext cx="8303014" cy="1200329"/>
          </a:xfrm>
          <a:prstGeom prst="rect">
            <a:avLst/>
          </a:prstGeom>
        </p:spPr>
        <p:txBody>
          <a:bodyPr wrap="square">
            <a:spAutoFit/>
          </a:bodyPr>
          <a:lstStyle/>
          <a:p>
            <a:r>
              <a:rPr lang="en-GB" sz="2400" b="1" dirty="0"/>
              <a:t>Activity </a:t>
            </a:r>
          </a:p>
          <a:p>
            <a:r>
              <a:rPr lang="en-GB" sz="2400" dirty="0"/>
              <a:t>Form a group of two members. Discuss the right logic operation that is suitable for Venn diagram below.</a:t>
            </a:r>
          </a:p>
        </p:txBody>
      </p:sp>
      <p:pic>
        <p:nvPicPr>
          <p:cNvPr id="5" name="Picture 4"/>
          <p:cNvPicPr>
            <a:picLocks noChangeAspect="1"/>
          </p:cNvPicPr>
          <p:nvPr/>
        </p:nvPicPr>
        <p:blipFill>
          <a:blip r:embed="rId2" cstate="print"/>
          <a:stretch>
            <a:fillRect/>
          </a:stretch>
        </p:blipFill>
        <p:spPr>
          <a:xfrm>
            <a:off x="2982045" y="2987184"/>
            <a:ext cx="3859900" cy="3219484"/>
          </a:xfrm>
          <a:prstGeom prst="rect">
            <a:avLst/>
          </a:prstGeom>
        </p:spPr>
      </p:pic>
      <p:sp>
        <p:nvSpPr>
          <p:cNvPr id="7" name="Rectangle 6"/>
          <p:cNvSpPr/>
          <p:nvPr/>
        </p:nvSpPr>
        <p:spPr>
          <a:xfrm>
            <a:off x="457200" y="3694154"/>
            <a:ext cx="2374368" cy="400110"/>
          </a:xfrm>
          <a:prstGeom prst="rect">
            <a:avLst/>
          </a:prstGeom>
        </p:spPr>
        <p:txBody>
          <a:bodyPr wrap="none">
            <a:spAutoFit/>
          </a:bodyPr>
          <a:lstStyle/>
          <a:p>
            <a:r>
              <a:rPr lang="en-GB" sz="2000" b="1" dirty="0">
                <a:solidFill>
                  <a:srgbClr val="C00000"/>
                </a:solidFill>
              </a:rPr>
              <a:t>Operation :  …………..</a:t>
            </a:r>
          </a:p>
        </p:txBody>
      </p:sp>
      <p:sp>
        <p:nvSpPr>
          <p:cNvPr id="12" name="Rectangle 11"/>
          <p:cNvSpPr/>
          <p:nvPr/>
        </p:nvSpPr>
        <p:spPr>
          <a:xfrm>
            <a:off x="482600" y="5296090"/>
            <a:ext cx="2374368" cy="400110"/>
          </a:xfrm>
          <a:prstGeom prst="rect">
            <a:avLst/>
          </a:prstGeom>
        </p:spPr>
        <p:txBody>
          <a:bodyPr wrap="none">
            <a:spAutoFit/>
          </a:bodyPr>
          <a:lstStyle/>
          <a:p>
            <a:r>
              <a:rPr lang="en-GB" sz="2000" b="1" dirty="0">
                <a:solidFill>
                  <a:srgbClr val="C00000"/>
                </a:solidFill>
              </a:rPr>
              <a:t>Operation :  …………..</a:t>
            </a:r>
          </a:p>
        </p:txBody>
      </p:sp>
      <p:sp>
        <p:nvSpPr>
          <p:cNvPr id="13" name="Rectangle 12"/>
          <p:cNvSpPr/>
          <p:nvPr/>
        </p:nvSpPr>
        <p:spPr>
          <a:xfrm>
            <a:off x="6830161" y="3657600"/>
            <a:ext cx="2374368" cy="400110"/>
          </a:xfrm>
          <a:prstGeom prst="rect">
            <a:avLst/>
          </a:prstGeom>
        </p:spPr>
        <p:txBody>
          <a:bodyPr wrap="none">
            <a:spAutoFit/>
          </a:bodyPr>
          <a:lstStyle/>
          <a:p>
            <a:r>
              <a:rPr lang="en-GB" sz="2000" b="1" dirty="0">
                <a:solidFill>
                  <a:srgbClr val="C00000"/>
                </a:solidFill>
              </a:rPr>
              <a:t>Operation :  …………..</a:t>
            </a:r>
          </a:p>
        </p:txBody>
      </p:sp>
      <p:sp>
        <p:nvSpPr>
          <p:cNvPr id="14" name="Rectangle 13"/>
          <p:cNvSpPr/>
          <p:nvPr/>
        </p:nvSpPr>
        <p:spPr>
          <a:xfrm>
            <a:off x="6830160" y="5395781"/>
            <a:ext cx="2374368" cy="400110"/>
          </a:xfrm>
          <a:prstGeom prst="rect">
            <a:avLst/>
          </a:prstGeom>
        </p:spPr>
        <p:txBody>
          <a:bodyPr wrap="none">
            <a:spAutoFit/>
          </a:bodyPr>
          <a:lstStyle/>
          <a:p>
            <a:r>
              <a:rPr lang="en-GB" sz="2000" b="1" dirty="0">
                <a:solidFill>
                  <a:srgbClr val="C00000"/>
                </a:solidFill>
              </a:rPr>
              <a:t>Operation :  …………..</a:t>
            </a:r>
          </a:p>
        </p:txBody>
      </p:sp>
    </p:spTree>
    <p:extLst>
      <p:ext uri="{BB962C8B-B14F-4D97-AF65-F5344CB8AC3E}">
        <p14:creationId xmlns:p14="http://schemas.microsoft.com/office/powerpoint/2010/main" xmlns="" val="226625287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2019</a:t>
            </a:r>
          </a:p>
        </p:txBody>
      </p:sp>
      <p:sp>
        <p:nvSpPr>
          <p:cNvPr id="3" name="Footer Placeholder 2"/>
          <p:cNvSpPr>
            <a:spLocks noGrp="1"/>
          </p:cNvSpPr>
          <p:nvPr>
            <p:ph type="ftr" sz="quarter" idx="11"/>
          </p:nvPr>
        </p:nvSpPr>
        <p:spPr/>
        <p:txBody>
          <a:bodyPr/>
          <a:lstStyle/>
          <a:p>
            <a:r>
              <a:rPr lang="en-US"/>
              <a:t>MECQ1203: Artificial Intelligence</a:t>
            </a:r>
          </a:p>
        </p:txBody>
      </p:sp>
      <p:sp>
        <p:nvSpPr>
          <p:cNvPr id="4" name="Slide Number Placeholder 3"/>
          <p:cNvSpPr>
            <a:spLocks noGrp="1"/>
          </p:cNvSpPr>
          <p:nvPr>
            <p:ph type="sldNum" sz="quarter" idx="12"/>
          </p:nvPr>
        </p:nvSpPr>
        <p:spPr/>
        <p:txBody>
          <a:bodyPr/>
          <a:lstStyle/>
          <a:p>
            <a:fld id="{0362C787-829C-4B6B-B21B-90D8981190F3}" type="slidenum">
              <a:rPr lang="en-US" smtClean="0"/>
              <a:pPr/>
              <a:t>56</a:t>
            </a:fld>
            <a:endParaRPr lang="en-US"/>
          </a:p>
        </p:txBody>
      </p:sp>
      <p:sp>
        <p:nvSpPr>
          <p:cNvPr id="6" name="Rectangle 5"/>
          <p:cNvSpPr/>
          <p:nvPr/>
        </p:nvSpPr>
        <p:spPr>
          <a:xfrm>
            <a:off x="2469777" y="289657"/>
            <a:ext cx="5008935" cy="769441"/>
          </a:xfrm>
          <a:prstGeom prst="rect">
            <a:avLst/>
          </a:prstGeom>
        </p:spPr>
        <p:txBody>
          <a:bodyPr wrap="none">
            <a:spAutoFit/>
          </a:bodyPr>
          <a:lstStyle/>
          <a:p>
            <a:r>
              <a:rPr lang="en-GB" sz="4400" b="1" dirty="0">
                <a:solidFill>
                  <a:srgbClr val="FF0000"/>
                </a:solidFill>
              </a:rPr>
              <a:t>Activity 2.3 - Answer</a:t>
            </a:r>
            <a:endParaRPr lang="en-US" sz="4400" b="1" dirty="0">
              <a:solidFill>
                <a:srgbClr val="FF0000"/>
              </a:solidFill>
            </a:endParaRPr>
          </a:p>
        </p:txBody>
      </p:sp>
      <p:pic>
        <p:nvPicPr>
          <p:cNvPr id="4098" name="Picture 2" descr="https://pron.github.io/img/computation-logic-algebra/euler-circles.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600200" y="1414200"/>
            <a:ext cx="5334000" cy="498961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65670391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normAutofit fontScale="90000"/>
          </a:bodyPr>
          <a:lstStyle/>
          <a:p>
            <a:r>
              <a:rPr lang="en-GB" b="1" dirty="0"/>
              <a:t>Predicate Calculus (First Order Logic)</a:t>
            </a:r>
          </a:p>
        </p:txBody>
      </p:sp>
      <p:sp>
        <p:nvSpPr>
          <p:cNvPr id="32771" name="Rectangle 3"/>
          <p:cNvSpPr>
            <a:spLocks noGrp="1" noChangeArrowheads="1"/>
          </p:cNvSpPr>
          <p:nvPr>
            <p:ph type="body" idx="1"/>
          </p:nvPr>
        </p:nvSpPr>
        <p:spPr>
          <a:xfrm>
            <a:off x="838200" y="1981200"/>
            <a:ext cx="8001000" cy="4191000"/>
          </a:xfrm>
        </p:spPr>
        <p:txBody>
          <a:bodyPr/>
          <a:lstStyle/>
          <a:p>
            <a:pPr>
              <a:lnSpc>
                <a:spcPct val="90000"/>
              </a:lnSpc>
            </a:pPr>
            <a:r>
              <a:rPr lang="en-GB" sz="2400" b="1" dirty="0"/>
              <a:t>Constants</a:t>
            </a:r>
            <a:r>
              <a:rPr lang="en-GB" sz="2400" dirty="0"/>
              <a:t> are objects: john, apples</a:t>
            </a:r>
          </a:p>
          <a:p>
            <a:pPr>
              <a:lnSpc>
                <a:spcPct val="90000"/>
              </a:lnSpc>
            </a:pPr>
            <a:r>
              <a:rPr lang="en-GB" sz="2400" b="1" dirty="0"/>
              <a:t>Predicates</a:t>
            </a:r>
            <a:r>
              <a:rPr lang="en-GB" sz="2400" dirty="0"/>
              <a:t> are properties and relations:</a:t>
            </a:r>
          </a:p>
          <a:p>
            <a:pPr lvl="1">
              <a:lnSpc>
                <a:spcPct val="90000"/>
              </a:lnSpc>
            </a:pPr>
            <a:r>
              <a:rPr lang="en-GB" sz="2000" dirty="0"/>
              <a:t>likes(john, apples)</a:t>
            </a:r>
          </a:p>
          <a:p>
            <a:pPr>
              <a:lnSpc>
                <a:spcPct val="90000"/>
              </a:lnSpc>
            </a:pPr>
            <a:r>
              <a:rPr lang="en-GB" sz="2400" b="1" dirty="0"/>
              <a:t>Functions</a:t>
            </a:r>
            <a:r>
              <a:rPr lang="en-GB" sz="2400" dirty="0"/>
              <a:t> transform objects:</a:t>
            </a:r>
          </a:p>
          <a:p>
            <a:pPr lvl="1">
              <a:lnSpc>
                <a:spcPct val="90000"/>
              </a:lnSpc>
            </a:pPr>
            <a:r>
              <a:rPr lang="en-GB" sz="2000" dirty="0"/>
              <a:t>likes(john, fruit of(</a:t>
            </a:r>
            <a:r>
              <a:rPr lang="en-GB" sz="2000" dirty="0" err="1"/>
              <a:t>apple_tree</a:t>
            </a:r>
            <a:r>
              <a:rPr lang="en-GB" sz="2000" dirty="0"/>
              <a:t>))</a:t>
            </a:r>
          </a:p>
          <a:p>
            <a:pPr>
              <a:lnSpc>
                <a:spcPct val="90000"/>
              </a:lnSpc>
            </a:pPr>
            <a:r>
              <a:rPr lang="en-GB" sz="2400" b="1" dirty="0"/>
              <a:t>Variables</a:t>
            </a:r>
            <a:r>
              <a:rPr lang="en-GB" sz="2400" dirty="0"/>
              <a:t> represent any object:  likes(X, apples)</a:t>
            </a:r>
          </a:p>
          <a:p>
            <a:pPr>
              <a:lnSpc>
                <a:spcPct val="90000"/>
              </a:lnSpc>
            </a:pPr>
            <a:r>
              <a:rPr lang="en-GB" sz="2400" b="1" dirty="0"/>
              <a:t>Quantifiers</a:t>
            </a:r>
            <a:r>
              <a:rPr lang="en-GB" sz="2400" dirty="0"/>
              <a:t> qualify values of variables</a:t>
            </a:r>
          </a:p>
          <a:p>
            <a:pPr lvl="1">
              <a:lnSpc>
                <a:spcPct val="90000"/>
              </a:lnSpc>
            </a:pPr>
            <a:r>
              <a:rPr lang="en-GB" sz="2000" dirty="0"/>
              <a:t>True for </a:t>
            </a:r>
            <a:r>
              <a:rPr lang="en-GB" sz="2000" dirty="0">
                <a:solidFill>
                  <a:srgbClr val="FF0000"/>
                </a:solidFill>
              </a:rPr>
              <a:t>every</a:t>
            </a:r>
            <a:r>
              <a:rPr lang="en-GB" sz="2000" dirty="0"/>
              <a:t> objects (Universal):              </a:t>
            </a:r>
            <a:r>
              <a:rPr lang="en-GB" sz="2000" dirty="0">
                <a:sym typeface="Symbol" panose="05050102010706020507" pitchFamily="18" charset="2"/>
              </a:rPr>
              <a:t></a:t>
            </a:r>
            <a:r>
              <a:rPr lang="en-GB" sz="2000" dirty="0"/>
              <a:t>X. likes(X, apples)</a:t>
            </a:r>
          </a:p>
          <a:p>
            <a:pPr lvl="1">
              <a:lnSpc>
                <a:spcPct val="90000"/>
              </a:lnSpc>
            </a:pPr>
            <a:r>
              <a:rPr lang="en-GB" sz="2000" dirty="0">
                <a:solidFill>
                  <a:srgbClr val="FF0000"/>
                </a:solidFill>
              </a:rPr>
              <a:t>Exists</a:t>
            </a:r>
            <a:r>
              <a:rPr lang="en-GB" sz="2000" dirty="0"/>
              <a:t> at least one object (Existential):       </a:t>
            </a:r>
            <a:r>
              <a:rPr lang="en-GB" sz="2000" dirty="0">
                <a:sym typeface="Symbol" panose="05050102010706020507" pitchFamily="18" charset="2"/>
              </a:rPr>
              <a:t></a:t>
            </a:r>
            <a:r>
              <a:rPr lang="en-GB" sz="2000" dirty="0"/>
              <a:t>X. likes(X, apples)</a:t>
            </a:r>
          </a:p>
        </p:txBody>
      </p:sp>
    </p:spTree>
    <p:extLst>
      <p:ext uri="{BB962C8B-B14F-4D97-AF65-F5344CB8AC3E}">
        <p14:creationId xmlns:p14="http://schemas.microsoft.com/office/powerpoint/2010/main" xmlns="" val="130796204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07106" y="152400"/>
            <a:ext cx="8229600" cy="1143000"/>
          </a:xfrm>
        </p:spPr>
        <p:txBody>
          <a:bodyPr>
            <a:normAutofit/>
          </a:bodyPr>
          <a:lstStyle/>
          <a:p>
            <a:r>
              <a:rPr lang="en-GB" sz="3200" b="1" dirty="0"/>
              <a:t>Example: FOL Sentence</a:t>
            </a:r>
          </a:p>
        </p:txBody>
      </p:sp>
      <p:sp>
        <p:nvSpPr>
          <p:cNvPr id="14339" name="Rectangle 3"/>
          <p:cNvSpPr>
            <a:spLocks noGrp="1" noChangeArrowheads="1"/>
          </p:cNvSpPr>
          <p:nvPr>
            <p:ph type="body" idx="1"/>
          </p:nvPr>
        </p:nvSpPr>
        <p:spPr>
          <a:xfrm>
            <a:off x="799420" y="1981200"/>
            <a:ext cx="8001000" cy="3886200"/>
          </a:xfrm>
        </p:spPr>
        <p:txBody>
          <a:bodyPr/>
          <a:lstStyle/>
          <a:p>
            <a:r>
              <a:rPr lang="en-GB" dirty="0"/>
              <a:t>“Every rose has a thorn”</a:t>
            </a:r>
          </a:p>
          <a:p>
            <a:endParaRPr lang="en-GB" dirty="0"/>
          </a:p>
          <a:p>
            <a:endParaRPr lang="en-GB" dirty="0"/>
          </a:p>
          <a:p>
            <a:r>
              <a:rPr lang="en-GB" dirty="0"/>
              <a:t>For all X</a:t>
            </a:r>
          </a:p>
          <a:p>
            <a:pPr lvl="1"/>
            <a:r>
              <a:rPr lang="en-GB" dirty="0"/>
              <a:t>if (X is a rose)</a:t>
            </a:r>
          </a:p>
          <a:p>
            <a:pPr lvl="1"/>
            <a:r>
              <a:rPr lang="en-GB" dirty="0"/>
              <a:t>then there exists Y</a:t>
            </a:r>
          </a:p>
          <a:p>
            <a:pPr lvl="2"/>
            <a:r>
              <a:rPr lang="en-GB" dirty="0"/>
              <a:t>(X has Y) and (Y is a thorn)</a:t>
            </a:r>
          </a:p>
        </p:txBody>
      </p:sp>
      <p:pic>
        <p:nvPicPr>
          <p:cNvPr id="14360" name="Picture 24"/>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12837" y="2819400"/>
            <a:ext cx="7573963" cy="66357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8194822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200" y="14514"/>
            <a:ext cx="8229600" cy="1143000"/>
          </a:xfrm>
        </p:spPr>
        <p:txBody>
          <a:bodyPr>
            <a:normAutofit/>
          </a:bodyPr>
          <a:lstStyle/>
          <a:p>
            <a:r>
              <a:rPr lang="en-GB" sz="3200" b="1" dirty="0"/>
              <a:t/>
            </a:r>
            <a:br>
              <a:rPr lang="en-GB" sz="3200" b="1" dirty="0"/>
            </a:br>
            <a:r>
              <a:rPr lang="en-GB" sz="3200" b="1" dirty="0"/>
              <a:t>Example: FOL Sentence</a:t>
            </a:r>
          </a:p>
        </p:txBody>
      </p:sp>
      <p:sp>
        <p:nvSpPr>
          <p:cNvPr id="30723" name="Rectangle 3"/>
          <p:cNvSpPr>
            <a:spLocks noGrp="1" noChangeArrowheads="1"/>
          </p:cNvSpPr>
          <p:nvPr>
            <p:ph type="body" idx="1"/>
          </p:nvPr>
        </p:nvSpPr>
        <p:spPr>
          <a:xfrm>
            <a:off x="914400" y="1817007"/>
            <a:ext cx="8001000" cy="1143000"/>
          </a:xfrm>
        </p:spPr>
        <p:txBody>
          <a:bodyPr/>
          <a:lstStyle/>
          <a:p>
            <a:r>
              <a:rPr lang="en-GB" dirty="0"/>
              <a:t>“On Mondays and Wednesdays I go to John’s house for dinner”</a:t>
            </a:r>
          </a:p>
        </p:txBody>
      </p:sp>
      <p:sp>
        <p:nvSpPr>
          <p:cNvPr id="30732" name="Rectangle 12"/>
          <p:cNvSpPr>
            <a:spLocks noChangeArrowheads="1"/>
          </p:cNvSpPr>
          <p:nvPr/>
        </p:nvSpPr>
        <p:spPr bwMode="auto">
          <a:xfrm>
            <a:off x="990600" y="4648200"/>
            <a:ext cx="76962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lr>
                <a:schemeClr val="tx1"/>
              </a:buClr>
              <a:buSzPct val="75000"/>
              <a:buFont typeface="Wingdings" panose="05000000000000000000" pitchFamily="2" charset="2"/>
              <a:buChar char="l"/>
              <a:defRPr sz="2800">
                <a:solidFill>
                  <a:schemeClr val="tx1"/>
                </a:solidFill>
                <a:latin typeface="Arial" panose="020B0604020202020204" pitchFamily="34" charset="0"/>
              </a:defRPr>
            </a:lvl1pPr>
            <a:lvl2pPr marL="742950" indent="-285750">
              <a:spcBef>
                <a:spcPct val="20000"/>
              </a:spcBef>
              <a:buClr>
                <a:schemeClr val="tx1"/>
              </a:buClr>
              <a:buSzPct val="75000"/>
              <a:buChar char="–"/>
              <a:defRPr sz="2400">
                <a:solidFill>
                  <a:schemeClr val="tx1"/>
                </a:solidFill>
                <a:latin typeface="Arial" panose="020B0604020202020204" pitchFamily="34" charset="0"/>
              </a:defRPr>
            </a:lvl2pPr>
            <a:lvl3pPr marL="1143000" indent="-228600">
              <a:spcBef>
                <a:spcPct val="20000"/>
              </a:spcBef>
              <a:buClr>
                <a:schemeClr val="tx1"/>
              </a:buClr>
              <a:buSzPct val="75000"/>
              <a:buFont typeface="Wingdings" panose="05000000000000000000" pitchFamily="2" charset="2"/>
              <a:buChar char="l"/>
              <a:defRPr sz="2000">
                <a:solidFill>
                  <a:schemeClr val="tx1"/>
                </a:solidFill>
                <a:latin typeface="Arial" panose="020B0604020202020204" pitchFamily="34" charset="0"/>
              </a:defRPr>
            </a:lvl3pPr>
            <a:lvl4pPr marL="1600200" indent="-228600">
              <a:spcBef>
                <a:spcPct val="20000"/>
              </a:spcBef>
              <a:buClr>
                <a:schemeClr val="tx1"/>
              </a:buClr>
              <a:buSzPct val="80000"/>
              <a:buChar char="–"/>
              <a:defRPr>
                <a:solidFill>
                  <a:schemeClr val="tx1"/>
                </a:solidFill>
                <a:latin typeface="Arial" panose="020B0604020202020204" pitchFamily="34" charset="0"/>
              </a:defRPr>
            </a:lvl4pPr>
            <a:lvl5pPr marL="2057400" indent="-228600">
              <a:spcBef>
                <a:spcPct val="20000"/>
              </a:spcBef>
              <a:buClr>
                <a:schemeClr val="tx1"/>
              </a:buClr>
              <a:buSzPct val="65000"/>
              <a:buFont typeface="Wingdings" panose="05000000000000000000" pitchFamily="2" charset="2"/>
              <a:buChar char="l"/>
              <a:defRPr>
                <a:solidFill>
                  <a:schemeClr val="tx1"/>
                </a:solidFill>
                <a:latin typeface="Arial" panose="020B0604020202020204" pitchFamily="34" charset="0"/>
              </a:defRPr>
            </a:lvl5pPr>
            <a:lvl6pPr marL="2514600" indent="-228600" fontAlgn="base">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6pPr>
            <a:lvl7pPr marL="2971800" indent="-228600" fontAlgn="base">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7pPr>
            <a:lvl8pPr marL="3429000" indent="-228600" fontAlgn="base">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8pPr>
            <a:lvl9pPr marL="3886200" indent="-228600" fontAlgn="base">
              <a:spcBef>
                <a:spcPct val="20000"/>
              </a:spcBef>
              <a:spcAft>
                <a:spcPct val="0"/>
              </a:spcAft>
              <a:buClr>
                <a:schemeClr val="tx1"/>
              </a:buClr>
              <a:buSzPct val="65000"/>
              <a:buFont typeface="Wingdings" panose="05000000000000000000" pitchFamily="2" charset="2"/>
              <a:buChar char="l"/>
              <a:defRPr>
                <a:solidFill>
                  <a:schemeClr val="tx1"/>
                </a:solidFill>
                <a:latin typeface="Arial" panose="020B0604020202020204" pitchFamily="34" charset="0"/>
              </a:defRPr>
            </a:lvl9pPr>
          </a:lstStyle>
          <a:p>
            <a:r>
              <a:rPr lang="en-GB" dirty="0"/>
              <a:t>Note the change from “and” to “or”</a:t>
            </a:r>
          </a:p>
          <a:p>
            <a:pPr lvl="1"/>
            <a:r>
              <a:rPr lang="en-GB" dirty="0"/>
              <a:t>Translating is problematic</a:t>
            </a:r>
          </a:p>
        </p:txBody>
      </p:sp>
      <p:pic>
        <p:nvPicPr>
          <p:cNvPr id="30741" name="Picture 21"/>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95400" y="2979964"/>
            <a:ext cx="6553200" cy="13335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08699867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p:txBody>
          <a:bodyPr/>
          <a:lstStyle/>
          <a:p>
            <a:pPr eaLnBrk="1" hangingPunct="1"/>
            <a:r>
              <a:rPr lang="en-US" altLang="en-US" b="1"/>
              <a:t>First-Order Logic (FOL)</a:t>
            </a:r>
            <a:endParaRPr lang="en-US" altLang="en-US"/>
          </a:p>
        </p:txBody>
      </p:sp>
      <p:sp>
        <p:nvSpPr>
          <p:cNvPr id="6147" name="Rectangle 3"/>
          <p:cNvSpPr>
            <a:spLocks noGrp="1"/>
          </p:cNvSpPr>
          <p:nvPr>
            <p:ph type="body" sz="half" idx="1"/>
          </p:nvPr>
        </p:nvSpPr>
        <p:spPr>
          <a:xfrm>
            <a:off x="914400" y="1600200"/>
            <a:ext cx="3813175" cy="4530725"/>
          </a:xfrm>
        </p:spPr>
        <p:txBody>
          <a:bodyPr/>
          <a:lstStyle/>
          <a:p>
            <a:pPr eaLnBrk="1" hangingPunct="1"/>
            <a:endParaRPr lang="en-US" altLang="en-US" sz="2400"/>
          </a:p>
          <a:p>
            <a:pPr eaLnBrk="1" hangingPunct="1"/>
            <a:endParaRPr lang="en-US" altLang="en-US" sz="2400"/>
          </a:p>
        </p:txBody>
      </p:sp>
      <p:pic>
        <p:nvPicPr>
          <p:cNvPr id="6148" name="Picture 4"/>
          <p:cNvPicPr>
            <a:picLocks noGrp="1" noChangeAspect="1" noChangeArrowheads="1"/>
          </p:cNvPicPr>
          <p:nvPr>
            <p:ph sz="half" idx="2"/>
          </p:nvPr>
        </p:nvPicPr>
        <p:blipFill>
          <a:blip r:embed="rId2" cstate="print">
            <a:extLst>
              <a:ext uri="{28A0092B-C50C-407E-A947-70E740481C1C}">
                <a14:useLocalDpi xmlns:a14="http://schemas.microsoft.com/office/drawing/2010/main" xmlns="" val="0"/>
              </a:ext>
            </a:extLst>
          </a:blip>
          <a:srcRect/>
          <a:stretch>
            <a:fillRect/>
          </a:stretch>
        </p:blipFill>
        <p:spPr>
          <a:xfrm>
            <a:off x="1298575" y="1578429"/>
            <a:ext cx="6858000" cy="4225396"/>
          </a:xfrm>
          <a:noFill/>
        </p:spPr>
      </p:pic>
    </p:spTree>
    <p:extLst>
      <p:ext uri="{BB962C8B-B14F-4D97-AF65-F5344CB8AC3E}">
        <p14:creationId xmlns:p14="http://schemas.microsoft.com/office/powerpoint/2010/main" xmlns="" val="29683048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457200" y="0"/>
            <a:ext cx="8229600" cy="1066800"/>
          </a:xfrm>
        </p:spPr>
        <p:txBody>
          <a:bodyPr/>
          <a:lstStyle/>
          <a:p>
            <a:pPr eaLnBrk="1" hangingPunct="1"/>
            <a:r>
              <a:rPr lang="en-US" altLang="en-US" b="1"/>
              <a:t>First-Order Logic (FOL)</a:t>
            </a:r>
            <a:endParaRPr lang="en-US" altLang="en-US"/>
          </a:p>
        </p:txBody>
      </p:sp>
      <p:grpSp>
        <p:nvGrpSpPr>
          <p:cNvPr id="2" name="Group 4"/>
          <p:cNvGrpSpPr>
            <a:grpSpLocks noChangeAspect="1"/>
          </p:cNvGrpSpPr>
          <p:nvPr/>
        </p:nvGrpSpPr>
        <p:grpSpPr bwMode="auto">
          <a:xfrm>
            <a:off x="990600" y="1524000"/>
            <a:ext cx="6896100" cy="4383088"/>
            <a:chOff x="624" y="960"/>
            <a:chExt cx="4344" cy="2761"/>
          </a:xfrm>
        </p:grpSpPr>
        <p:sp>
          <p:nvSpPr>
            <p:cNvPr id="3" name="AutoShape 3"/>
            <p:cNvSpPr>
              <a:spLocks noChangeAspect="1" noChangeArrowheads="1" noTextEdit="1"/>
            </p:cNvSpPr>
            <p:nvPr/>
          </p:nvSpPr>
          <p:spPr bwMode="auto">
            <a:xfrm>
              <a:off x="624" y="960"/>
              <a:ext cx="4344" cy="276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9"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24" y="960"/>
              <a:ext cx="4349" cy="27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76994202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ChangeArrowheads="1"/>
          </p:cNvSpPr>
          <p:nvPr/>
        </p:nvSpPr>
        <p:spPr bwMode="auto">
          <a:xfrm>
            <a:off x="914400" y="277813"/>
            <a:ext cx="77724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4000" b="1"/>
              <a:t>First Order Predicate Calculus</a:t>
            </a:r>
          </a:p>
        </p:txBody>
      </p:sp>
      <p:sp>
        <p:nvSpPr>
          <p:cNvPr id="8195" name="Rectangle 5"/>
          <p:cNvSpPr>
            <a:spLocks noChangeArrowheads="1"/>
          </p:cNvSpPr>
          <p:nvPr/>
        </p:nvSpPr>
        <p:spPr bwMode="auto">
          <a:xfrm>
            <a:off x="914400" y="1600200"/>
            <a:ext cx="7772400" cy="4530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folHlink"/>
              </a:buClr>
              <a:buSzPct val="90000"/>
              <a:buFont typeface="Wingdings" panose="05000000000000000000" pitchFamily="2" charset="2"/>
              <a:buChar char="n"/>
            </a:pPr>
            <a:r>
              <a:rPr lang="en-US" altLang="en-US" sz="2800"/>
              <a:t>Includes 2 symbols: </a:t>
            </a:r>
          </a:p>
          <a:p>
            <a:pPr lvl="1" eaLnBrk="1" hangingPunct="1">
              <a:spcBef>
                <a:spcPct val="20000"/>
              </a:spcBef>
              <a:buClr>
                <a:schemeClr val="accent1"/>
              </a:buClr>
              <a:buSzPct val="75000"/>
              <a:buFont typeface="Wingdings" panose="05000000000000000000" pitchFamily="2" charset="2"/>
              <a:buChar char="n"/>
            </a:pPr>
            <a:r>
              <a:rPr lang="en-US" altLang="en-US" sz="2600"/>
              <a:t>Variable quantifiers </a:t>
            </a:r>
          </a:p>
          <a:p>
            <a:pPr lvl="2" eaLnBrk="1" hangingPunct="1">
              <a:spcBef>
                <a:spcPct val="20000"/>
              </a:spcBef>
              <a:buClr>
                <a:schemeClr val="folHlink"/>
              </a:buClr>
              <a:buSzPct val="55000"/>
              <a:buFont typeface="Wingdings" panose="05000000000000000000" pitchFamily="2" charset="2"/>
              <a:buChar char="n"/>
            </a:pPr>
            <a:r>
              <a:rPr lang="en-US" altLang="en-US" sz="2300">
                <a:sym typeface="Symbol" panose="05050102010706020507" pitchFamily="18" charset="2"/>
              </a:rPr>
              <a:t> (existential) and </a:t>
            </a:r>
          </a:p>
          <a:p>
            <a:pPr lvl="2" eaLnBrk="1" hangingPunct="1">
              <a:spcBef>
                <a:spcPct val="20000"/>
              </a:spcBef>
              <a:buClr>
                <a:schemeClr val="folHlink"/>
              </a:buClr>
              <a:buSzPct val="55000"/>
              <a:buFont typeface="Wingdings" panose="05000000000000000000" pitchFamily="2" charset="2"/>
              <a:buChar char="n"/>
            </a:pPr>
            <a:r>
              <a:rPr lang="en-US" altLang="en-US" sz="2300">
                <a:sym typeface="Symbol" panose="05050102010706020507" pitchFamily="18" charset="2"/>
              </a:rPr>
              <a:t> (universal)</a:t>
            </a:r>
          </a:p>
          <a:p>
            <a:pPr eaLnBrk="1" hangingPunct="1">
              <a:spcBef>
                <a:spcPct val="20000"/>
              </a:spcBef>
              <a:buClr>
                <a:schemeClr val="folHlink"/>
              </a:buClr>
              <a:buSzPct val="90000"/>
              <a:buFont typeface="Wingdings" panose="05000000000000000000" pitchFamily="2" charset="2"/>
              <a:buChar char="n"/>
            </a:pPr>
            <a:r>
              <a:rPr lang="en-US" altLang="en-US" sz="2800">
                <a:sym typeface="Symbol" panose="05050102010706020507" pitchFamily="18" charset="2"/>
              </a:rPr>
              <a:t>A quantifier followed by a variable and a sentence:</a:t>
            </a:r>
          </a:p>
          <a:p>
            <a:pPr lvl="1" eaLnBrk="1" hangingPunct="1">
              <a:spcBef>
                <a:spcPct val="20000"/>
              </a:spcBef>
              <a:buClr>
                <a:schemeClr val="accent1"/>
              </a:buClr>
              <a:buSzPct val="75000"/>
              <a:buFont typeface="Wingdings" panose="05000000000000000000" pitchFamily="2" charset="2"/>
              <a:buChar char="n"/>
            </a:pPr>
            <a:r>
              <a:rPr lang="en-US" altLang="en-US" sz="2600">
                <a:sym typeface="Symbol" panose="05050102010706020507" pitchFamily="18" charset="2"/>
              </a:rPr>
              <a:t> X </a:t>
            </a:r>
            <a:r>
              <a:rPr lang="en-US" altLang="en-US" sz="2600"/>
              <a:t>likes(X,pizza) ;</a:t>
            </a:r>
            <a:r>
              <a:rPr lang="en-US" altLang="en-US" sz="2600">
                <a:solidFill>
                  <a:srgbClr val="FF0000"/>
                </a:solidFill>
              </a:rPr>
              <a:t>true for all X</a:t>
            </a:r>
          </a:p>
          <a:p>
            <a:pPr lvl="1" eaLnBrk="1" hangingPunct="1">
              <a:spcBef>
                <a:spcPct val="20000"/>
              </a:spcBef>
              <a:buClr>
                <a:schemeClr val="accent1"/>
              </a:buClr>
              <a:buSzPct val="75000"/>
              <a:buFont typeface="Wingdings" panose="05000000000000000000" pitchFamily="2" charset="2"/>
              <a:buChar char="n"/>
            </a:pPr>
            <a:r>
              <a:rPr lang="en-US" altLang="en-US" sz="2600">
                <a:sym typeface="Symbol" panose="05050102010706020507" pitchFamily="18" charset="2"/>
              </a:rPr>
              <a:t> Y friends</a:t>
            </a:r>
            <a:r>
              <a:rPr lang="en-US" altLang="en-US" sz="2600"/>
              <a:t>(Y,amir) ;</a:t>
            </a:r>
            <a:r>
              <a:rPr lang="en-US" altLang="en-US" sz="2600">
                <a:solidFill>
                  <a:srgbClr val="FF0000"/>
                </a:solidFill>
              </a:rPr>
              <a:t>true if there is at least one</a:t>
            </a:r>
          </a:p>
        </p:txBody>
      </p:sp>
    </p:spTree>
    <p:extLst>
      <p:ext uri="{BB962C8B-B14F-4D97-AF65-F5344CB8AC3E}">
        <p14:creationId xmlns:p14="http://schemas.microsoft.com/office/powerpoint/2010/main" xmlns="" val="91710826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p:txBody>
          <a:bodyPr/>
          <a:lstStyle/>
          <a:p>
            <a:pPr eaLnBrk="1" hangingPunct="1"/>
            <a:r>
              <a:rPr lang="en-US" altLang="en-US" b="1"/>
              <a:t>Universal Quantification</a:t>
            </a:r>
            <a:endParaRPr lang="en-US" altLang="en-US"/>
          </a:p>
        </p:txBody>
      </p:sp>
      <p:grpSp>
        <p:nvGrpSpPr>
          <p:cNvPr id="2" name="Group 4"/>
          <p:cNvGrpSpPr>
            <a:grpSpLocks noChangeAspect="1"/>
          </p:cNvGrpSpPr>
          <p:nvPr/>
        </p:nvGrpSpPr>
        <p:grpSpPr bwMode="auto">
          <a:xfrm>
            <a:off x="598607" y="1600200"/>
            <a:ext cx="7280155" cy="4160838"/>
            <a:chOff x="993" y="1344"/>
            <a:chExt cx="4166" cy="2381"/>
          </a:xfrm>
        </p:grpSpPr>
        <p:sp>
          <p:nvSpPr>
            <p:cNvPr id="3" name="AutoShape 3"/>
            <p:cNvSpPr>
              <a:spLocks noChangeAspect="1" noChangeArrowheads="1" noTextEdit="1"/>
            </p:cNvSpPr>
            <p:nvPr/>
          </p:nvSpPr>
          <p:spPr bwMode="auto">
            <a:xfrm>
              <a:off x="993" y="1344"/>
              <a:ext cx="4166" cy="238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2053"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3" y="1344"/>
              <a:ext cx="4171" cy="23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7" name="Line Callout 2 6"/>
          <p:cNvSpPr/>
          <p:nvPr/>
        </p:nvSpPr>
        <p:spPr>
          <a:xfrm>
            <a:off x="990600" y="5562600"/>
            <a:ext cx="2667000" cy="762000"/>
          </a:xfrm>
          <a:prstGeom prst="borderCallout2">
            <a:avLst>
              <a:gd name="adj1" fmla="val 54306"/>
              <a:gd name="adj2" fmla="val 133"/>
              <a:gd name="adj3" fmla="val -31620"/>
              <a:gd name="adj4" fmla="val -25979"/>
              <a:gd name="adj5" fmla="val -148241"/>
              <a:gd name="adj6" fmla="val 17672"/>
            </a:avLst>
          </a:prstGeom>
          <a:ln>
            <a:tailEnd type="triangle"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Conjunction means AND</a:t>
            </a:r>
            <a:endParaRPr lang="en-MY" dirty="0"/>
          </a:p>
        </p:txBody>
      </p:sp>
    </p:spTree>
    <p:extLst>
      <p:ext uri="{BB962C8B-B14F-4D97-AF65-F5344CB8AC3E}">
        <p14:creationId xmlns:p14="http://schemas.microsoft.com/office/powerpoint/2010/main" xmlns="" val="277186745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p:txBody>
          <a:bodyPr/>
          <a:lstStyle/>
          <a:p>
            <a:pPr eaLnBrk="1" hangingPunct="1"/>
            <a:r>
              <a:rPr lang="en-US" altLang="en-US" b="1"/>
              <a:t>Example</a:t>
            </a:r>
            <a:endParaRPr lang="en-US" altLang="en-US"/>
          </a:p>
        </p:txBody>
      </p:sp>
      <p:sp>
        <p:nvSpPr>
          <p:cNvPr id="10243" name="Rectangle 3"/>
          <p:cNvSpPr>
            <a:spLocks noGrp="1"/>
          </p:cNvSpPr>
          <p:nvPr>
            <p:ph type="body" sz="half" idx="1"/>
          </p:nvPr>
        </p:nvSpPr>
        <p:spPr>
          <a:xfrm>
            <a:off x="457200" y="1905000"/>
            <a:ext cx="8229600" cy="4572000"/>
          </a:xfrm>
        </p:spPr>
        <p:txBody>
          <a:bodyPr/>
          <a:lstStyle/>
          <a:p>
            <a:pPr eaLnBrk="1" hangingPunct="1"/>
            <a:endParaRPr lang="en-US" altLang="en-US" sz="2400"/>
          </a:p>
          <a:p>
            <a:pPr eaLnBrk="1" hangingPunct="1"/>
            <a:endParaRPr lang="en-US" altLang="en-US" sz="2400"/>
          </a:p>
        </p:txBody>
      </p:sp>
      <p:pic>
        <p:nvPicPr>
          <p:cNvPr id="10244" name="Picture 7"/>
          <p:cNvPicPr>
            <a:picLocks noGrp="1" noChangeAspect="1" noChangeArrowheads="1"/>
          </p:cNvPicPr>
          <p:nvPr>
            <p:ph sz="half" idx="2"/>
          </p:nvPr>
        </p:nvPicPr>
        <p:blipFill>
          <a:blip r:embed="rId2" cstate="print">
            <a:extLst>
              <a:ext uri="{28A0092B-C50C-407E-A947-70E740481C1C}">
                <a14:useLocalDpi xmlns:a14="http://schemas.microsoft.com/office/drawing/2010/main" xmlns="" val="0"/>
              </a:ext>
            </a:extLst>
          </a:blip>
          <a:srcRect/>
          <a:stretch>
            <a:fillRect/>
          </a:stretch>
        </p:blipFill>
        <p:spPr>
          <a:xfrm>
            <a:off x="1483972" y="2405516"/>
            <a:ext cx="6633255" cy="1789113"/>
          </a:xfrm>
        </p:spPr>
      </p:pic>
    </p:spTree>
    <p:extLst>
      <p:ext uri="{BB962C8B-B14F-4D97-AF65-F5344CB8AC3E}">
        <p14:creationId xmlns:p14="http://schemas.microsoft.com/office/powerpoint/2010/main" xmlns="" val="86647842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p:txBody>
          <a:bodyPr/>
          <a:lstStyle/>
          <a:p>
            <a:pPr eaLnBrk="1" hangingPunct="1"/>
            <a:r>
              <a:rPr lang="en-US" altLang="en-US" b="1"/>
              <a:t>Example</a:t>
            </a:r>
            <a:endParaRPr lang="en-US" altLang="en-US"/>
          </a:p>
        </p:txBody>
      </p:sp>
      <p:sp>
        <p:nvSpPr>
          <p:cNvPr id="11267" name="Rectangle 3"/>
          <p:cNvSpPr>
            <a:spLocks noGrp="1"/>
          </p:cNvSpPr>
          <p:nvPr>
            <p:ph type="body" sz="half" idx="1"/>
          </p:nvPr>
        </p:nvSpPr>
        <p:spPr>
          <a:xfrm>
            <a:off x="914400" y="1600200"/>
            <a:ext cx="3813175" cy="4530725"/>
          </a:xfrm>
        </p:spPr>
        <p:txBody>
          <a:bodyPr/>
          <a:lstStyle/>
          <a:p>
            <a:pPr eaLnBrk="1" hangingPunct="1"/>
            <a:endParaRPr lang="en-US" altLang="en-US" sz="2400"/>
          </a:p>
          <a:p>
            <a:pPr eaLnBrk="1" hangingPunct="1"/>
            <a:endParaRPr lang="en-US" altLang="en-US" sz="2400"/>
          </a:p>
        </p:txBody>
      </p:sp>
      <p:sp>
        <p:nvSpPr>
          <p:cNvPr id="11269" name="Oval 16"/>
          <p:cNvSpPr>
            <a:spLocks noChangeArrowheads="1"/>
          </p:cNvSpPr>
          <p:nvPr/>
        </p:nvSpPr>
        <p:spPr bwMode="auto">
          <a:xfrm>
            <a:off x="1403350" y="3105150"/>
            <a:ext cx="2089150" cy="503238"/>
          </a:xfrm>
          <a:prstGeom prst="ellipse">
            <a:avLst/>
          </a:prstGeom>
          <a:noFill/>
          <a:ln w="12700" cap="sq">
            <a:solidFill>
              <a:schemeClr val="accent2"/>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2" name="Group 4"/>
          <p:cNvGrpSpPr>
            <a:grpSpLocks noChangeAspect="1"/>
          </p:cNvGrpSpPr>
          <p:nvPr/>
        </p:nvGrpSpPr>
        <p:grpSpPr bwMode="auto">
          <a:xfrm>
            <a:off x="410899" y="2047875"/>
            <a:ext cx="8633351" cy="3121025"/>
            <a:chOff x="528" y="1296"/>
            <a:chExt cx="5040" cy="1822"/>
          </a:xfrm>
        </p:grpSpPr>
        <p:sp>
          <p:nvSpPr>
            <p:cNvPr id="3" name="AutoShape 3"/>
            <p:cNvSpPr>
              <a:spLocks noChangeAspect="1" noChangeArrowheads="1" noTextEdit="1"/>
            </p:cNvSpPr>
            <p:nvPr/>
          </p:nvSpPr>
          <p:spPr bwMode="auto">
            <a:xfrm>
              <a:off x="528" y="1296"/>
              <a:ext cx="5040" cy="182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3077"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28" y="1296"/>
              <a:ext cx="5046" cy="18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351464660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p:txBody>
          <a:bodyPr/>
          <a:lstStyle/>
          <a:p>
            <a:pPr eaLnBrk="1" hangingPunct="1"/>
            <a:r>
              <a:rPr lang="en-US" altLang="en-US" b="1"/>
              <a:t>Existential Quantification</a:t>
            </a:r>
            <a:endParaRPr lang="en-US" altLang="en-US"/>
          </a:p>
        </p:txBody>
      </p:sp>
      <p:grpSp>
        <p:nvGrpSpPr>
          <p:cNvPr id="2" name="Group 4"/>
          <p:cNvGrpSpPr>
            <a:grpSpLocks noChangeAspect="1"/>
          </p:cNvGrpSpPr>
          <p:nvPr/>
        </p:nvGrpSpPr>
        <p:grpSpPr bwMode="auto">
          <a:xfrm>
            <a:off x="1371600" y="1676400"/>
            <a:ext cx="7426034" cy="3979863"/>
            <a:chOff x="765" y="1300"/>
            <a:chExt cx="4230" cy="2267"/>
          </a:xfrm>
        </p:grpSpPr>
        <p:sp>
          <p:nvSpPr>
            <p:cNvPr id="3" name="AutoShape 3"/>
            <p:cNvSpPr>
              <a:spLocks noChangeAspect="1" noChangeArrowheads="1" noTextEdit="1"/>
            </p:cNvSpPr>
            <p:nvPr/>
          </p:nvSpPr>
          <p:spPr bwMode="auto">
            <a:xfrm>
              <a:off x="765" y="1300"/>
              <a:ext cx="4230" cy="226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4101"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65" y="1300"/>
              <a:ext cx="4235" cy="22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7" name="Line Callout 2 6"/>
          <p:cNvSpPr/>
          <p:nvPr/>
        </p:nvSpPr>
        <p:spPr>
          <a:xfrm>
            <a:off x="1066800" y="5715000"/>
            <a:ext cx="2819400" cy="685800"/>
          </a:xfrm>
          <a:prstGeom prst="borderCallout2">
            <a:avLst>
              <a:gd name="adj1" fmla="val 53318"/>
              <a:gd name="adj2" fmla="val -325"/>
              <a:gd name="adj3" fmla="val -56970"/>
              <a:gd name="adj4" fmla="val -21071"/>
              <a:gd name="adj5" fmla="val -177212"/>
              <a:gd name="adj6" fmla="val 28208"/>
            </a:avLst>
          </a:prstGeom>
          <a:ln>
            <a:tailEnd type="triangle"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Disjunction means OR</a:t>
            </a:r>
            <a:endParaRPr lang="en-MY" dirty="0"/>
          </a:p>
        </p:txBody>
      </p:sp>
    </p:spTree>
    <p:extLst>
      <p:ext uri="{BB962C8B-B14F-4D97-AF65-F5344CB8AC3E}">
        <p14:creationId xmlns:p14="http://schemas.microsoft.com/office/powerpoint/2010/main" xmlns="" val="329289526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p:txBody>
          <a:bodyPr/>
          <a:lstStyle/>
          <a:p>
            <a:pPr eaLnBrk="1" hangingPunct="1"/>
            <a:r>
              <a:rPr lang="en-US" altLang="en-US" b="1"/>
              <a:t>Example</a:t>
            </a:r>
            <a:endParaRPr lang="en-US" altLang="en-US"/>
          </a:p>
        </p:txBody>
      </p:sp>
      <p:grpSp>
        <p:nvGrpSpPr>
          <p:cNvPr id="2" name="Group 4"/>
          <p:cNvGrpSpPr>
            <a:grpSpLocks noChangeAspect="1"/>
          </p:cNvGrpSpPr>
          <p:nvPr/>
        </p:nvGrpSpPr>
        <p:grpSpPr bwMode="auto">
          <a:xfrm>
            <a:off x="609600" y="2743200"/>
            <a:ext cx="8172200" cy="1939925"/>
            <a:chOff x="1513" y="2109"/>
            <a:chExt cx="2734" cy="649"/>
          </a:xfrm>
        </p:grpSpPr>
        <p:sp>
          <p:nvSpPr>
            <p:cNvPr id="3" name="AutoShape 3"/>
            <p:cNvSpPr>
              <a:spLocks noChangeAspect="1" noChangeArrowheads="1" noTextEdit="1"/>
            </p:cNvSpPr>
            <p:nvPr/>
          </p:nvSpPr>
          <p:spPr bwMode="auto">
            <a:xfrm>
              <a:off x="1513" y="2109"/>
              <a:ext cx="2734" cy="6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5125"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513" y="2109"/>
              <a:ext cx="2739" cy="6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170564233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p:txBody>
          <a:bodyPr/>
          <a:lstStyle/>
          <a:p>
            <a:pPr eaLnBrk="1" hangingPunct="1"/>
            <a:r>
              <a:rPr lang="en-US" altLang="en-US" b="1"/>
              <a:t>Example</a:t>
            </a:r>
          </a:p>
        </p:txBody>
      </p:sp>
      <p:grpSp>
        <p:nvGrpSpPr>
          <p:cNvPr id="2" name="Group 4"/>
          <p:cNvGrpSpPr>
            <a:grpSpLocks noChangeAspect="1"/>
          </p:cNvGrpSpPr>
          <p:nvPr/>
        </p:nvGrpSpPr>
        <p:grpSpPr bwMode="auto">
          <a:xfrm>
            <a:off x="237373" y="2362200"/>
            <a:ext cx="8669254" cy="2655888"/>
            <a:chOff x="662" y="1754"/>
            <a:chExt cx="4436" cy="1359"/>
          </a:xfrm>
        </p:grpSpPr>
        <p:sp>
          <p:nvSpPr>
            <p:cNvPr id="3" name="AutoShape 3"/>
            <p:cNvSpPr>
              <a:spLocks noChangeAspect="1" noChangeArrowheads="1" noTextEdit="1"/>
            </p:cNvSpPr>
            <p:nvPr/>
          </p:nvSpPr>
          <p:spPr bwMode="auto">
            <a:xfrm>
              <a:off x="662" y="1754"/>
              <a:ext cx="4436" cy="13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6149"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62" y="1754"/>
              <a:ext cx="4441" cy="13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253676907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p:txBody>
          <a:bodyPr/>
          <a:lstStyle/>
          <a:p>
            <a:pPr eaLnBrk="1" hangingPunct="1"/>
            <a:r>
              <a:rPr lang="en-US" altLang="en-US" b="1"/>
              <a:t>Properties of Quantifiers</a:t>
            </a:r>
            <a:endParaRPr lang="en-US" altLang="en-US"/>
          </a:p>
        </p:txBody>
      </p:sp>
      <p:sp>
        <p:nvSpPr>
          <p:cNvPr id="15364" name="Text Box 28"/>
          <p:cNvSpPr txBox="1">
            <a:spLocks noChangeArrowheads="1"/>
          </p:cNvSpPr>
          <p:nvPr/>
        </p:nvSpPr>
        <p:spPr bwMode="auto">
          <a:xfrm>
            <a:off x="4648200" y="3785620"/>
            <a:ext cx="18288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dirty="0">
                <a:latin typeface="Verdana" panose="020B0604030504040204" pitchFamily="34" charset="0"/>
              </a:rPr>
              <a:t>????</a:t>
            </a:r>
          </a:p>
        </p:txBody>
      </p:sp>
      <p:grpSp>
        <p:nvGrpSpPr>
          <p:cNvPr id="2" name="Group 4"/>
          <p:cNvGrpSpPr>
            <a:grpSpLocks noChangeAspect="1"/>
          </p:cNvGrpSpPr>
          <p:nvPr/>
        </p:nvGrpSpPr>
        <p:grpSpPr bwMode="auto">
          <a:xfrm>
            <a:off x="1370507" y="2057400"/>
            <a:ext cx="6402986" cy="3427413"/>
            <a:chOff x="1222" y="1546"/>
            <a:chExt cx="3316" cy="1775"/>
          </a:xfrm>
        </p:grpSpPr>
        <p:sp>
          <p:nvSpPr>
            <p:cNvPr id="3" name="AutoShape 3"/>
            <p:cNvSpPr>
              <a:spLocks noChangeAspect="1" noChangeArrowheads="1" noTextEdit="1"/>
            </p:cNvSpPr>
            <p:nvPr/>
          </p:nvSpPr>
          <p:spPr bwMode="auto">
            <a:xfrm>
              <a:off x="1222" y="1546"/>
              <a:ext cx="3316" cy="1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7173"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22" y="1546"/>
              <a:ext cx="3321" cy="17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227520186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p:cNvSpPr>
          <p:nvPr>
            <p:ph type="title"/>
          </p:nvPr>
        </p:nvSpPr>
        <p:spPr/>
        <p:txBody>
          <a:bodyPr/>
          <a:lstStyle/>
          <a:p>
            <a:pPr eaLnBrk="1" hangingPunct="1"/>
            <a:r>
              <a:rPr lang="en-US" altLang="en-US" b="1"/>
              <a:t>Properties of Quantifiers</a:t>
            </a:r>
          </a:p>
        </p:txBody>
      </p:sp>
      <p:grpSp>
        <p:nvGrpSpPr>
          <p:cNvPr id="2" name="Group 4"/>
          <p:cNvGrpSpPr>
            <a:grpSpLocks noChangeAspect="1"/>
          </p:cNvGrpSpPr>
          <p:nvPr/>
        </p:nvGrpSpPr>
        <p:grpSpPr bwMode="auto">
          <a:xfrm>
            <a:off x="816538" y="2133600"/>
            <a:ext cx="7510924" cy="3713163"/>
            <a:chOff x="838" y="1424"/>
            <a:chExt cx="4084" cy="2019"/>
          </a:xfrm>
        </p:grpSpPr>
        <p:sp>
          <p:nvSpPr>
            <p:cNvPr id="3" name="AutoShape 3"/>
            <p:cNvSpPr>
              <a:spLocks noChangeAspect="1" noChangeArrowheads="1" noTextEdit="1"/>
            </p:cNvSpPr>
            <p:nvPr/>
          </p:nvSpPr>
          <p:spPr bwMode="auto">
            <a:xfrm>
              <a:off x="838" y="1424"/>
              <a:ext cx="4084" cy="20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8197"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38" y="1424"/>
              <a:ext cx="4089" cy="2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184229659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p:txBody>
          <a:bodyPr/>
          <a:lstStyle/>
          <a:p>
            <a:pPr eaLnBrk="1" hangingPunct="1"/>
            <a:r>
              <a:rPr lang="en-US" altLang="en-US" b="1"/>
              <a:t>Quantifier Duality</a:t>
            </a:r>
            <a:endParaRPr lang="en-US" altLang="en-US"/>
          </a:p>
        </p:txBody>
      </p:sp>
      <p:sp>
        <p:nvSpPr>
          <p:cNvPr id="17411" name="Rectangle 3"/>
          <p:cNvSpPr>
            <a:spLocks noGrp="1"/>
          </p:cNvSpPr>
          <p:nvPr>
            <p:ph type="body" sz="half" idx="1"/>
          </p:nvPr>
        </p:nvSpPr>
        <p:spPr>
          <a:xfrm>
            <a:off x="914400" y="1600200"/>
            <a:ext cx="3813175" cy="4530725"/>
          </a:xfrm>
        </p:spPr>
        <p:txBody>
          <a:bodyPr/>
          <a:lstStyle/>
          <a:p>
            <a:pPr eaLnBrk="1" hangingPunct="1">
              <a:buFont typeface="Wingdings" panose="05000000000000000000" pitchFamily="2" charset="2"/>
              <a:buNone/>
            </a:pPr>
            <a:r>
              <a:rPr lang="en-US" altLang="en-US" sz="2400"/>
              <a:t>	</a:t>
            </a:r>
          </a:p>
        </p:txBody>
      </p:sp>
      <p:sp>
        <p:nvSpPr>
          <p:cNvPr id="5" name="Rounded Rectangle 4"/>
          <p:cNvSpPr/>
          <p:nvPr/>
        </p:nvSpPr>
        <p:spPr>
          <a:xfrm>
            <a:off x="880269" y="4387849"/>
            <a:ext cx="7993062" cy="17287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2000" dirty="0"/>
              <a:t>Everyone likes ice cream == Not someone not liking ice cream </a:t>
            </a:r>
          </a:p>
          <a:p>
            <a:pPr algn="ctr" eaLnBrk="1" hangingPunct="1">
              <a:defRPr/>
            </a:pPr>
            <a:r>
              <a:rPr lang="en-US" sz="2000" dirty="0"/>
              <a:t>(nobody do not like ice cream)</a:t>
            </a:r>
          </a:p>
          <a:p>
            <a:pPr algn="ctr" eaLnBrk="1" hangingPunct="1">
              <a:defRPr/>
            </a:pPr>
            <a:endParaRPr lang="en-US" sz="2000" dirty="0"/>
          </a:p>
          <a:p>
            <a:pPr algn="ctr" eaLnBrk="1" hangingPunct="1">
              <a:defRPr/>
            </a:pPr>
            <a:r>
              <a:rPr lang="en-US" sz="2000" dirty="0"/>
              <a:t>Someone like broccoli == Not everyone not liking broccoli</a:t>
            </a:r>
          </a:p>
        </p:txBody>
      </p:sp>
      <p:grpSp>
        <p:nvGrpSpPr>
          <p:cNvPr id="2" name="Group 4"/>
          <p:cNvGrpSpPr>
            <a:grpSpLocks noChangeAspect="1"/>
          </p:cNvGrpSpPr>
          <p:nvPr/>
        </p:nvGrpSpPr>
        <p:grpSpPr bwMode="auto">
          <a:xfrm>
            <a:off x="914400" y="1752600"/>
            <a:ext cx="7924800" cy="2667000"/>
            <a:chOff x="576" y="1104"/>
            <a:chExt cx="4992" cy="1680"/>
          </a:xfrm>
        </p:grpSpPr>
        <p:sp>
          <p:nvSpPr>
            <p:cNvPr id="3" name="AutoShape 3"/>
            <p:cNvSpPr>
              <a:spLocks noChangeAspect="1" noChangeArrowheads="1" noTextEdit="1"/>
            </p:cNvSpPr>
            <p:nvPr/>
          </p:nvSpPr>
          <p:spPr bwMode="auto">
            <a:xfrm>
              <a:off x="576" y="1104"/>
              <a:ext cx="4992" cy="16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9221"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76" y="1104"/>
              <a:ext cx="4998" cy="16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335952416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altLang="en-US" sz="3600"/>
              <a:t>How to read quantified formulas</a:t>
            </a:r>
            <a:endParaRPr lang="en-MY" altLang="en-US" sz="3600"/>
          </a:p>
        </p:txBody>
      </p:sp>
      <p:sp>
        <p:nvSpPr>
          <p:cNvPr id="3" name="Text Placeholder 2"/>
          <p:cNvSpPr>
            <a:spLocks noGrp="1"/>
          </p:cNvSpPr>
          <p:nvPr>
            <p:ph type="body" sz="half" idx="1"/>
          </p:nvPr>
        </p:nvSpPr>
        <p:spPr>
          <a:xfrm>
            <a:off x="914400" y="1600200"/>
            <a:ext cx="7797800" cy="4530725"/>
          </a:xfrm>
        </p:spPr>
        <p:txBody>
          <a:bodyPr rtlCol="0">
            <a:normAutofit lnSpcReduction="10000"/>
          </a:bodyPr>
          <a:lstStyle/>
          <a:p>
            <a:pPr eaLnBrk="1" fontAlgn="auto" hangingPunct="1">
              <a:spcAft>
                <a:spcPts val="0"/>
              </a:spcAft>
              <a:defRPr/>
            </a:pPr>
            <a:r>
              <a:rPr lang="en-MY" sz="1600" dirty="0"/>
              <a:t>When reading quantified formulas in English, </a:t>
            </a:r>
            <a:r>
              <a:rPr lang="en-MY" sz="1600" b="1" dirty="0">
                <a:solidFill>
                  <a:srgbClr val="FF0000"/>
                </a:solidFill>
              </a:rPr>
              <a:t>read them from left to right</a:t>
            </a:r>
            <a:r>
              <a:rPr lang="en-MY" sz="1600" b="1" dirty="0"/>
              <a:t>.</a:t>
            </a:r>
            <a:r>
              <a:rPr lang="en-MY" sz="1600" dirty="0"/>
              <a:t> </a:t>
            </a:r>
            <a:r>
              <a:rPr lang="en-US" altLang="en-US" sz="1600" dirty="0">
                <a:latin typeface="Arial" panose="020B0604020202020204" pitchFamily="34" charset="0"/>
                <a:sym typeface="Symbol" panose="05050102010706020507" pitchFamily="18" charset="2"/>
              </a:rPr>
              <a:t></a:t>
            </a:r>
            <a:r>
              <a:rPr lang="en-MY" sz="1600" b="1" i="1" dirty="0"/>
              <a:t>x</a:t>
            </a:r>
            <a:r>
              <a:rPr lang="en-MY" sz="1600" dirty="0"/>
              <a:t> can be read as "for every object </a:t>
            </a:r>
            <a:r>
              <a:rPr lang="en-MY" sz="1600" b="1" i="1" dirty="0"/>
              <a:t>x</a:t>
            </a:r>
            <a:r>
              <a:rPr lang="en-MY" sz="1600" dirty="0"/>
              <a:t> in the universe the following holds" and </a:t>
            </a:r>
            <a:r>
              <a:rPr lang="en-US" altLang="en-US" sz="1600" dirty="0">
                <a:latin typeface="Arial" panose="020B0604020202020204" pitchFamily="34" charset="0"/>
                <a:sym typeface="Symbol" panose="05050102010706020507" pitchFamily="18" charset="2"/>
              </a:rPr>
              <a:t></a:t>
            </a:r>
            <a:r>
              <a:rPr lang="en-MY" sz="1600" b="1" i="1" dirty="0"/>
              <a:t>x</a:t>
            </a:r>
            <a:r>
              <a:rPr lang="en-MY" sz="1600" dirty="0"/>
              <a:t> can be read as "there exists an object </a:t>
            </a:r>
            <a:r>
              <a:rPr lang="en-MY" sz="1600" b="1" i="1" dirty="0"/>
              <a:t>x</a:t>
            </a:r>
            <a:r>
              <a:rPr lang="en-MY" sz="1600" dirty="0"/>
              <a:t> in the universe which satisfies the following" or "for some object </a:t>
            </a:r>
            <a:r>
              <a:rPr lang="en-MY" sz="1600" b="1" i="1" dirty="0"/>
              <a:t>x </a:t>
            </a:r>
            <a:r>
              <a:rPr lang="en-MY" sz="1600" dirty="0"/>
              <a:t>in the universe the following holds". </a:t>
            </a:r>
          </a:p>
          <a:p>
            <a:pPr eaLnBrk="1" fontAlgn="auto" hangingPunct="1">
              <a:spcAft>
                <a:spcPts val="0"/>
              </a:spcAft>
              <a:defRPr/>
            </a:pPr>
            <a:r>
              <a:rPr lang="en-MY" sz="1600" dirty="0"/>
              <a:t>For example, let the universe be the set of airplanes and let </a:t>
            </a:r>
            <a:r>
              <a:rPr lang="en-MY" sz="1600" b="1" i="1" dirty="0"/>
              <a:t>F</a:t>
            </a:r>
            <a:r>
              <a:rPr lang="en-MY" sz="1600" b="1" dirty="0"/>
              <a:t>(</a:t>
            </a:r>
            <a:r>
              <a:rPr lang="en-MY" sz="1600" b="1" i="1" dirty="0"/>
              <a:t>x, y</a:t>
            </a:r>
            <a:r>
              <a:rPr lang="en-MY" sz="1600" b="1" dirty="0"/>
              <a:t>)</a:t>
            </a:r>
            <a:r>
              <a:rPr lang="en-MY" sz="1600" dirty="0"/>
              <a:t> denote "</a:t>
            </a:r>
            <a:r>
              <a:rPr lang="en-MY" sz="1600" b="1" i="1" dirty="0"/>
              <a:t>x</a:t>
            </a:r>
            <a:r>
              <a:rPr lang="en-MY" sz="1600" dirty="0"/>
              <a:t> flies faster than </a:t>
            </a:r>
            <a:r>
              <a:rPr lang="en-MY" sz="1600" b="1" i="1" dirty="0"/>
              <a:t>y</a:t>
            </a:r>
            <a:r>
              <a:rPr lang="en-MY" sz="1600" dirty="0"/>
              <a:t>". Then </a:t>
            </a:r>
          </a:p>
          <a:p>
            <a:pPr eaLnBrk="1" fontAlgn="auto" hangingPunct="1">
              <a:spcAft>
                <a:spcPts val="0"/>
              </a:spcAft>
              <a:defRPr/>
            </a:pPr>
            <a:r>
              <a:rPr lang="en-US" altLang="en-US" sz="1600" dirty="0">
                <a:latin typeface="Arial" panose="020B0604020202020204" pitchFamily="34" charset="0"/>
                <a:sym typeface="Symbol" panose="05050102010706020507" pitchFamily="18" charset="2"/>
              </a:rPr>
              <a:t></a:t>
            </a:r>
            <a:r>
              <a:rPr lang="en-MY" sz="1600" b="1" i="1" dirty="0"/>
              <a:t>x</a:t>
            </a:r>
            <a:r>
              <a:rPr lang="en-US" altLang="en-US" sz="1600" dirty="0">
                <a:latin typeface="Arial" panose="020B0604020202020204" pitchFamily="34" charset="0"/>
                <a:sym typeface="Symbol" panose="05050102010706020507" pitchFamily="18" charset="2"/>
              </a:rPr>
              <a:t> </a:t>
            </a:r>
            <a:r>
              <a:rPr lang="en-MY" sz="1600" b="1" i="1" dirty="0"/>
              <a:t>y</a:t>
            </a:r>
            <a:r>
              <a:rPr lang="en-MY" sz="1600" b="1" dirty="0"/>
              <a:t> </a:t>
            </a:r>
            <a:r>
              <a:rPr lang="en-MY" sz="1600" b="1" i="1" dirty="0"/>
              <a:t>F</a:t>
            </a:r>
            <a:r>
              <a:rPr lang="en-MY" sz="1600" b="1" dirty="0"/>
              <a:t>(</a:t>
            </a:r>
            <a:r>
              <a:rPr lang="en-MY" sz="1600" b="1" i="1" dirty="0"/>
              <a:t>x, y</a:t>
            </a:r>
            <a:r>
              <a:rPr lang="en-MY" sz="1600" b="1" dirty="0"/>
              <a:t>)</a:t>
            </a:r>
            <a:r>
              <a:rPr lang="en-MY" sz="1600" dirty="0"/>
              <a:t> can be translated initially as "For every airplane </a:t>
            </a:r>
            <a:r>
              <a:rPr lang="en-MY" sz="1600" b="1" i="1" dirty="0"/>
              <a:t>x</a:t>
            </a:r>
            <a:r>
              <a:rPr lang="en-MY" sz="1600" dirty="0"/>
              <a:t> the following holds: </a:t>
            </a:r>
            <a:r>
              <a:rPr lang="en-MY" sz="1600" b="1" i="1" dirty="0"/>
              <a:t>x</a:t>
            </a:r>
            <a:r>
              <a:rPr lang="en-MY" sz="1600" dirty="0"/>
              <a:t> is faster than every (any) airplane </a:t>
            </a:r>
            <a:r>
              <a:rPr lang="en-MY" sz="1600" b="1" i="1" dirty="0"/>
              <a:t>y</a:t>
            </a:r>
            <a:r>
              <a:rPr lang="en-MY" sz="1600" dirty="0"/>
              <a:t>". In simpler English it means "Every airplane is faster than every airplane (including itself !)". </a:t>
            </a:r>
          </a:p>
          <a:p>
            <a:pPr eaLnBrk="1" fontAlgn="auto" hangingPunct="1">
              <a:spcAft>
                <a:spcPts val="0"/>
              </a:spcAft>
              <a:defRPr/>
            </a:pPr>
            <a:r>
              <a:rPr lang="en-US" altLang="en-US" sz="1600" dirty="0">
                <a:latin typeface="Arial" panose="020B0604020202020204" pitchFamily="34" charset="0"/>
                <a:sym typeface="Symbol" panose="05050102010706020507" pitchFamily="18" charset="2"/>
              </a:rPr>
              <a:t></a:t>
            </a:r>
            <a:r>
              <a:rPr lang="en-MY" sz="1600" b="1" i="1" dirty="0"/>
              <a:t>x</a:t>
            </a:r>
            <a:r>
              <a:rPr lang="en-MY" sz="1600" dirty="0"/>
              <a:t> </a:t>
            </a:r>
            <a:r>
              <a:rPr lang="en-US" altLang="en-US" sz="1600" dirty="0">
                <a:latin typeface="Arial" panose="020B0604020202020204" pitchFamily="34" charset="0"/>
                <a:sym typeface="Symbol" panose="05050102010706020507" pitchFamily="18" charset="2"/>
              </a:rPr>
              <a:t></a:t>
            </a:r>
            <a:r>
              <a:rPr lang="en-MY" sz="1600" b="1" i="1" dirty="0"/>
              <a:t>y</a:t>
            </a:r>
            <a:r>
              <a:rPr lang="en-MY" sz="1600" b="1" dirty="0"/>
              <a:t> </a:t>
            </a:r>
            <a:r>
              <a:rPr lang="en-MY" sz="1600" b="1" i="1" dirty="0"/>
              <a:t>F</a:t>
            </a:r>
            <a:r>
              <a:rPr lang="en-MY" sz="1600" b="1" dirty="0"/>
              <a:t>(</a:t>
            </a:r>
            <a:r>
              <a:rPr lang="en-MY" sz="1600" b="1" i="1" dirty="0"/>
              <a:t>x, y</a:t>
            </a:r>
            <a:r>
              <a:rPr lang="en-MY" sz="1600" b="1" dirty="0"/>
              <a:t>)</a:t>
            </a:r>
            <a:r>
              <a:rPr lang="en-MY" sz="1600" dirty="0"/>
              <a:t> can be read initially as "For every airplane </a:t>
            </a:r>
            <a:r>
              <a:rPr lang="en-MY" sz="1600" b="1" i="1" dirty="0"/>
              <a:t>x</a:t>
            </a:r>
            <a:r>
              <a:rPr lang="en-MY" sz="1600" dirty="0"/>
              <a:t> the following holds: for some airplane </a:t>
            </a:r>
            <a:r>
              <a:rPr lang="en-MY" sz="1600" b="1" i="1" dirty="0"/>
              <a:t>y</a:t>
            </a:r>
            <a:r>
              <a:rPr lang="en-MY" sz="1600" dirty="0"/>
              <a:t>, </a:t>
            </a:r>
            <a:r>
              <a:rPr lang="en-MY" sz="1600" b="1" i="1" dirty="0"/>
              <a:t>x</a:t>
            </a:r>
            <a:r>
              <a:rPr lang="en-MY" sz="1600" dirty="0"/>
              <a:t> is faster than </a:t>
            </a:r>
            <a:r>
              <a:rPr lang="en-MY" sz="1600" b="1" i="1" dirty="0"/>
              <a:t>y</a:t>
            </a:r>
            <a:r>
              <a:rPr lang="en-MY" sz="1600" dirty="0"/>
              <a:t>". In simpler English it means "Every airplane is faster than some airplane". </a:t>
            </a:r>
          </a:p>
          <a:p>
            <a:pPr eaLnBrk="1" fontAlgn="auto" hangingPunct="1">
              <a:spcAft>
                <a:spcPts val="0"/>
              </a:spcAft>
              <a:defRPr/>
            </a:pPr>
            <a:r>
              <a:rPr lang="en-US" altLang="en-US" sz="1600" dirty="0">
                <a:latin typeface="Arial" panose="020B0604020202020204" pitchFamily="34" charset="0"/>
                <a:sym typeface="Symbol" panose="05050102010706020507" pitchFamily="18" charset="2"/>
              </a:rPr>
              <a:t></a:t>
            </a:r>
            <a:r>
              <a:rPr lang="en-MY" sz="1600" b="1" i="1" dirty="0"/>
              <a:t>x</a:t>
            </a:r>
            <a:r>
              <a:rPr lang="en-US" altLang="en-US" sz="1600" dirty="0">
                <a:latin typeface="Arial" panose="020B0604020202020204" pitchFamily="34" charset="0"/>
                <a:sym typeface="Symbol" panose="05050102010706020507" pitchFamily="18" charset="2"/>
              </a:rPr>
              <a:t> </a:t>
            </a:r>
            <a:r>
              <a:rPr lang="en-MY" sz="1600" b="1" i="1" dirty="0"/>
              <a:t>y</a:t>
            </a:r>
            <a:r>
              <a:rPr lang="en-MY" sz="1600" b="1" dirty="0"/>
              <a:t> </a:t>
            </a:r>
            <a:r>
              <a:rPr lang="en-MY" sz="1600" b="1" i="1" dirty="0"/>
              <a:t>F</a:t>
            </a:r>
            <a:r>
              <a:rPr lang="en-MY" sz="1600" b="1" dirty="0"/>
              <a:t>(</a:t>
            </a:r>
            <a:r>
              <a:rPr lang="en-MY" sz="1600" b="1" i="1" dirty="0"/>
              <a:t>x, y</a:t>
            </a:r>
            <a:r>
              <a:rPr lang="en-MY" sz="1600" b="1" dirty="0"/>
              <a:t>)</a:t>
            </a:r>
            <a:r>
              <a:rPr lang="en-MY" sz="1600" dirty="0"/>
              <a:t> represents "There exist an airplane </a:t>
            </a:r>
            <a:r>
              <a:rPr lang="en-MY" sz="1600" b="1" i="1" dirty="0"/>
              <a:t>x</a:t>
            </a:r>
            <a:r>
              <a:rPr lang="en-MY" sz="1600" dirty="0"/>
              <a:t> which satisfies the following: (or such that) for every airplane </a:t>
            </a:r>
            <a:r>
              <a:rPr lang="en-MY" sz="1600" b="1" i="1" dirty="0"/>
              <a:t>y</a:t>
            </a:r>
            <a:r>
              <a:rPr lang="en-MY" sz="1600" dirty="0"/>
              <a:t>, </a:t>
            </a:r>
            <a:r>
              <a:rPr lang="en-MY" sz="1600" b="1" i="1" dirty="0"/>
              <a:t>x</a:t>
            </a:r>
            <a:r>
              <a:rPr lang="en-MY" sz="1600" dirty="0"/>
              <a:t> is faster than </a:t>
            </a:r>
            <a:r>
              <a:rPr lang="en-MY" sz="1600" b="1" i="1" dirty="0"/>
              <a:t>y</a:t>
            </a:r>
            <a:r>
              <a:rPr lang="en-MY" sz="1600" dirty="0"/>
              <a:t>". In simpler English it says "There is an airplane which is faster than every airplane" or "Some airplane is faster than every airplane". </a:t>
            </a:r>
          </a:p>
          <a:p>
            <a:pPr eaLnBrk="1" fontAlgn="auto" hangingPunct="1">
              <a:spcAft>
                <a:spcPts val="0"/>
              </a:spcAft>
              <a:defRPr/>
            </a:pPr>
            <a:r>
              <a:rPr lang="en-US" altLang="en-US" sz="1600" dirty="0">
                <a:latin typeface="Arial" panose="020B0604020202020204" pitchFamily="34" charset="0"/>
                <a:sym typeface="Symbol" panose="05050102010706020507" pitchFamily="18" charset="2"/>
              </a:rPr>
              <a:t></a:t>
            </a:r>
            <a:r>
              <a:rPr lang="en-MY" sz="1600" b="1" i="1" dirty="0"/>
              <a:t>x </a:t>
            </a:r>
            <a:r>
              <a:rPr lang="en-US" altLang="en-US" sz="1600" dirty="0">
                <a:latin typeface="Arial" panose="020B0604020202020204" pitchFamily="34" charset="0"/>
                <a:sym typeface="Symbol" panose="05050102010706020507" pitchFamily="18" charset="2"/>
              </a:rPr>
              <a:t></a:t>
            </a:r>
            <a:r>
              <a:rPr lang="en-MY" sz="1600" b="1" i="1" dirty="0"/>
              <a:t>y</a:t>
            </a:r>
            <a:r>
              <a:rPr lang="en-MY" sz="1600" b="1" dirty="0"/>
              <a:t> </a:t>
            </a:r>
            <a:r>
              <a:rPr lang="en-MY" sz="1600" b="1" i="1" dirty="0"/>
              <a:t>F</a:t>
            </a:r>
            <a:r>
              <a:rPr lang="en-MY" sz="1600" b="1" dirty="0"/>
              <a:t>(</a:t>
            </a:r>
            <a:r>
              <a:rPr lang="en-MY" sz="1600" b="1" i="1" dirty="0"/>
              <a:t>x, y</a:t>
            </a:r>
            <a:r>
              <a:rPr lang="en-MY" sz="1600" b="1" dirty="0"/>
              <a:t>)</a:t>
            </a:r>
            <a:r>
              <a:rPr lang="en-MY" sz="1600" dirty="0"/>
              <a:t> reads "For some airplane </a:t>
            </a:r>
            <a:r>
              <a:rPr lang="en-MY" sz="1600" b="1" i="1" dirty="0"/>
              <a:t>x</a:t>
            </a:r>
            <a:r>
              <a:rPr lang="en-MY" sz="1600" dirty="0"/>
              <a:t> there exists an airplane </a:t>
            </a:r>
            <a:r>
              <a:rPr lang="en-MY" sz="1600" b="1" i="1" dirty="0"/>
              <a:t>y</a:t>
            </a:r>
            <a:r>
              <a:rPr lang="en-MY" sz="1600" dirty="0"/>
              <a:t> such that </a:t>
            </a:r>
            <a:r>
              <a:rPr lang="en-MY" sz="1600" b="1" i="1" dirty="0"/>
              <a:t>x</a:t>
            </a:r>
            <a:r>
              <a:rPr lang="en-MY" sz="1600" dirty="0"/>
              <a:t> is faster than </a:t>
            </a:r>
            <a:r>
              <a:rPr lang="en-MY" sz="1600" b="1" i="1" dirty="0"/>
              <a:t>y</a:t>
            </a:r>
            <a:r>
              <a:rPr lang="en-MY" sz="1600" dirty="0"/>
              <a:t>", which means "Some airplane is faster than some airplane". </a:t>
            </a:r>
            <a:br>
              <a:rPr lang="en-MY" sz="1600" dirty="0"/>
            </a:br>
            <a:endParaRPr lang="en-MY" sz="1600" dirty="0"/>
          </a:p>
        </p:txBody>
      </p:sp>
    </p:spTree>
    <p:extLst>
      <p:ext uri="{BB962C8B-B14F-4D97-AF65-F5344CB8AC3E}">
        <p14:creationId xmlns:p14="http://schemas.microsoft.com/office/powerpoint/2010/main" xmlns="" val="371882371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p:txBody>
          <a:bodyPr/>
          <a:lstStyle/>
          <a:p>
            <a:pPr eaLnBrk="1" hangingPunct="1"/>
            <a:r>
              <a:rPr lang="en-US" altLang="en-US" b="1"/>
              <a:t>Fun with Sentences</a:t>
            </a:r>
            <a:endParaRPr lang="en-US" altLang="en-US"/>
          </a:p>
        </p:txBody>
      </p:sp>
      <p:pic>
        <p:nvPicPr>
          <p:cNvPr id="19459" name="Picture 20"/>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a:xfrm>
            <a:off x="1097756" y="1524000"/>
            <a:ext cx="6948487" cy="4728978"/>
          </a:xfrm>
          <a:noFill/>
        </p:spPr>
      </p:pic>
      <p:sp>
        <p:nvSpPr>
          <p:cNvPr id="4" name="Rectangle: Rounded Corners 3">
            <a:extLst>
              <a:ext uri="{FF2B5EF4-FFF2-40B4-BE49-F238E27FC236}">
                <a16:creationId xmlns:a16="http://schemas.microsoft.com/office/drawing/2014/main" xmlns="" id="{D7C3535E-B15B-46E8-9858-D4DFE4C9A3C5}"/>
              </a:ext>
            </a:extLst>
          </p:cNvPr>
          <p:cNvSpPr/>
          <p:nvPr/>
        </p:nvSpPr>
        <p:spPr>
          <a:xfrm>
            <a:off x="4253132" y="1143000"/>
            <a:ext cx="4648200" cy="9445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All x is the first cousin of (every cousin) y IFF a parent p with a child x whose a sibling </a:t>
            </a:r>
            <a:r>
              <a:rPr lang="en-US" dirty="0" err="1"/>
              <a:t>ps</a:t>
            </a:r>
            <a:r>
              <a:rPr lang="en-US" dirty="0"/>
              <a:t> has a child y </a:t>
            </a:r>
            <a:endParaRPr lang="en-MY" dirty="0"/>
          </a:p>
        </p:txBody>
      </p:sp>
    </p:spTree>
    <p:extLst>
      <p:ext uri="{BB962C8B-B14F-4D97-AF65-F5344CB8AC3E}">
        <p14:creationId xmlns:p14="http://schemas.microsoft.com/office/powerpoint/2010/main" xmlns="" val="115555042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5"/>
          <p:cNvSpPr>
            <a:spLocks noGrp="1"/>
          </p:cNvSpPr>
          <p:nvPr>
            <p:ph type="title"/>
          </p:nvPr>
        </p:nvSpPr>
        <p:spPr/>
        <p:txBody>
          <a:bodyPr/>
          <a:lstStyle/>
          <a:p>
            <a:pPr eaLnBrk="1" hangingPunct="1"/>
            <a:r>
              <a:rPr lang="en-US" altLang="en-US" b="1"/>
              <a:t>Proof methods</a:t>
            </a:r>
            <a:endParaRPr lang="en-US" altLang="en-US"/>
          </a:p>
        </p:txBody>
      </p:sp>
      <p:pic>
        <p:nvPicPr>
          <p:cNvPr id="20483" name="Picture 4"/>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a:xfrm>
            <a:off x="1116013" y="1579125"/>
            <a:ext cx="7342187" cy="4315264"/>
          </a:xfrm>
          <a:noFill/>
        </p:spPr>
      </p:pic>
    </p:spTree>
    <p:extLst>
      <p:ext uri="{BB962C8B-B14F-4D97-AF65-F5344CB8AC3E}">
        <p14:creationId xmlns:p14="http://schemas.microsoft.com/office/powerpoint/2010/main" xmlns="" val="15821494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914400" y="277813"/>
            <a:ext cx="7772400" cy="836612"/>
          </a:xfrm>
        </p:spPr>
        <p:txBody>
          <a:bodyPr/>
          <a:lstStyle/>
          <a:p>
            <a:pPr eaLnBrk="1" hangingPunct="1"/>
            <a:r>
              <a:rPr lang="en-US" altLang="en-US" b="1"/>
              <a:t>Proofs</a:t>
            </a:r>
          </a:p>
        </p:txBody>
      </p:sp>
      <p:sp>
        <p:nvSpPr>
          <p:cNvPr id="21508" name="Oval 9"/>
          <p:cNvSpPr>
            <a:spLocks noChangeArrowheads="1"/>
          </p:cNvSpPr>
          <p:nvPr/>
        </p:nvSpPr>
        <p:spPr bwMode="auto">
          <a:xfrm>
            <a:off x="1655763" y="3141663"/>
            <a:ext cx="2411412" cy="576262"/>
          </a:xfrm>
          <a:prstGeom prst="ellipse">
            <a:avLst/>
          </a:prstGeom>
          <a:noFill/>
          <a:ln w="19050" cap="sq">
            <a:solidFill>
              <a:srgbClr val="3366FF"/>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1509" name="Oval 12"/>
          <p:cNvSpPr>
            <a:spLocks noChangeArrowheads="1"/>
          </p:cNvSpPr>
          <p:nvPr/>
        </p:nvSpPr>
        <p:spPr bwMode="auto">
          <a:xfrm>
            <a:off x="1655763" y="4329113"/>
            <a:ext cx="2916237" cy="541337"/>
          </a:xfrm>
          <a:prstGeom prst="ellipse">
            <a:avLst/>
          </a:prstGeom>
          <a:noFill/>
          <a:ln w="19050" cap="sq">
            <a:solidFill>
              <a:srgbClr val="3366FF"/>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1510" name="Oval 13"/>
          <p:cNvSpPr>
            <a:spLocks noChangeArrowheads="1"/>
          </p:cNvSpPr>
          <p:nvPr/>
        </p:nvSpPr>
        <p:spPr bwMode="auto">
          <a:xfrm>
            <a:off x="1619250" y="1989138"/>
            <a:ext cx="2520950" cy="576262"/>
          </a:xfrm>
          <a:prstGeom prst="ellipse">
            <a:avLst/>
          </a:prstGeom>
          <a:noFill/>
          <a:ln w="19050" cap="sq">
            <a:solidFill>
              <a:srgbClr val="3366FF"/>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2" name="Group 4"/>
          <p:cNvGrpSpPr>
            <a:grpSpLocks noChangeAspect="1"/>
          </p:cNvGrpSpPr>
          <p:nvPr/>
        </p:nvGrpSpPr>
        <p:grpSpPr bwMode="auto">
          <a:xfrm>
            <a:off x="1028700" y="1524000"/>
            <a:ext cx="7543800" cy="4802898"/>
            <a:chOff x="785" y="916"/>
            <a:chExt cx="4478" cy="2851"/>
          </a:xfrm>
        </p:grpSpPr>
        <p:sp>
          <p:nvSpPr>
            <p:cNvPr id="3" name="AutoShape 3"/>
            <p:cNvSpPr>
              <a:spLocks noChangeAspect="1" noChangeArrowheads="1" noTextEdit="1"/>
            </p:cNvSpPr>
            <p:nvPr/>
          </p:nvSpPr>
          <p:spPr bwMode="auto">
            <a:xfrm>
              <a:off x="785" y="916"/>
              <a:ext cx="4478" cy="28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45" name="Picture 5"/>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85" y="916"/>
              <a:ext cx="4483" cy="28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20196103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p:txBody>
          <a:bodyPr/>
          <a:lstStyle/>
          <a:p>
            <a:pPr eaLnBrk="1" hangingPunct="1"/>
            <a:r>
              <a:rPr lang="en-US" altLang="en-US" b="1"/>
              <a:t>Example Proof</a:t>
            </a:r>
          </a:p>
        </p:txBody>
      </p:sp>
      <p:pic>
        <p:nvPicPr>
          <p:cNvPr id="22531" name="Picture 4"/>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a:xfrm>
            <a:off x="481628" y="2133600"/>
            <a:ext cx="8180743" cy="3594100"/>
          </a:xfrm>
          <a:noFill/>
        </p:spPr>
      </p:pic>
    </p:spTree>
    <p:extLst>
      <p:ext uri="{BB962C8B-B14F-4D97-AF65-F5344CB8AC3E}">
        <p14:creationId xmlns:p14="http://schemas.microsoft.com/office/powerpoint/2010/main" xmlns="" val="292370292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b="1"/>
              <a:t>Search with Primitive Inference Rules</a:t>
            </a:r>
            <a:endParaRPr lang="en-US"/>
          </a:p>
        </p:txBody>
      </p:sp>
      <p:grpSp>
        <p:nvGrpSpPr>
          <p:cNvPr id="2" name="Group 4"/>
          <p:cNvGrpSpPr>
            <a:grpSpLocks noChangeAspect="1"/>
          </p:cNvGrpSpPr>
          <p:nvPr/>
        </p:nvGrpSpPr>
        <p:grpSpPr bwMode="auto">
          <a:xfrm>
            <a:off x="457200" y="1905000"/>
            <a:ext cx="7980363" cy="4157663"/>
            <a:chOff x="288" y="1200"/>
            <a:chExt cx="5027" cy="2619"/>
          </a:xfrm>
        </p:grpSpPr>
        <p:sp>
          <p:nvSpPr>
            <p:cNvPr id="3" name="AutoShape 3"/>
            <p:cNvSpPr>
              <a:spLocks noChangeAspect="1" noChangeArrowheads="1" noTextEdit="1"/>
            </p:cNvSpPr>
            <p:nvPr/>
          </p:nvSpPr>
          <p:spPr bwMode="auto">
            <a:xfrm>
              <a:off x="288" y="1200"/>
              <a:ext cx="5027" cy="26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3077"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88" y="1200"/>
              <a:ext cx="5033" cy="2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317404349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5"/>
          <p:cNvSpPr>
            <a:spLocks noGrp="1" noChangeArrowheads="1"/>
          </p:cNvSpPr>
          <p:nvPr>
            <p:ph type="title"/>
          </p:nvPr>
        </p:nvSpPr>
        <p:spPr/>
        <p:txBody>
          <a:bodyPr rtlCol="0">
            <a:normAutofit fontScale="90000"/>
          </a:bodyPr>
          <a:lstStyle/>
          <a:p>
            <a:pPr eaLnBrk="1" fontAlgn="auto" hangingPunct="1">
              <a:spcAft>
                <a:spcPts val="0"/>
              </a:spcAft>
              <a:defRPr/>
            </a:pPr>
            <a:r>
              <a:rPr lang="en-US" b="1"/>
              <a:t>Search with Primitive Inference Rules</a:t>
            </a:r>
          </a:p>
        </p:txBody>
      </p:sp>
      <p:grpSp>
        <p:nvGrpSpPr>
          <p:cNvPr id="2" name="Group 4"/>
          <p:cNvGrpSpPr>
            <a:grpSpLocks noChangeAspect="1"/>
          </p:cNvGrpSpPr>
          <p:nvPr/>
        </p:nvGrpSpPr>
        <p:grpSpPr bwMode="auto">
          <a:xfrm>
            <a:off x="901700" y="1771077"/>
            <a:ext cx="7785100" cy="3958212"/>
            <a:chOff x="568" y="1258"/>
            <a:chExt cx="4624" cy="2351"/>
          </a:xfrm>
        </p:grpSpPr>
        <p:sp>
          <p:nvSpPr>
            <p:cNvPr id="3" name="AutoShape 3"/>
            <p:cNvSpPr>
              <a:spLocks noChangeAspect="1" noChangeArrowheads="1" noTextEdit="1"/>
            </p:cNvSpPr>
            <p:nvPr/>
          </p:nvSpPr>
          <p:spPr bwMode="auto">
            <a:xfrm>
              <a:off x="568" y="1258"/>
              <a:ext cx="4624" cy="23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1269"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68" y="1258"/>
              <a:ext cx="4629" cy="23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13019815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p:txBody>
          <a:bodyPr/>
          <a:lstStyle/>
          <a:p>
            <a:pPr eaLnBrk="1" hangingPunct="1"/>
            <a:r>
              <a:rPr lang="en-US" altLang="en-US" b="1"/>
              <a:t>Unification</a:t>
            </a:r>
            <a:endParaRPr lang="en-US" altLang="en-US"/>
          </a:p>
        </p:txBody>
      </p:sp>
      <p:pic>
        <p:nvPicPr>
          <p:cNvPr id="25603" name="Picture 4"/>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a:xfrm>
            <a:off x="1141413" y="1600200"/>
            <a:ext cx="6861175" cy="4525963"/>
          </a:xfrm>
          <a:noFill/>
        </p:spPr>
      </p:pic>
    </p:spTree>
    <p:extLst>
      <p:ext uri="{BB962C8B-B14F-4D97-AF65-F5344CB8AC3E}">
        <p14:creationId xmlns:p14="http://schemas.microsoft.com/office/powerpoint/2010/main" xmlns="" val="75158266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Unification</a:t>
            </a:r>
            <a:endParaRPr lang="en-MY" b="1" dirty="0"/>
          </a:p>
        </p:txBody>
      </p:sp>
      <p:pic>
        <p:nvPicPr>
          <p:cNvPr id="7" name="Content Placeholder 6" descr="unify_eg.PNG"/>
          <p:cNvPicPr>
            <a:picLocks noGrp="1" noChangeAspect="1"/>
          </p:cNvPicPr>
          <p:nvPr>
            <p:ph idx="1"/>
          </p:nvPr>
        </p:nvPicPr>
        <p:blipFill>
          <a:blip r:embed="rId2" cstate="print"/>
          <a:stretch>
            <a:fillRect/>
          </a:stretch>
        </p:blipFill>
        <p:spPr>
          <a:xfrm>
            <a:off x="1143000" y="1524001"/>
            <a:ext cx="6553200" cy="4344474"/>
          </a:xfrm>
        </p:spPr>
      </p:pic>
      <p:sp>
        <p:nvSpPr>
          <p:cNvPr id="4" name="Date Placeholder 3"/>
          <p:cNvSpPr>
            <a:spLocks noGrp="1"/>
          </p:cNvSpPr>
          <p:nvPr>
            <p:ph type="dt" sz="half" idx="10"/>
          </p:nvPr>
        </p:nvSpPr>
        <p:spPr/>
        <p:txBody>
          <a:bodyPr/>
          <a:lstStyle/>
          <a:p>
            <a:r>
              <a:rPr lang="en-US" smtClean="0"/>
              <a:t>2019</a:t>
            </a:r>
            <a:endParaRPr lang="en-US"/>
          </a:p>
        </p:txBody>
      </p:sp>
      <p:sp>
        <p:nvSpPr>
          <p:cNvPr id="5" name="Footer Placeholder 4"/>
          <p:cNvSpPr>
            <a:spLocks noGrp="1"/>
          </p:cNvSpPr>
          <p:nvPr>
            <p:ph type="ftr" sz="quarter" idx="11"/>
          </p:nvPr>
        </p:nvSpPr>
        <p:spPr/>
        <p:txBody>
          <a:bodyPr/>
          <a:lstStyle/>
          <a:p>
            <a:r>
              <a:rPr lang="en-US" smtClean="0"/>
              <a:t>MECQ1203: Artificial Intelligence</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p:txBody>
          <a:bodyPr/>
          <a:lstStyle/>
          <a:p>
            <a:pPr eaLnBrk="1" hangingPunct="1"/>
            <a:r>
              <a:rPr lang="en-US" altLang="en-US" b="1"/>
              <a:t>The unification algorithm</a:t>
            </a:r>
          </a:p>
        </p:txBody>
      </p:sp>
      <p:pic>
        <p:nvPicPr>
          <p:cNvPr id="26627" name="Picture 4"/>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a:xfrm>
            <a:off x="457200" y="2319338"/>
            <a:ext cx="8229600" cy="3086100"/>
          </a:xfrm>
          <a:noFill/>
        </p:spPr>
      </p:pic>
    </p:spTree>
    <p:extLst>
      <p:ext uri="{BB962C8B-B14F-4D97-AF65-F5344CB8AC3E}">
        <p14:creationId xmlns:p14="http://schemas.microsoft.com/office/powerpoint/2010/main" xmlns="" val="343226768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p:txBody>
          <a:bodyPr/>
          <a:lstStyle/>
          <a:p>
            <a:pPr eaLnBrk="1" hangingPunct="1"/>
            <a:r>
              <a:rPr lang="en-US" altLang="en-US" b="1"/>
              <a:t>The unification algorithm</a:t>
            </a:r>
          </a:p>
        </p:txBody>
      </p:sp>
      <p:pic>
        <p:nvPicPr>
          <p:cNvPr id="27651" name="Picture 4"/>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l="53906" t="50000" r="8984" b="14583"/>
          <a:stretch>
            <a:fillRect/>
          </a:stretch>
        </p:blipFill>
        <p:spPr>
          <a:xfrm>
            <a:off x="190500" y="1905000"/>
            <a:ext cx="8763000" cy="3657600"/>
          </a:xfrm>
          <a:noFill/>
        </p:spPr>
      </p:pic>
    </p:spTree>
    <p:extLst>
      <p:ext uri="{BB962C8B-B14F-4D97-AF65-F5344CB8AC3E}">
        <p14:creationId xmlns:p14="http://schemas.microsoft.com/office/powerpoint/2010/main" xmlns="" val="99125798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431800" y="115888"/>
            <a:ext cx="8229600" cy="1143000"/>
          </a:xfrm>
        </p:spPr>
        <p:txBody>
          <a:bodyPr/>
          <a:lstStyle/>
          <a:p>
            <a:r>
              <a:rPr lang="en-MY" b="1"/>
              <a:t>Propositional Resolution</a:t>
            </a:r>
            <a:endParaRPr lang="en-MY"/>
          </a:p>
        </p:txBody>
      </p:sp>
      <p:sp>
        <p:nvSpPr>
          <p:cNvPr id="28675" name="Content Placeholder 2"/>
          <p:cNvSpPr>
            <a:spLocks noGrp="1"/>
          </p:cNvSpPr>
          <p:nvPr>
            <p:ph idx="1"/>
          </p:nvPr>
        </p:nvSpPr>
        <p:spPr>
          <a:xfrm>
            <a:off x="395514" y="1676400"/>
            <a:ext cx="8229600" cy="4525962"/>
          </a:xfrm>
        </p:spPr>
        <p:txBody>
          <a:bodyPr>
            <a:normAutofit fontScale="92500" lnSpcReduction="10000"/>
          </a:bodyPr>
          <a:lstStyle/>
          <a:p>
            <a:r>
              <a:rPr lang="en-MY" sz="2800" dirty="0"/>
              <a:t>Resolution rule:</a:t>
            </a:r>
          </a:p>
          <a:p>
            <a:r>
              <a:rPr lang="en-MY" sz="2800" dirty="0"/>
              <a:t>Resolution refutation:</a:t>
            </a:r>
          </a:p>
          <a:p>
            <a:pPr lvl="1"/>
            <a:r>
              <a:rPr lang="en-MY" sz="2400" dirty="0"/>
              <a:t>Convert all sentences to CNF (conjunctive/clausal normal form)</a:t>
            </a:r>
          </a:p>
          <a:p>
            <a:pPr lvl="1"/>
            <a:r>
              <a:rPr lang="en-MY" sz="2400" dirty="0"/>
              <a:t>Negate the desired conclusion (converted to CNF)</a:t>
            </a:r>
          </a:p>
          <a:p>
            <a:pPr lvl="1"/>
            <a:r>
              <a:rPr lang="en-MY" sz="2400" dirty="0"/>
              <a:t>Apply resolution rule until either</a:t>
            </a:r>
          </a:p>
          <a:p>
            <a:pPr lvl="2"/>
            <a:r>
              <a:rPr lang="en-MY" sz="2000" dirty="0"/>
              <a:t>Derive false (a contradiction)</a:t>
            </a:r>
          </a:p>
          <a:p>
            <a:pPr lvl="2"/>
            <a:r>
              <a:rPr lang="en-MY" sz="2000" dirty="0"/>
              <a:t>Can’t apply any more</a:t>
            </a:r>
          </a:p>
          <a:p>
            <a:r>
              <a:rPr lang="en-MY" sz="2800" dirty="0"/>
              <a:t>Resolution refutation is sound and complete</a:t>
            </a:r>
          </a:p>
          <a:p>
            <a:pPr lvl="1"/>
            <a:r>
              <a:rPr lang="en-MY" sz="2400" dirty="0"/>
              <a:t>If we derive a contradiction, then the conclusion follows from the axioms</a:t>
            </a:r>
          </a:p>
          <a:p>
            <a:pPr lvl="1"/>
            <a:r>
              <a:rPr lang="en-MY" sz="2400" dirty="0"/>
              <a:t>If we can’t apply any more, then the conclusion cannot be proved from the axioms.</a:t>
            </a:r>
          </a:p>
        </p:txBody>
      </p:sp>
      <p:pic>
        <p:nvPicPr>
          <p:cNvPr id="28676" name="Picture 3" descr="resolution-rule.PNG"/>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553200" y="912947"/>
            <a:ext cx="2438400" cy="1611313"/>
          </a:xfrm>
          <a:prstGeom prst="rect">
            <a:avLst/>
          </a:prstGeom>
          <a:noFill/>
          <a:ln>
            <a:solidFill>
              <a:schemeClr val="accent1"/>
            </a:solidFill>
          </a:ln>
          <a:effectLst>
            <a:outerShdw blurRad="50800" dist="38100" dir="8100000" algn="tr" rotWithShape="0">
              <a:prstClr val="black">
                <a:alpha val="40000"/>
              </a:prstClr>
            </a:outerShdw>
            <a:softEdge rad="0"/>
          </a:effectLst>
          <a:scene3d>
            <a:camera prst="orthographicFront"/>
            <a:lightRig rig="threePt" dir="t"/>
          </a:scene3d>
          <a:sp3d>
            <a:bevelT w="0" h="0"/>
          </a:sp3d>
        </p:spPr>
      </p:pic>
    </p:spTree>
    <p:extLst>
      <p:ext uri="{BB962C8B-B14F-4D97-AF65-F5344CB8AC3E}">
        <p14:creationId xmlns:p14="http://schemas.microsoft.com/office/powerpoint/2010/main" xmlns="" val="210836404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914400" y="277813"/>
            <a:ext cx="7772400" cy="704850"/>
          </a:xfrm>
        </p:spPr>
        <p:txBody>
          <a:bodyPr rtlCol="0">
            <a:normAutofit fontScale="90000"/>
          </a:bodyPr>
          <a:lstStyle/>
          <a:p>
            <a:pPr eaLnBrk="1" fontAlgn="auto" hangingPunct="1">
              <a:spcAft>
                <a:spcPts val="0"/>
              </a:spcAft>
              <a:defRPr/>
            </a:pPr>
            <a:r>
              <a:rPr lang="en-US" b="1"/>
              <a:t>Resolution</a:t>
            </a:r>
            <a:endParaRPr lang="en-US"/>
          </a:p>
        </p:txBody>
      </p:sp>
      <p:grpSp>
        <p:nvGrpSpPr>
          <p:cNvPr id="2" name="Group 4"/>
          <p:cNvGrpSpPr>
            <a:grpSpLocks noChangeAspect="1"/>
          </p:cNvGrpSpPr>
          <p:nvPr/>
        </p:nvGrpSpPr>
        <p:grpSpPr bwMode="auto">
          <a:xfrm>
            <a:off x="1149350" y="1600200"/>
            <a:ext cx="6845300" cy="4525963"/>
            <a:chOff x="724" y="1008"/>
            <a:chExt cx="4312" cy="2851"/>
          </a:xfrm>
        </p:grpSpPr>
        <p:sp>
          <p:nvSpPr>
            <p:cNvPr id="3" name="AutoShape 3"/>
            <p:cNvSpPr>
              <a:spLocks noChangeAspect="1" noChangeArrowheads="1" noTextEdit="1"/>
            </p:cNvSpPr>
            <p:nvPr/>
          </p:nvSpPr>
          <p:spPr bwMode="auto">
            <a:xfrm>
              <a:off x="724" y="1008"/>
              <a:ext cx="4312" cy="28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293"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24" y="1008"/>
              <a:ext cx="4317" cy="28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19669747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p:nvPr>
        </p:nvSpPr>
        <p:spPr/>
        <p:txBody>
          <a:bodyPr/>
          <a:lstStyle/>
          <a:p>
            <a:pPr eaLnBrk="1" hangingPunct="1"/>
            <a:r>
              <a:rPr lang="en-US" altLang="en-US" b="1"/>
              <a:t>Resolution Proof Tree</a:t>
            </a:r>
            <a:endParaRPr lang="en-US" altLang="en-US"/>
          </a:p>
        </p:txBody>
      </p:sp>
      <p:grpSp>
        <p:nvGrpSpPr>
          <p:cNvPr id="2" name="Group 4"/>
          <p:cNvGrpSpPr>
            <a:grpSpLocks noChangeAspect="1"/>
          </p:cNvGrpSpPr>
          <p:nvPr/>
        </p:nvGrpSpPr>
        <p:grpSpPr bwMode="auto">
          <a:xfrm>
            <a:off x="1331913" y="1736725"/>
            <a:ext cx="7169150" cy="4344988"/>
            <a:chOff x="839" y="1094"/>
            <a:chExt cx="4516" cy="2737"/>
          </a:xfrm>
        </p:grpSpPr>
        <p:sp>
          <p:nvSpPr>
            <p:cNvPr id="3" name="AutoShape 3"/>
            <p:cNvSpPr>
              <a:spLocks noChangeAspect="1" noChangeArrowheads="1" noTextEdit="1"/>
            </p:cNvSpPr>
            <p:nvPr/>
          </p:nvSpPr>
          <p:spPr bwMode="auto">
            <a:xfrm>
              <a:off x="839" y="1094"/>
              <a:ext cx="4516" cy="27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3317"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39" y="1094"/>
              <a:ext cx="4522" cy="27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138018424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914400" y="277813"/>
            <a:ext cx="7772400" cy="639762"/>
          </a:xfrm>
        </p:spPr>
        <p:txBody>
          <a:bodyPr rtlCol="0">
            <a:normAutofit fontScale="90000"/>
          </a:bodyPr>
          <a:lstStyle/>
          <a:p>
            <a:pPr eaLnBrk="1" fontAlgn="auto" hangingPunct="1">
              <a:spcAft>
                <a:spcPts val="0"/>
              </a:spcAft>
              <a:defRPr/>
            </a:pPr>
            <a:r>
              <a:rPr lang="en-US" b="1"/>
              <a:t>Resolution Strategies</a:t>
            </a:r>
            <a:endParaRPr lang="en-US"/>
          </a:p>
        </p:txBody>
      </p:sp>
      <p:sp>
        <p:nvSpPr>
          <p:cNvPr id="31748" name="Oval 6"/>
          <p:cNvSpPr>
            <a:spLocks noChangeArrowheads="1"/>
          </p:cNvSpPr>
          <p:nvPr/>
        </p:nvSpPr>
        <p:spPr bwMode="auto">
          <a:xfrm>
            <a:off x="1331913" y="5337175"/>
            <a:ext cx="5580062" cy="647700"/>
          </a:xfrm>
          <a:prstGeom prst="ellipse">
            <a:avLst/>
          </a:prstGeom>
          <a:noFill/>
          <a:ln w="38100" cap="sq">
            <a:solidFill>
              <a:schemeClr val="accent2"/>
            </a:solidFill>
            <a:round/>
            <a:headEnd type="none" w="sm" len="sm"/>
            <a:tailEnd type="none" w="sm" len="sm"/>
          </a:ln>
          <a:extLst>
            <a:ext uri="{909E8E84-426E-40DD-AFC4-6F175D3DCCD1}">
              <a14:hiddenFill xmlns:a14="http://schemas.microsoft.com/office/drawing/2010/main" xmlns="">
                <a:solidFill>
                  <a:srgbClr val="FFFFFF"/>
                </a:solidFill>
              </a14:hiddenFill>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2" name="Group 4"/>
          <p:cNvGrpSpPr>
            <a:grpSpLocks noChangeAspect="1"/>
          </p:cNvGrpSpPr>
          <p:nvPr/>
        </p:nvGrpSpPr>
        <p:grpSpPr bwMode="auto">
          <a:xfrm>
            <a:off x="1069975" y="1600200"/>
            <a:ext cx="7004050" cy="4525963"/>
            <a:chOff x="674" y="1008"/>
            <a:chExt cx="4412" cy="2851"/>
          </a:xfrm>
        </p:grpSpPr>
        <p:sp>
          <p:nvSpPr>
            <p:cNvPr id="3" name="AutoShape 3"/>
            <p:cNvSpPr>
              <a:spLocks noChangeAspect="1" noChangeArrowheads="1" noTextEdit="1"/>
            </p:cNvSpPr>
            <p:nvPr/>
          </p:nvSpPr>
          <p:spPr bwMode="auto">
            <a:xfrm>
              <a:off x="674" y="1008"/>
              <a:ext cx="4412" cy="28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4341"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74" y="1008"/>
              <a:ext cx="4417" cy="28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160355625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normAutofit fontScale="90000"/>
          </a:bodyPr>
          <a:lstStyle/>
          <a:p>
            <a:r>
              <a:rPr lang="en-MY" sz="3200" b="1" dirty="0"/>
              <a:t/>
            </a:r>
            <a:br>
              <a:rPr lang="en-MY" sz="3200" b="1" dirty="0"/>
            </a:br>
            <a:r>
              <a:rPr lang="en-MY" sz="3200" b="1" u="sng" dirty="0">
                <a:hlinkClick r:id="rId2"/>
              </a:rPr>
              <a:t>In resolution refutation, can we use a clause that have been resolved?</a:t>
            </a:r>
            <a:r>
              <a:rPr lang="en-MY" b="1" dirty="0"/>
              <a:t/>
            </a:r>
            <a:br>
              <a:rPr lang="en-MY" b="1" dirty="0"/>
            </a:br>
            <a:endParaRPr lang="en-MY" dirty="0"/>
          </a:p>
        </p:txBody>
      </p:sp>
      <p:sp>
        <p:nvSpPr>
          <p:cNvPr id="32771" name="Content Placeholder 2"/>
          <p:cNvSpPr>
            <a:spLocks noGrp="1"/>
          </p:cNvSpPr>
          <p:nvPr>
            <p:ph idx="1"/>
          </p:nvPr>
        </p:nvSpPr>
        <p:spPr/>
        <p:txBody>
          <a:bodyPr/>
          <a:lstStyle/>
          <a:p>
            <a:r>
              <a:rPr lang="en-MY" sz="2400" dirty="0"/>
              <a:t>In resolution if we have a set S composed of three clause C1, C2 and C3 and we want to proof that C4 is derivable from S using refutation:</a:t>
            </a:r>
          </a:p>
          <a:p>
            <a:r>
              <a:rPr lang="en-MY" sz="2400" dirty="0"/>
              <a:t>Suppose we've resolved C1 and C2 to C5, can we resolve C1 with C5 or C3 or C4 or C2 cause even it has been resolved?</a:t>
            </a:r>
          </a:p>
          <a:p>
            <a:r>
              <a:rPr lang="en-MY" sz="2400" dirty="0"/>
              <a:t>And if we want to conceive an algorithm for that do we have to delete each resolved couple of clauses from or initial set I= {S, ¬C4} and add the </a:t>
            </a:r>
            <a:r>
              <a:rPr lang="en-MY" sz="2400" dirty="0" err="1"/>
              <a:t>resolvent</a:t>
            </a:r>
            <a:r>
              <a:rPr lang="en-MY" sz="2400" dirty="0"/>
              <a:t> instead?</a:t>
            </a:r>
          </a:p>
          <a:p>
            <a:r>
              <a:rPr lang="en-MY" sz="2400" dirty="0"/>
              <a:t>And lastly, do we have to use all the clause to derive ⊥ or we stop once we find ⊥ even if we find it in the first step? </a:t>
            </a:r>
            <a:endParaRPr lang="en-MY" dirty="0"/>
          </a:p>
          <a:p>
            <a:endParaRPr lang="en-MY" dirty="0"/>
          </a:p>
        </p:txBody>
      </p:sp>
    </p:spTree>
    <p:extLst>
      <p:ext uri="{BB962C8B-B14F-4D97-AF65-F5344CB8AC3E}">
        <p14:creationId xmlns:p14="http://schemas.microsoft.com/office/powerpoint/2010/main" xmlns="" val="36812026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b="1"/>
              <a:t>Answers </a:t>
            </a:r>
            <a:endParaRPr lang="en-MY" b="1"/>
          </a:p>
        </p:txBody>
      </p:sp>
      <p:sp>
        <p:nvSpPr>
          <p:cNvPr id="33795" name="Content Placeholder 2"/>
          <p:cNvSpPr>
            <a:spLocks noGrp="1"/>
          </p:cNvSpPr>
          <p:nvPr>
            <p:ph idx="1"/>
          </p:nvPr>
        </p:nvSpPr>
        <p:spPr/>
        <p:txBody>
          <a:bodyPr/>
          <a:lstStyle/>
          <a:p>
            <a:r>
              <a:rPr lang="en-MY" sz="2800"/>
              <a:t>Suppose we've resolved C1 and C2 to C5, can we resolve C1 with C5 or C2?	</a:t>
            </a:r>
          </a:p>
          <a:p>
            <a:pPr>
              <a:buFont typeface="Arial" panose="020B0604020202020204" pitchFamily="34" charset="0"/>
              <a:buNone/>
            </a:pPr>
            <a:r>
              <a:rPr lang="en-MY" sz="2800"/>
              <a:t>	No, not really. If C1 and C2 can be resolved in more than one way, then all those resolvents are tautologies. And if C1 can be resolved with C5, then it can also be resolved with C2 in a second way (assuming C1 is not a tautology, and hence cannot be resolved with itself).</a:t>
            </a:r>
          </a:p>
          <a:p>
            <a:endParaRPr lang="en-MY"/>
          </a:p>
        </p:txBody>
      </p:sp>
    </p:spTree>
    <p:extLst>
      <p:ext uri="{BB962C8B-B14F-4D97-AF65-F5344CB8AC3E}">
        <p14:creationId xmlns:p14="http://schemas.microsoft.com/office/powerpoint/2010/main" xmlns="" val="79257351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b="1"/>
              <a:t>Answers..</a:t>
            </a:r>
            <a:endParaRPr lang="en-MY" b="1"/>
          </a:p>
        </p:txBody>
      </p:sp>
      <p:sp>
        <p:nvSpPr>
          <p:cNvPr id="34819" name="Content Placeholder 2"/>
          <p:cNvSpPr>
            <a:spLocks noGrp="1"/>
          </p:cNvSpPr>
          <p:nvPr>
            <p:ph idx="1"/>
          </p:nvPr>
        </p:nvSpPr>
        <p:spPr/>
        <p:txBody>
          <a:bodyPr>
            <a:normAutofit lnSpcReduction="10000"/>
          </a:bodyPr>
          <a:lstStyle/>
          <a:p>
            <a:r>
              <a:rPr lang="en-MY"/>
              <a:t>Can we resolve C1 with C3 or C4 cause even it has been resolved?</a:t>
            </a:r>
          </a:p>
          <a:p>
            <a:pPr>
              <a:buFont typeface="Arial" panose="020B0604020202020204" pitchFamily="34" charset="0"/>
              <a:buNone/>
            </a:pPr>
            <a:r>
              <a:rPr lang="en-MY"/>
              <a:t>	We can (and often must) resolve C1 with C3, even so it has already been resolved with C2. We don't need to resolve any clause with C4 itself, rather the negation of C4 must be brought into a conjunctive normal form. The clauses of that normal for have to be added to our set S.</a:t>
            </a:r>
          </a:p>
        </p:txBody>
      </p:sp>
    </p:spTree>
    <p:extLst>
      <p:ext uri="{BB962C8B-B14F-4D97-AF65-F5344CB8AC3E}">
        <p14:creationId xmlns:p14="http://schemas.microsoft.com/office/powerpoint/2010/main" xmlns="" val="202523022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b="1"/>
              <a:t>Answers ..</a:t>
            </a:r>
            <a:endParaRPr lang="en-MY" b="1"/>
          </a:p>
        </p:txBody>
      </p:sp>
      <p:sp>
        <p:nvSpPr>
          <p:cNvPr id="35843" name="Content Placeholder 2"/>
          <p:cNvSpPr>
            <a:spLocks noGrp="1"/>
          </p:cNvSpPr>
          <p:nvPr>
            <p:ph idx="1"/>
          </p:nvPr>
        </p:nvSpPr>
        <p:spPr>
          <a:xfrm>
            <a:off x="435429" y="1752600"/>
            <a:ext cx="8229600" cy="4525963"/>
          </a:xfrm>
        </p:spPr>
        <p:txBody>
          <a:bodyPr>
            <a:normAutofit fontScale="92500"/>
          </a:bodyPr>
          <a:lstStyle/>
          <a:p>
            <a:r>
              <a:rPr lang="en-MY" sz="2800" dirty="0"/>
              <a:t>And if we want to conceive an algorithm for that do we have to delete each resolved couple of clauses from or initial set I= {S, ¬C4} and add the </a:t>
            </a:r>
            <a:r>
              <a:rPr lang="en-MY" sz="2800" dirty="0" err="1"/>
              <a:t>resolvent</a:t>
            </a:r>
            <a:r>
              <a:rPr lang="en-MY" sz="2800" dirty="0"/>
              <a:t> instead?</a:t>
            </a:r>
          </a:p>
          <a:p>
            <a:pPr lvl="1"/>
            <a:r>
              <a:rPr lang="en-MY" sz="2400" dirty="0"/>
              <a:t>No, that would be too simple. What you actually do is to select a variable that you want to eliminate from the clauses in the set S, and </a:t>
            </a:r>
            <a:r>
              <a:rPr lang="en-MY" sz="2400" dirty="0">
                <a:hlinkClick r:id="rId2"/>
              </a:rPr>
              <a:t>then</a:t>
            </a:r>
            <a:r>
              <a:rPr lang="en-MY" sz="2400" dirty="0"/>
              <a:t>:</a:t>
            </a:r>
          </a:p>
          <a:p>
            <a:pPr lvl="1"/>
            <a:r>
              <a:rPr lang="en-MY" sz="2400" dirty="0"/>
              <a:t>for every clause C containing the variable and every clause N containing the negation of the variable </a:t>
            </a:r>
          </a:p>
          <a:p>
            <a:pPr lvl="1"/>
            <a:r>
              <a:rPr lang="en-MY" sz="2400" dirty="0"/>
              <a:t>resolve C and N and add the </a:t>
            </a:r>
            <a:r>
              <a:rPr lang="en-MY" sz="2400" dirty="0" err="1"/>
              <a:t>resolvent</a:t>
            </a:r>
            <a:r>
              <a:rPr lang="en-MY" sz="2400" dirty="0"/>
              <a:t> to the set S</a:t>
            </a:r>
          </a:p>
          <a:p>
            <a:pPr lvl="1"/>
            <a:r>
              <a:rPr lang="en-MY" sz="2400" dirty="0"/>
              <a:t>remove all original clauses containing the variable or its negation from the set S</a:t>
            </a:r>
          </a:p>
          <a:p>
            <a:pPr>
              <a:buFont typeface="Arial" panose="020B0604020202020204" pitchFamily="34" charset="0"/>
              <a:buNone/>
            </a:pPr>
            <a:endParaRPr lang="en-MY" sz="2800" dirty="0"/>
          </a:p>
        </p:txBody>
      </p:sp>
    </p:spTree>
    <p:extLst>
      <p:ext uri="{BB962C8B-B14F-4D97-AF65-F5344CB8AC3E}">
        <p14:creationId xmlns:p14="http://schemas.microsoft.com/office/powerpoint/2010/main" xmlns="" val="181735273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b="1"/>
              <a:t>Answers..</a:t>
            </a:r>
            <a:endParaRPr lang="en-MY" b="1"/>
          </a:p>
        </p:txBody>
      </p:sp>
      <p:sp>
        <p:nvSpPr>
          <p:cNvPr id="36867" name="Content Placeholder 2"/>
          <p:cNvSpPr>
            <a:spLocks noGrp="1"/>
          </p:cNvSpPr>
          <p:nvPr>
            <p:ph idx="1"/>
          </p:nvPr>
        </p:nvSpPr>
        <p:spPr/>
        <p:txBody>
          <a:bodyPr/>
          <a:lstStyle/>
          <a:p>
            <a:r>
              <a:rPr lang="en-MY"/>
              <a:t>And lastly, do we have to use all the clause to derive ⊥ or we stop once we find ⊥ even if we find it in the first step? </a:t>
            </a:r>
          </a:p>
          <a:p>
            <a:pPr>
              <a:buFont typeface="Arial" panose="020B0604020202020204" pitchFamily="34" charset="0"/>
              <a:buNone/>
            </a:pPr>
            <a:r>
              <a:rPr lang="en-MY"/>
              <a:t>	We stop once we find ⊥.</a:t>
            </a:r>
          </a:p>
          <a:p>
            <a:endParaRPr lang="en-MY"/>
          </a:p>
        </p:txBody>
      </p:sp>
    </p:spTree>
    <p:extLst>
      <p:ext uri="{BB962C8B-B14F-4D97-AF65-F5344CB8AC3E}">
        <p14:creationId xmlns:p14="http://schemas.microsoft.com/office/powerpoint/2010/main" xmlns="" val="420306761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5"/>
          <p:cNvSpPr>
            <a:spLocks noChangeArrowheads="1"/>
          </p:cNvSpPr>
          <p:nvPr/>
        </p:nvSpPr>
        <p:spPr bwMode="auto">
          <a:xfrm>
            <a:off x="1295400" y="60325"/>
            <a:ext cx="8364537"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b="1" dirty="0">
                <a:latin typeface="+mn-lt"/>
              </a:rPr>
              <a:t>Example: Translate the KB into propositional logic </a:t>
            </a:r>
          </a:p>
        </p:txBody>
      </p:sp>
      <p:sp>
        <p:nvSpPr>
          <p:cNvPr id="37891" name="Rectangle 6"/>
          <p:cNvSpPr>
            <a:spLocks noChangeArrowheads="1"/>
          </p:cNvSpPr>
          <p:nvPr/>
        </p:nvSpPr>
        <p:spPr bwMode="auto">
          <a:xfrm>
            <a:off x="609600" y="1997075"/>
            <a:ext cx="7678737" cy="2476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Clr>
                <a:schemeClr val="folHlink"/>
              </a:buClr>
              <a:buSzPct val="90000"/>
              <a:buFont typeface="Wingdings" panose="05000000000000000000" pitchFamily="2" charset="2"/>
              <a:buChar char="n"/>
            </a:pPr>
            <a:r>
              <a:rPr lang="en-US" altLang="en-US" sz="2800" dirty="0"/>
              <a:t>If it is hot and humid, then it is raining. If it is humid, then it is hot. It is humid.</a:t>
            </a:r>
          </a:p>
          <a:p>
            <a:pPr lvl="1" eaLnBrk="1" hangingPunct="1">
              <a:lnSpc>
                <a:spcPct val="90000"/>
              </a:lnSpc>
              <a:spcBef>
                <a:spcPct val="20000"/>
              </a:spcBef>
              <a:buClr>
                <a:schemeClr val="accent1"/>
              </a:buClr>
              <a:buSzPct val="75000"/>
              <a:buFont typeface="Wingdings" panose="05000000000000000000" pitchFamily="2" charset="2"/>
              <a:buNone/>
            </a:pPr>
            <a:r>
              <a:rPr lang="en-US" altLang="en-US" sz="2600" dirty="0"/>
              <a:t>	H	It is hot.</a:t>
            </a:r>
          </a:p>
          <a:p>
            <a:pPr lvl="1" eaLnBrk="1" hangingPunct="1">
              <a:lnSpc>
                <a:spcPct val="90000"/>
              </a:lnSpc>
              <a:spcBef>
                <a:spcPct val="20000"/>
              </a:spcBef>
              <a:buClr>
                <a:schemeClr val="accent1"/>
              </a:buClr>
              <a:buSzPct val="75000"/>
              <a:buFont typeface="Wingdings" panose="05000000000000000000" pitchFamily="2" charset="2"/>
              <a:buNone/>
            </a:pPr>
            <a:r>
              <a:rPr lang="en-US" altLang="en-US" sz="2600" dirty="0"/>
              <a:t>	D	It is humid.</a:t>
            </a:r>
          </a:p>
          <a:p>
            <a:pPr lvl="1" eaLnBrk="1" hangingPunct="1">
              <a:lnSpc>
                <a:spcPct val="90000"/>
              </a:lnSpc>
              <a:spcBef>
                <a:spcPct val="20000"/>
              </a:spcBef>
              <a:buClr>
                <a:schemeClr val="accent1"/>
              </a:buClr>
              <a:buSzPct val="75000"/>
              <a:buFont typeface="Wingdings" panose="05000000000000000000" pitchFamily="2" charset="2"/>
              <a:buNone/>
            </a:pPr>
            <a:r>
              <a:rPr lang="en-US" altLang="en-US" sz="2600" dirty="0"/>
              <a:t>	R	It is raining. </a:t>
            </a:r>
          </a:p>
          <a:p>
            <a:pPr lvl="1" eaLnBrk="1" hangingPunct="1">
              <a:lnSpc>
                <a:spcPct val="90000"/>
              </a:lnSpc>
              <a:spcBef>
                <a:spcPct val="20000"/>
              </a:spcBef>
              <a:buClr>
                <a:schemeClr val="accent1"/>
              </a:buClr>
              <a:buSzPct val="75000"/>
              <a:buFont typeface="Wingdings" panose="05000000000000000000" pitchFamily="2" charset="2"/>
              <a:buNone/>
            </a:pPr>
            <a:endParaRPr lang="en-US" altLang="en-US" sz="2600" dirty="0"/>
          </a:p>
          <a:p>
            <a:pPr eaLnBrk="1" hangingPunct="1">
              <a:lnSpc>
                <a:spcPct val="90000"/>
              </a:lnSpc>
              <a:spcBef>
                <a:spcPct val="20000"/>
              </a:spcBef>
              <a:buClr>
                <a:schemeClr val="folHlink"/>
              </a:buClr>
              <a:buSzPct val="90000"/>
              <a:buFont typeface="Wingdings" panose="05000000000000000000" pitchFamily="2" charset="2"/>
              <a:buNone/>
            </a:pPr>
            <a:endParaRPr lang="en-US" altLang="en-US" sz="2800" dirty="0"/>
          </a:p>
        </p:txBody>
      </p:sp>
      <p:sp>
        <p:nvSpPr>
          <p:cNvPr id="169991" name="Text Box 7"/>
          <p:cNvSpPr txBox="1">
            <a:spLocks noChangeArrowheads="1"/>
          </p:cNvSpPr>
          <p:nvPr/>
        </p:nvSpPr>
        <p:spPr bwMode="auto">
          <a:xfrm>
            <a:off x="1079500" y="4473575"/>
            <a:ext cx="7524750" cy="1554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a:t>1. If it is hot and humid, then it is raining </a:t>
            </a:r>
          </a:p>
          <a:p>
            <a:pPr eaLnBrk="1" hangingPunct="1"/>
            <a:r>
              <a:rPr lang="en-US" altLang="en-US" sz="3200"/>
              <a:t>2. If it is humid, then it is hot </a:t>
            </a:r>
          </a:p>
          <a:p>
            <a:pPr eaLnBrk="1" hangingPunct="1"/>
            <a:r>
              <a:rPr lang="en-US" altLang="en-US" sz="3200"/>
              <a:t>3. It is humid</a:t>
            </a:r>
          </a:p>
        </p:txBody>
      </p:sp>
    </p:spTree>
    <p:extLst>
      <p:ext uri="{BB962C8B-B14F-4D97-AF65-F5344CB8AC3E}">
        <p14:creationId xmlns:p14="http://schemas.microsoft.com/office/powerpoint/2010/main" xmlns="" val="21844180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69991"/>
                                        </p:tgtEl>
                                        <p:attrNameLst>
                                          <p:attrName>style.visibility</p:attrName>
                                        </p:attrNameLst>
                                      </p:cBhvr>
                                      <p:to>
                                        <p:strVal val="visible"/>
                                      </p:to>
                                    </p:set>
                                    <p:animEffect transition="in" filter="checkerboard(across)">
                                      <p:cBhvr>
                                        <p:cTn id="7" dur="500"/>
                                        <p:tgtEl>
                                          <p:spTgt spid="1699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91"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p:cNvSpPr>
            <a:spLocks noChangeArrowheads="1"/>
          </p:cNvSpPr>
          <p:nvPr/>
        </p:nvSpPr>
        <p:spPr bwMode="auto">
          <a:xfrm>
            <a:off x="1409701" y="147638"/>
            <a:ext cx="77343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400" b="1" dirty="0">
                <a:latin typeface="+mn-lt"/>
              </a:rPr>
              <a:t>Example: PROOF-Logical Inference Rules</a:t>
            </a:r>
          </a:p>
        </p:txBody>
      </p:sp>
      <p:sp>
        <p:nvSpPr>
          <p:cNvPr id="38915" name="Rectangle 5"/>
          <p:cNvSpPr>
            <a:spLocks noChangeArrowheads="1"/>
          </p:cNvSpPr>
          <p:nvPr/>
        </p:nvSpPr>
        <p:spPr bwMode="auto">
          <a:xfrm>
            <a:off x="1116013" y="1600200"/>
            <a:ext cx="7570787" cy="2362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Clr>
                <a:schemeClr val="folHlink"/>
              </a:buClr>
              <a:buSzPct val="90000"/>
              <a:buFont typeface="Wingdings" panose="05000000000000000000" pitchFamily="2" charset="2"/>
              <a:buNone/>
            </a:pPr>
            <a:r>
              <a:rPr lang="en-US" altLang="en-US" sz="2400"/>
              <a:t>GOAL-Is it Raining?</a:t>
            </a:r>
          </a:p>
          <a:p>
            <a:pPr eaLnBrk="1" hangingPunct="1">
              <a:lnSpc>
                <a:spcPct val="90000"/>
              </a:lnSpc>
              <a:spcBef>
                <a:spcPct val="20000"/>
              </a:spcBef>
              <a:buClr>
                <a:schemeClr val="tx1"/>
              </a:buClr>
              <a:buSzPct val="90000"/>
              <a:buFont typeface="Wingdings" panose="05000000000000000000" pitchFamily="2" charset="2"/>
              <a:buNone/>
            </a:pPr>
            <a:r>
              <a:rPr lang="en-US" altLang="en-US" sz="2400"/>
              <a:t>1. (H ^ D) </a:t>
            </a:r>
            <a:r>
              <a:rPr lang="en-US" altLang="en-US" sz="2400">
                <a:sym typeface="Wingdings" panose="05000000000000000000" pitchFamily="2" charset="2"/>
              </a:rPr>
              <a:t></a:t>
            </a:r>
            <a:r>
              <a:rPr lang="en-US" altLang="en-US" sz="2400"/>
              <a:t> R	</a:t>
            </a:r>
          </a:p>
          <a:p>
            <a:pPr eaLnBrk="1" hangingPunct="1">
              <a:lnSpc>
                <a:spcPct val="90000"/>
              </a:lnSpc>
              <a:spcBef>
                <a:spcPct val="20000"/>
              </a:spcBef>
              <a:buClr>
                <a:schemeClr val="tx1"/>
              </a:buClr>
              <a:buSzPct val="90000"/>
              <a:buFont typeface="Wingdings" panose="05000000000000000000" pitchFamily="2" charset="2"/>
              <a:buNone/>
            </a:pPr>
            <a:r>
              <a:rPr lang="en-US" altLang="en-US" sz="2400"/>
              <a:t>2. D </a:t>
            </a:r>
            <a:r>
              <a:rPr lang="en-US" altLang="en-US" sz="2400">
                <a:sym typeface="Wingdings" panose="05000000000000000000" pitchFamily="2" charset="2"/>
              </a:rPr>
              <a:t></a:t>
            </a:r>
            <a:r>
              <a:rPr lang="en-US" altLang="en-US" sz="2400"/>
              <a:t> H		</a:t>
            </a:r>
          </a:p>
          <a:p>
            <a:pPr eaLnBrk="1" hangingPunct="1">
              <a:lnSpc>
                <a:spcPct val="90000"/>
              </a:lnSpc>
              <a:spcBef>
                <a:spcPct val="20000"/>
              </a:spcBef>
              <a:buClr>
                <a:schemeClr val="tx1"/>
              </a:buClr>
              <a:buSzPct val="90000"/>
              <a:buFont typeface="Wingdings" panose="05000000000000000000" pitchFamily="2" charset="2"/>
              <a:buNone/>
            </a:pPr>
            <a:r>
              <a:rPr lang="en-US" altLang="en-US" sz="2400"/>
              <a:t>3. D		</a:t>
            </a:r>
          </a:p>
          <a:p>
            <a:pPr eaLnBrk="1" hangingPunct="1">
              <a:lnSpc>
                <a:spcPct val="90000"/>
              </a:lnSpc>
              <a:spcBef>
                <a:spcPct val="20000"/>
              </a:spcBef>
              <a:buClr>
                <a:schemeClr val="tx1"/>
              </a:buClr>
              <a:buSzPct val="90000"/>
              <a:buFont typeface="Wingdings" panose="05000000000000000000" pitchFamily="2" charset="2"/>
              <a:buNone/>
            </a:pPr>
            <a:r>
              <a:rPr lang="en-US" altLang="en-US" sz="2400"/>
              <a:t>	</a:t>
            </a:r>
          </a:p>
        </p:txBody>
      </p:sp>
      <p:sp>
        <p:nvSpPr>
          <p:cNvPr id="38916" name="Text Box 6"/>
          <p:cNvSpPr txBox="1">
            <a:spLocks noChangeArrowheads="1"/>
          </p:cNvSpPr>
          <p:nvPr/>
        </p:nvSpPr>
        <p:spPr bwMode="auto">
          <a:xfrm>
            <a:off x="7008813" y="3886200"/>
            <a:ext cx="458787" cy="1066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eaVert">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en-US" altLang="en-US"/>
          </a:p>
        </p:txBody>
      </p:sp>
      <p:sp>
        <p:nvSpPr>
          <p:cNvPr id="171015" name="Rectangle 7"/>
          <p:cNvSpPr>
            <a:spLocks noChangeArrowheads="1"/>
          </p:cNvSpPr>
          <p:nvPr/>
        </p:nvSpPr>
        <p:spPr bwMode="auto">
          <a:xfrm>
            <a:off x="685800" y="3733800"/>
            <a:ext cx="7620000" cy="822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t>From 2 and 3: by Modus Ponens, we infer:</a:t>
            </a:r>
          </a:p>
          <a:p>
            <a:pPr eaLnBrk="1" hangingPunct="1"/>
            <a:r>
              <a:rPr lang="en-US" altLang="en-US" sz="2400"/>
              <a:t>	4. H</a:t>
            </a:r>
          </a:p>
        </p:txBody>
      </p:sp>
      <p:sp>
        <p:nvSpPr>
          <p:cNvPr id="171016" name="Rectangle 8"/>
          <p:cNvSpPr>
            <a:spLocks noChangeArrowheads="1"/>
          </p:cNvSpPr>
          <p:nvPr/>
        </p:nvSpPr>
        <p:spPr bwMode="auto">
          <a:xfrm>
            <a:off x="762000" y="4495800"/>
            <a:ext cx="6096000"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t>From 4: by AND-introduction, we infer:</a:t>
            </a:r>
          </a:p>
          <a:p>
            <a:pPr eaLnBrk="1" hangingPunct="1"/>
            <a:r>
              <a:rPr lang="en-US" altLang="en-US" sz="2400" dirty="0"/>
              <a:t>	5. H ^ D </a:t>
            </a:r>
          </a:p>
        </p:txBody>
      </p:sp>
      <p:sp>
        <p:nvSpPr>
          <p:cNvPr id="171017" name="Rectangle 9"/>
          <p:cNvSpPr>
            <a:spLocks noChangeArrowheads="1"/>
          </p:cNvSpPr>
          <p:nvPr/>
        </p:nvSpPr>
        <p:spPr bwMode="auto">
          <a:xfrm>
            <a:off x="838200" y="5334000"/>
            <a:ext cx="6934200" cy="822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a:t>From 1 and 5: by Modus Ponens, we infer:</a:t>
            </a:r>
          </a:p>
          <a:p>
            <a:pPr eaLnBrk="1" hangingPunct="1"/>
            <a:r>
              <a:rPr lang="en-US" altLang="en-US" sz="2400"/>
              <a:t>	6. </a:t>
            </a:r>
            <a:r>
              <a:rPr lang="en-US" altLang="en-US" sz="2400" b="1"/>
              <a:t>R</a:t>
            </a:r>
            <a:r>
              <a:rPr lang="en-US" altLang="en-US" sz="2400"/>
              <a:t>     (Goal -- It is raining)</a:t>
            </a:r>
          </a:p>
        </p:txBody>
      </p:sp>
      <p:pic>
        <p:nvPicPr>
          <p:cNvPr id="38920" name="Ink 10"/>
          <p:cNvPicPr>
            <a:picLocks noRot="1" noChangeAspect="1" noEditPoints="1" noChangeArrowheads="1" noChangeShapeType="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325563" y="3030538"/>
            <a:ext cx="84137" cy="84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8323943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1015"/>
                                        </p:tgtEl>
                                        <p:attrNameLst>
                                          <p:attrName>style.visibility</p:attrName>
                                        </p:attrNameLst>
                                      </p:cBhvr>
                                      <p:to>
                                        <p:strVal val="visible"/>
                                      </p:to>
                                    </p:set>
                                    <p:animEffect transition="in" filter="blinds(horizontal)">
                                      <p:cBhvr>
                                        <p:cTn id="7" dur="500"/>
                                        <p:tgtEl>
                                          <p:spTgt spid="1710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71016"/>
                                        </p:tgtEl>
                                        <p:attrNameLst>
                                          <p:attrName>style.visibility</p:attrName>
                                        </p:attrNameLst>
                                      </p:cBhvr>
                                      <p:to>
                                        <p:strVal val="visible"/>
                                      </p:to>
                                    </p:set>
                                    <p:animEffect transition="in" filter="box(in)">
                                      <p:cBhvr>
                                        <p:cTn id="12" dur="500"/>
                                        <p:tgtEl>
                                          <p:spTgt spid="1710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171017"/>
                                        </p:tgtEl>
                                        <p:attrNameLst>
                                          <p:attrName>style.visibility</p:attrName>
                                        </p:attrNameLst>
                                      </p:cBhvr>
                                      <p:to>
                                        <p:strVal val="visible"/>
                                      </p:to>
                                    </p:set>
                                    <p:animEffect transition="in" filter="diamond(in)">
                                      <p:cBhvr>
                                        <p:cTn id="17" dur="2000"/>
                                        <p:tgtEl>
                                          <p:spTgt spid="171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5" grpId="0"/>
      <p:bldP spid="171016" grpId="0"/>
      <p:bldP spid="171017"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a:xfrm>
            <a:off x="609600" y="0"/>
            <a:ext cx="8243888" cy="1314450"/>
          </a:xfrm>
        </p:spPr>
        <p:txBody>
          <a:bodyPr/>
          <a:lstStyle/>
          <a:p>
            <a:pPr eaLnBrk="1" hangingPunct="1"/>
            <a:r>
              <a:rPr lang="en-US" altLang="en-US" b="1" dirty="0"/>
              <a:t>Applications of First-Order Logic</a:t>
            </a:r>
            <a:endParaRPr lang="en-US" altLang="en-US" dirty="0"/>
          </a:p>
        </p:txBody>
      </p:sp>
      <p:sp>
        <p:nvSpPr>
          <p:cNvPr id="39939" name="Rectangle 3"/>
          <p:cNvSpPr>
            <a:spLocks noGrp="1"/>
          </p:cNvSpPr>
          <p:nvPr>
            <p:ph idx="1"/>
          </p:nvPr>
        </p:nvSpPr>
        <p:spPr>
          <a:xfrm>
            <a:off x="591457" y="1905000"/>
            <a:ext cx="8229600" cy="4151313"/>
          </a:xfrm>
        </p:spPr>
        <p:txBody>
          <a:bodyPr/>
          <a:lstStyle/>
          <a:p>
            <a:pPr eaLnBrk="1" hangingPunct="1"/>
            <a:r>
              <a:rPr lang="en-US" altLang="en-US" dirty="0">
                <a:solidFill>
                  <a:srgbClr val="FF0000"/>
                </a:solidFill>
              </a:rPr>
              <a:t>Prolog: a logic programming languages</a:t>
            </a:r>
          </a:p>
          <a:p>
            <a:pPr eaLnBrk="1" hangingPunct="1"/>
            <a:r>
              <a:rPr lang="en-US" altLang="en-US" dirty="0">
                <a:solidFill>
                  <a:srgbClr val="000000"/>
                </a:solidFill>
              </a:rPr>
              <a:t>Production systems</a:t>
            </a:r>
          </a:p>
          <a:p>
            <a:pPr eaLnBrk="1" hangingPunct="1"/>
            <a:r>
              <a:rPr lang="en-US" altLang="en-US" dirty="0">
                <a:solidFill>
                  <a:srgbClr val="000000"/>
                </a:solidFill>
              </a:rPr>
              <a:t>Semantic nets</a:t>
            </a:r>
          </a:p>
          <a:p>
            <a:pPr eaLnBrk="1" hangingPunct="1"/>
            <a:r>
              <a:rPr lang="en-US" altLang="en-US" dirty="0">
                <a:solidFill>
                  <a:srgbClr val="000000"/>
                </a:solidFill>
              </a:rPr>
              <a:t>Automated theorem proving</a:t>
            </a:r>
          </a:p>
          <a:p>
            <a:pPr eaLnBrk="1" hangingPunct="1"/>
            <a:r>
              <a:rPr lang="en-US" altLang="en-US" dirty="0"/>
              <a:t>Planning</a:t>
            </a:r>
          </a:p>
        </p:txBody>
      </p:sp>
    </p:spTree>
    <p:extLst>
      <p:ext uri="{BB962C8B-B14F-4D97-AF65-F5344CB8AC3E}">
        <p14:creationId xmlns:p14="http://schemas.microsoft.com/office/powerpoint/2010/main" xmlns="" val="5087070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p:cNvSpPr>
          <p:nvPr>
            <p:ph type="title"/>
          </p:nvPr>
        </p:nvSpPr>
        <p:spPr/>
        <p:txBody>
          <a:bodyPr/>
          <a:lstStyle/>
          <a:p>
            <a:pPr eaLnBrk="1" hangingPunct="1"/>
            <a:r>
              <a:rPr lang="en-US" altLang="en-US" b="1"/>
              <a:t>Summary</a:t>
            </a:r>
          </a:p>
        </p:txBody>
      </p:sp>
      <p:sp>
        <p:nvSpPr>
          <p:cNvPr id="40963" name="Rectangle 3"/>
          <p:cNvSpPr>
            <a:spLocks noGrp="1"/>
          </p:cNvSpPr>
          <p:nvPr>
            <p:ph idx="1"/>
          </p:nvPr>
        </p:nvSpPr>
        <p:spPr>
          <a:xfrm>
            <a:off x="457200" y="1752600"/>
            <a:ext cx="8229600" cy="4525963"/>
          </a:xfrm>
        </p:spPr>
        <p:txBody>
          <a:bodyPr/>
          <a:lstStyle/>
          <a:p>
            <a:pPr marL="514350" indent="-514350">
              <a:lnSpc>
                <a:spcPct val="80000"/>
              </a:lnSpc>
              <a:buClr>
                <a:schemeClr val="tx1"/>
              </a:buClr>
              <a:buSzPct val="90000"/>
              <a:buAutoNum type="arabicPeriod"/>
            </a:pPr>
            <a:r>
              <a:rPr lang="en-US" altLang="en-US" sz="2400" dirty="0">
                <a:solidFill>
                  <a:srgbClr val="000000"/>
                </a:solidFill>
              </a:rPr>
              <a:t>We learned three topics in this chapter: AI </a:t>
            </a:r>
            <a:r>
              <a:rPr lang="en-GB" sz="2400" dirty="0"/>
              <a:t>knowledge representation, propositional logic and predicate logic.</a:t>
            </a:r>
          </a:p>
          <a:p>
            <a:pPr marL="514350" indent="-514350">
              <a:lnSpc>
                <a:spcPct val="80000"/>
              </a:lnSpc>
              <a:buClr>
                <a:schemeClr val="tx1"/>
              </a:buClr>
              <a:buSzPct val="90000"/>
              <a:buAutoNum type="arabicPeriod"/>
            </a:pPr>
            <a:r>
              <a:rPr lang="en-US" sz="2400" dirty="0"/>
              <a:t>Knowledge representation is </a:t>
            </a:r>
            <a:r>
              <a:rPr lang="en-US" sz="2400" dirty="0" smtClean="0"/>
              <a:t>a </a:t>
            </a:r>
            <a:r>
              <a:rPr lang="en-US" sz="2400" dirty="0"/>
              <a:t>part of Artificial intelligence which concerned with thinking that contributes to intelligent behavior.</a:t>
            </a:r>
          </a:p>
          <a:p>
            <a:pPr marL="514350" indent="-514350">
              <a:lnSpc>
                <a:spcPct val="80000"/>
              </a:lnSpc>
              <a:buClr>
                <a:schemeClr val="tx1"/>
              </a:buClr>
              <a:buSzPct val="90000"/>
              <a:buAutoNum type="arabicPeriod"/>
            </a:pPr>
            <a:r>
              <a:rPr lang="en-US" sz="2400" dirty="0"/>
              <a:t>Propositional logic is a branch of mathematical logic which studies the logical relationships between propositions (or statements, sentences, assertions) taken as a whole, and connected via logical connectives.</a:t>
            </a:r>
          </a:p>
          <a:p>
            <a:pPr marL="514350" indent="-514350">
              <a:lnSpc>
                <a:spcPct val="80000"/>
              </a:lnSpc>
              <a:buClr>
                <a:schemeClr val="tx1"/>
              </a:buClr>
              <a:buSzPct val="90000"/>
              <a:buAutoNum type="arabicPeriod"/>
            </a:pPr>
            <a:r>
              <a:rPr lang="en-US" sz="2400" dirty="0"/>
              <a:t>A predicate is an expression of one or more variables defined on some specific domain. A predicate with variables can be made a proposition by either assigning a value to the variable or by quantifying the variable</a:t>
            </a:r>
          </a:p>
          <a:p>
            <a:pPr marL="514350" indent="-514350">
              <a:lnSpc>
                <a:spcPct val="80000"/>
              </a:lnSpc>
              <a:buClr>
                <a:schemeClr val="tx1"/>
              </a:buClr>
              <a:buSzPct val="90000"/>
              <a:buAutoNum type="arabicPeriod"/>
            </a:pPr>
            <a:endParaRPr lang="en-GB" dirty="0"/>
          </a:p>
          <a:p>
            <a:pPr marL="514350" indent="-514350">
              <a:lnSpc>
                <a:spcPct val="80000"/>
              </a:lnSpc>
              <a:buClr>
                <a:schemeClr val="tx1"/>
              </a:buClr>
              <a:buSzPct val="90000"/>
              <a:buAutoNum type="arabicPeriod"/>
            </a:pPr>
            <a:endParaRPr lang="en-GB" dirty="0"/>
          </a:p>
        </p:txBody>
      </p:sp>
    </p:spTree>
    <p:extLst>
      <p:ext uri="{BB962C8B-B14F-4D97-AF65-F5344CB8AC3E}">
        <p14:creationId xmlns:p14="http://schemas.microsoft.com/office/powerpoint/2010/main" xmlns="" val="1231243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4373</TotalTime>
  <Words>3049</Words>
  <Application>Microsoft Office PowerPoint</Application>
  <PresentationFormat>On-screen Show (4:3)</PresentationFormat>
  <Paragraphs>577</Paragraphs>
  <Slides>95</Slides>
  <Notes>2</Notes>
  <HiddenSlides>0</HiddenSlides>
  <MMClips>0</MMClips>
  <ScaleCrop>false</ScaleCrop>
  <HeadingPairs>
    <vt:vector size="4" baseType="variant">
      <vt:variant>
        <vt:lpstr>Theme</vt:lpstr>
      </vt:variant>
      <vt:variant>
        <vt:i4>2</vt:i4>
      </vt:variant>
      <vt:variant>
        <vt:lpstr>Slide Titles</vt:lpstr>
      </vt:variant>
      <vt:variant>
        <vt:i4>95</vt:i4>
      </vt:variant>
    </vt:vector>
  </HeadingPairs>
  <TitlesOfParts>
    <vt:vector size="97" baseType="lpstr">
      <vt:lpstr>Office Theme</vt:lpstr>
      <vt:lpstr>Custom Design</vt:lpstr>
      <vt:lpstr>Knowledge Representation </vt:lpstr>
      <vt:lpstr>Outline</vt:lpstr>
      <vt:lpstr>2.1 AI-based knowledge representation </vt:lpstr>
      <vt:lpstr>Representation </vt:lpstr>
      <vt:lpstr>Choosing a Representation</vt:lpstr>
      <vt:lpstr>Some General Representations</vt:lpstr>
      <vt:lpstr>Syntax and Semantics</vt:lpstr>
      <vt:lpstr>Slide 8</vt:lpstr>
      <vt:lpstr>Slide 9</vt:lpstr>
      <vt:lpstr>Slide 10</vt:lpstr>
      <vt:lpstr>Slide 11</vt:lpstr>
      <vt:lpstr>Slide 12</vt:lpstr>
      <vt:lpstr>Slide 13</vt:lpstr>
      <vt:lpstr>Slide 14</vt:lpstr>
      <vt:lpstr>Slide 15</vt:lpstr>
      <vt:lpstr>2.2 Propositional Logic </vt:lpstr>
      <vt:lpstr>What is a Logic?</vt:lpstr>
      <vt:lpstr>Ask google ..what is propositional logic?</vt:lpstr>
      <vt:lpstr>Basic Logic Operations</vt:lpstr>
      <vt:lpstr>Slide 20</vt:lpstr>
      <vt:lpstr>Slide 21</vt:lpstr>
      <vt:lpstr>Logic in General (1)</vt:lpstr>
      <vt:lpstr>Logic in General (2)</vt:lpstr>
      <vt:lpstr>Propositions???</vt:lpstr>
      <vt:lpstr>Propositional Logic</vt:lpstr>
      <vt:lpstr>Propositional Logic</vt:lpstr>
      <vt:lpstr>How to determine Propositions??</vt:lpstr>
      <vt:lpstr>Connectives</vt:lpstr>
      <vt:lpstr>Propositional Logic: Syntax</vt:lpstr>
      <vt:lpstr>Propositional Logic: Semantic</vt:lpstr>
      <vt:lpstr>Propositional Logic: Semantic</vt:lpstr>
      <vt:lpstr>And (also called conjunction)</vt:lpstr>
      <vt:lpstr>Natural Language Meaning (1)</vt:lpstr>
      <vt:lpstr>Natural Language Meaning (2)</vt:lpstr>
      <vt:lpstr>Or </vt:lpstr>
      <vt:lpstr>Natural Language Meaning</vt:lpstr>
      <vt:lpstr>Not </vt:lpstr>
      <vt:lpstr>Natural Language Meaning</vt:lpstr>
      <vt:lpstr>If . . . then  . .   </vt:lpstr>
      <vt:lpstr>Natural Language Meaning</vt:lpstr>
      <vt:lpstr>More About Implication</vt:lpstr>
      <vt:lpstr>Contrapositive</vt:lpstr>
      <vt:lpstr>Biconditional </vt:lpstr>
      <vt:lpstr>Biconditional</vt:lpstr>
      <vt:lpstr>WFF</vt:lpstr>
      <vt:lpstr>Example</vt:lpstr>
      <vt:lpstr>Recap: Truth Tables</vt:lpstr>
      <vt:lpstr>Truth Tables for Compound Propositions</vt:lpstr>
      <vt:lpstr>Quiz</vt:lpstr>
      <vt:lpstr>Quiz</vt:lpstr>
      <vt:lpstr>... So</vt:lpstr>
      <vt:lpstr>Try this..</vt:lpstr>
      <vt:lpstr>2.3 Predicate Logic </vt:lpstr>
      <vt:lpstr>Predicate Logic</vt:lpstr>
      <vt:lpstr>Slide 55</vt:lpstr>
      <vt:lpstr>Slide 56</vt:lpstr>
      <vt:lpstr>Predicate Calculus (First Order Logic)</vt:lpstr>
      <vt:lpstr>Example: FOL Sentence</vt:lpstr>
      <vt:lpstr> Example: FOL Sentence</vt:lpstr>
      <vt:lpstr>First-Order Logic (FOL)</vt:lpstr>
      <vt:lpstr>First-Order Logic (FOL)</vt:lpstr>
      <vt:lpstr>Slide 62</vt:lpstr>
      <vt:lpstr>Universal Quantification</vt:lpstr>
      <vt:lpstr>Example</vt:lpstr>
      <vt:lpstr>Example</vt:lpstr>
      <vt:lpstr>Existential Quantification</vt:lpstr>
      <vt:lpstr>Example</vt:lpstr>
      <vt:lpstr>Example</vt:lpstr>
      <vt:lpstr>Properties of Quantifiers</vt:lpstr>
      <vt:lpstr>Properties of Quantifiers</vt:lpstr>
      <vt:lpstr>Quantifier Duality</vt:lpstr>
      <vt:lpstr>How to read quantified formulas</vt:lpstr>
      <vt:lpstr>Fun with Sentences</vt:lpstr>
      <vt:lpstr>Proof methods</vt:lpstr>
      <vt:lpstr>Proofs</vt:lpstr>
      <vt:lpstr>Example Proof</vt:lpstr>
      <vt:lpstr>Search with Primitive Inference Rules</vt:lpstr>
      <vt:lpstr>Search with Primitive Inference Rules</vt:lpstr>
      <vt:lpstr>Unification</vt:lpstr>
      <vt:lpstr>Unification</vt:lpstr>
      <vt:lpstr>The unification algorithm</vt:lpstr>
      <vt:lpstr>The unification algorithm</vt:lpstr>
      <vt:lpstr>Propositional Resolution</vt:lpstr>
      <vt:lpstr>Resolution</vt:lpstr>
      <vt:lpstr>Resolution Proof Tree</vt:lpstr>
      <vt:lpstr>Resolution Strategies</vt:lpstr>
      <vt:lpstr> In resolution refutation, can we use a clause that have been resolved? </vt:lpstr>
      <vt:lpstr>Answers </vt:lpstr>
      <vt:lpstr>Answers..</vt:lpstr>
      <vt:lpstr>Answers ..</vt:lpstr>
      <vt:lpstr>Answers..</vt:lpstr>
      <vt:lpstr>Slide 92</vt:lpstr>
      <vt:lpstr>Slide 93</vt:lpstr>
      <vt:lpstr>Applications of First-Order Logic</vt:lpstr>
      <vt:lpstr>Summary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Referee</dc:creator>
  <cp:lastModifiedBy>aida</cp:lastModifiedBy>
  <cp:revision>355</cp:revision>
  <cp:lastPrinted>2019-09-07T03:41:56Z</cp:lastPrinted>
  <dcterms:created xsi:type="dcterms:W3CDTF">2012-07-30T02:22:03Z</dcterms:created>
  <dcterms:modified xsi:type="dcterms:W3CDTF">2019-09-23T07:37:46Z</dcterms:modified>
</cp:coreProperties>
</file>