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315" r:id="rId2"/>
    <p:sldId id="275" r:id="rId3"/>
    <p:sldId id="262" r:id="rId4"/>
    <p:sldId id="260" r:id="rId5"/>
    <p:sldId id="261" r:id="rId6"/>
    <p:sldId id="316" r:id="rId7"/>
    <p:sldId id="263" r:id="rId8"/>
    <p:sldId id="264" r:id="rId9"/>
    <p:sldId id="265" r:id="rId10"/>
    <p:sldId id="266" r:id="rId11"/>
    <p:sldId id="267" r:id="rId12"/>
    <p:sldId id="268" r:id="rId13"/>
    <p:sldId id="320" r:id="rId14"/>
    <p:sldId id="318" r:id="rId15"/>
    <p:sldId id="269" r:id="rId16"/>
    <p:sldId id="270" r:id="rId17"/>
    <p:sldId id="271" r:id="rId18"/>
    <p:sldId id="272" r:id="rId19"/>
    <p:sldId id="273" r:id="rId20"/>
    <p:sldId id="274" r:id="rId21"/>
    <p:sldId id="319" r:id="rId22"/>
    <p:sldId id="276" r:id="rId23"/>
    <p:sldId id="277" r:id="rId24"/>
    <p:sldId id="278" r:id="rId25"/>
    <p:sldId id="279" r:id="rId26"/>
    <p:sldId id="317" r:id="rId27"/>
    <p:sldId id="322" r:id="rId28"/>
    <p:sldId id="324" r:id="rId29"/>
    <p:sldId id="284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301" r:id="rId40"/>
    <p:sldId id="302" r:id="rId41"/>
    <p:sldId id="305" r:id="rId42"/>
    <p:sldId id="325" r:id="rId43"/>
    <p:sldId id="295" r:id="rId44"/>
    <p:sldId id="296" r:id="rId45"/>
    <p:sldId id="297" r:id="rId46"/>
    <p:sldId id="329" r:id="rId47"/>
    <p:sldId id="299" r:id="rId48"/>
    <p:sldId id="330" r:id="rId49"/>
    <p:sldId id="304" r:id="rId50"/>
    <p:sldId id="331" r:id="rId51"/>
    <p:sldId id="313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1D35"/>
    <a:srgbClr val="0000FF"/>
    <a:srgbClr val="956251"/>
    <a:srgbClr val="9B2D1F"/>
    <a:srgbClr val="F2F2F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86" autoAdjust="0"/>
    <p:restoredTop sz="95363" autoAdjust="0"/>
  </p:normalViewPr>
  <p:slideViewPr>
    <p:cSldViewPr snapToGrid="0">
      <p:cViewPr>
        <p:scale>
          <a:sx n="113" d="100"/>
          <a:sy n="113" d="100"/>
        </p:scale>
        <p:origin x="144" y="-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509BF-53EE-4D84-844F-BEC1430829BC}" type="datetimeFigureOut">
              <a:rPr lang="en-US" smtClean="0"/>
              <a:t>10/5/24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2B6879-5321-45FF-A6AE-E6B1BB62C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741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3BD15B9E-8EC5-1B05-F598-91A525BF5AC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 bwMode="auto">
          <a:xfrm>
            <a:off x="1298575" y="801688"/>
            <a:ext cx="4260850" cy="319563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8545F4B8-E5F5-5D6C-202C-8D4A7B091A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47738" y="4335463"/>
            <a:ext cx="4975225" cy="38528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3BA6A5E4-B522-4209-2660-FB6770D0FAA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 bwMode="auto">
          <a:xfrm>
            <a:off x="1298575" y="801688"/>
            <a:ext cx="4260850" cy="319563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F654863F-BAB8-E28E-C07C-E90D05BC6E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47738" y="4335463"/>
            <a:ext cx="4975225" cy="38528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53BAFAC3-6DAF-C200-91E3-9AF93D1FBBF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 bwMode="auto">
          <a:xfrm>
            <a:off x="1298575" y="801688"/>
            <a:ext cx="4260850" cy="319563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E64C7EF1-CD97-538E-110F-E475BD9201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47738" y="4335463"/>
            <a:ext cx="4975225" cy="38528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>
            <a:extLst>
              <a:ext uri="{FF2B5EF4-FFF2-40B4-BE49-F238E27FC236}">
                <a16:creationId xmlns:a16="http://schemas.microsoft.com/office/drawing/2014/main" id="{447366E7-7C50-21DE-21AB-BA5110817BB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>
            <a:extLst>
              <a:ext uri="{FF2B5EF4-FFF2-40B4-BE49-F238E27FC236}">
                <a16:creationId xmlns:a16="http://schemas.microsoft.com/office/drawing/2014/main" id="{332A2FD9-8CD4-873F-3524-EE83BE5F836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 altLang="en-US"/>
          </a:p>
        </p:txBody>
      </p:sp>
      <p:sp>
        <p:nvSpPr>
          <p:cNvPr id="62468" name="Slide Number Placeholder 3">
            <a:extLst>
              <a:ext uri="{FF2B5EF4-FFF2-40B4-BE49-F238E27FC236}">
                <a16:creationId xmlns:a16="http://schemas.microsoft.com/office/drawing/2014/main" id="{9D4C1464-1ECF-EE0F-344B-D7F5A96137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4E5ACDD-9F5D-5E48-A648-9F5722EFC906}" type="slidenum">
              <a:rPr lang="en-MY" altLang="en-US"/>
              <a:pPr eaLnBrk="1" hangingPunct="1">
                <a:spcBef>
                  <a:spcPct val="0"/>
                </a:spcBef>
              </a:pPr>
              <a:t>30</a:t>
            </a:fld>
            <a:endParaRPr lang="en-MY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4.sv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tiff"/><Relationship Id="rId5" Type="http://schemas.openxmlformats.org/officeDocument/2006/relationships/image" Target="../media/image6.svg"/><Relationship Id="rId10" Type="http://schemas.openxmlformats.org/officeDocument/2006/relationships/image" Target="../media/image10.sv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A77FC49-908E-7282-71D1-FF9B45CC79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428041" y="-1428041"/>
            <a:ext cx="6880030" cy="97361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FB5ACA-D821-A539-94D6-EEC7337F3A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99000"/>
          </a:blip>
          <a:stretch>
            <a:fillRect/>
          </a:stretch>
        </p:blipFill>
        <p:spPr>
          <a:xfrm rot="10800000" flipV="1">
            <a:off x="59093" y="0"/>
            <a:ext cx="12073813" cy="310918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500D8EF-2DF1-88B7-4784-92F60D932A2D}"/>
              </a:ext>
            </a:extLst>
          </p:cNvPr>
          <p:cNvSpPr/>
          <p:nvPr userDrawn="1"/>
        </p:nvSpPr>
        <p:spPr>
          <a:xfrm rot="5400000">
            <a:off x="5953544" y="641578"/>
            <a:ext cx="284909" cy="12192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418E44-B184-3318-E83E-1ED0427C4C32}"/>
              </a:ext>
            </a:extLst>
          </p:cNvPr>
          <p:cNvSpPr txBox="1"/>
          <p:nvPr userDrawn="1"/>
        </p:nvSpPr>
        <p:spPr>
          <a:xfrm>
            <a:off x="5479363" y="6595121"/>
            <a:ext cx="13773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i="0" dirty="0">
                <a:solidFill>
                  <a:schemeClr val="bg1">
                    <a:lumMod val="95000"/>
                  </a:schemeClr>
                </a:solidFill>
                <a:ea typeface="Montserrat Semi" charset="0"/>
                <a:cs typeface="Montserrat Semi" charset="0"/>
              </a:rPr>
              <a:t>www.utm.my</a:t>
            </a:r>
            <a:endParaRPr lang="en-US" sz="1100" b="1" i="0" dirty="0">
              <a:solidFill>
                <a:schemeClr val="accent4"/>
              </a:solidFill>
              <a:ea typeface="Montserrat Semi" charset="0"/>
              <a:cs typeface="Montserrat Sem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9644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0C8336-6E97-19E8-88CA-FE902FF18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10/5/24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0694A3-909C-4BC7-8684-CF6A8DF61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86F0-1709-92BF-CEC8-7DFA93F80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7993728-E209-C557-FA87-A687A2439D90}"/>
              </a:ext>
            </a:extLst>
          </p:cNvPr>
          <p:cNvGrpSpPr/>
          <p:nvPr userDrawn="1"/>
        </p:nvGrpSpPr>
        <p:grpSpPr>
          <a:xfrm>
            <a:off x="0" y="0"/>
            <a:ext cx="4323456" cy="7438348"/>
            <a:chOff x="0" y="0"/>
            <a:chExt cx="4323456" cy="7438348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C291997A-C196-DCDE-0EA0-51D4FDEDAD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0"/>
              <a:ext cx="3118649" cy="4463581"/>
            </a:xfrm>
            <a:prstGeom prst="rect">
              <a:avLst/>
            </a:prstGeom>
          </p:spPr>
        </p:pic>
        <p:sp>
          <p:nvSpPr>
            <p:cNvPr id="2" name="Parallelogram 1">
              <a:extLst>
                <a:ext uri="{FF2B5EF4-FFF2-40B4-BE49-F238E27FC236}">
                  <a16:creationId xmlns:a16="http://schemas.microsoft.com/office/drawing/2014/main" id="{14354985-0AB8-E860-28D0-17AD10E6B863}"/>
                </a:ext>
              </a:extLst>
            </p:cNvPr>
            <p:cNvSpPr/>
            <p:nvPr userDrawn="1"/>
          </p:nvSpPr>
          <p:spPr>
            <a:xfrm rot="8446488">
              <a:off x="1155879" y="3069975"/>
              <a:ext cx="2214654" cy="3120244"/>
            </a:xfrm>
            <a:prstGeom prst="parallelogram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9C95F9B9-2A5B-F93A-EA33-600D61519C46}"/>
                </a:ext>
              </a:extLst>
            </p:cNvPr>
            <p:cNvSpPr/>
            <p:nvPr userDrawn="1"/>
          </p:nvSpPr>
          <p:spPr>
            <a:xfrm rot="8446488">
              <a:off x="2539020" y="5497285"/>
              <a:ext cx="1784436" cy="1941063"/>
            </a:xfrm>
            <a:custGeom>
              <a:avLst/>
              <a:gdLst>
                <a:gd name="connsiteX0" fmla="*/ 0 w 2214654"/>
                <a:gd name="connsiteY0" fmla="*/ 3120244 h 3120244"/>
                <a:gd name="connsiteX1" fmla="*/ 553664 w 2214654"/>
                <a:gd name="connsiteY1" fmla="*/ 0 h 3120244"/>
                <a:gd name="connsiteX2" fmla="*/ 2214654 w 2214654"/>
                <a:gd name="connsiteY2" fmla="*/ 0 h 3120244"/>
                <a:gd name="connsiteX3" fmla="*/ 1660991 w 2214654"/>
                <a:gd name="connsiteY3" fmla="*/ 3120244 h 3120244"/>
                <a:gd name="connsiteX4" fmla="*/ 0 w 2214654"/>
                <a:gd name="connsiteY4" fmla="*/ 3120244 h 3120244"/>
                <a:gd name="connsiteX0" fmla="*/ 0 w 2214654"/>
                <a:gd name="connsiteY0" fmla="*/ 3120244 h 3120244"/>
                <a:gd name="connsiteX1" fmla="*/ 341522 w 2214654"/>
                <a:gd name="connsiteY1" fmla="*/ 1179181 h 3120244"/>
                <a:gd name="connsiteX2" fmla="*/ 2214654 w 2214654"/>
                <a:gd name="connsiteY2" fmla="*/ 0 h 3120244"/>
                <a:gd name="connsiteX3" fmla="*/ 1660991 w 2214654"/>
                <a:gd name="connsiteY3" fmla="*/ 3120244 h 3120244"/>
                <a:gd name="connsiteX4" fmla="*/ 0 w 2214654"/>
                <a:gd name="connsiteY4" fmla="*/ 3120244 h 3120244"/>
                <a:gd name="connsiteX0" fmla="*/ 0 w 1784436"/>
                <a:gd name="connsiteY0" fmla="*/ 1941063 h 1941063"/>
                <a:gd name="connsiteX1" fmla="*/ 341522 w 1784436"/>
                <a:gd name="connsiteY1" fmla="*/ 0 h 1941063"/>
                <a:gd name="connsiteX2" fmla="*/ 1784436 w 1784436"/>
                <a:gd name="connsiteY2" fmla="*/ 1205605 h 1941063"/>
                <a:gd name="connsiteX3" fmla="*/ 1660991 w 1784436"/>
                <a:gd name="connsiteY3" fmla="*/ 1941063 h 1941063"/>
                <a:gd name="connsiteX4" fmla="*/ 0 w 1784436"/>
                <a:gd name="connsiteY4" fmla="*/ 1941063 h 194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4436" h="1941063">
                  <a:moveTo>
                    <a:pt x="0" y="1941063"/>
                  </a:moveTo>
                  <a:lnTo>
                    <a:pt x="341522" y="0"/>
                  </a:lnTo>
                  <a:lnTo>
                    <a:pt x="1784436" y="1205605"/>
                  </a:lnTo>
                  <a:lnTo>
                    <a:pt x="1660991" y="1941063"/>
                  </a:lnTo>
                  <a:lnTo>
                    <a:pt x="0" y="1941063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Graphic 14">
            <a:extLst>
              <a:ext uri="{FF2B5EF4-FFF2-40B4-BE49-F238E27FC236}">
                <a16:creationId xmlns:a16="http://schemas.microsoft.com/office/drawing/2014/main" id="{0B5606AF-41C6-0137-32A8-807A0A5D0D4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2126331" y="-1062392"/>
            <a:ext cx="2405080" cy="33850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AF4D5AD-886B-F49D-187E-EF188BA5C86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99000"/>
          </a:blip>
          <a:stretch>
            <a:fillRect/>
          </a:stretch>
        </p:blipFill>
        <p:spPr>
          <a:xfrm rot="5400000" flipV="1">
            <a:off x="-2602281" y="2616106"/>
            <a:ext cx="7046892" cy="1814681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DB128DF-CD31-0CEB-4D7C-71A65806236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283211" y="3743462"/>
            <a:ext cx="2080701" cy="2978013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3FF214BE-EBD1-4C75-B559-2A68D3A7182D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400000">
            <a:off x="1830037" y="6046777"/>
            <a:ext cx="419100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249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E22F56BC-829B-3BC8-96F9-8B26B69F0F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33" b="797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6D44EBC3-45F4-19C6-0AEB-16C907B4BCB5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12000">
                <a:srgbClr val="6C1D35">
                  <a:alpha val="68000"/>
                </a:srgbClr>
              </a:gs>
              <a:gs pos="77000">
                <a:schemeClr val="accent1">
                  <a:lumMod val="75000"/>
                </a:scheme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8AE63-F58B-C295-2F24-0E7B07553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10/5/24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D40798-1691-00D6-C3D9-64CC3EB82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1A835F-2749-4B9F-A9CB-5E0BF4302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BBA782F0-1339-9AD7-88E8-E482862A0C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>
            <a:off x="7112000" y="-35081"/>
            <a:ext cx="4917440" cy="6921189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955F31CF-FB2A-3612-E2CA-58665EF22E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>
            <a:off x="11268262" y="349094"/>
            <a:ext cx="2010036" cy="282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884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9A0EB9F-5240-3366-0373-E8B7C3C2A4FE}"/>
              </a:ext>
            </a:extLst>
          </p:cNvPr>
          <p:cNvSpPr/>
          <p:nvPr userDrawn="1"/>
        </p:nvSpPr>
        <p:spPr>
          <a:xfrm>
            <a:off x="0" y="-2"/>
            <a:ext cx="12230100" cy="6858001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AF7B2D7-FB34-55B3-113A-7F96DDA7A8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47"/>
          <a:stretch/>
        </p:blipFill>
        <p:spPr>
          <a:xfrm rot="16200000">
            <a:off x="2686050" y="-2686050"/>
            <a:ext cx="6858000" cy="122301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7B2BBA-3015-27B9-D210-D15544F2C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10/5/24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FAB71C-4835-3D07-2B7F-A7456A46C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DE7A9C-9AFC-99CF-42E5-627A58693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64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ECAB3E7-A192-D902-B47D-B2CC33AF3A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6764" y="1270"/>
            <a:ext cx="12073813" cy="3109189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9956ED8E-CF4D-D756-5FA9-5F3263853A9C}"/>
              </a:ext>
            </a:extLst>
          </p:cNvPr>
          <p:cNvGrpSpPr/>
          <p:nvPr userDrawn="1"/>
        </p:nvGrpSpPr>
        <p:grpSpPr>
          <a:xfrm>
            <a:off x="0" y="6438899"/>
            <a:ext cx="4425450" cy="419100"/>
            <a:chOff x="0" y="6438899"/>
            <a:chExt cx="4425450" cy="4191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185CCF7-2507-F40E-2E71-04B5C07C7F09}"/>
                </a:ext>
              </a:extLst>
            </p:cNvPr>
            <p:cNvSpPr/>
            <p:nvPr userDrawn="1"/>
          </p:nvSpPr>
          <p:spPr>
            <a:xfrm>
              <a:off x="0" y="6438900"/>
              <a:ext cx="4115884" cy="419099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ight Triangle 27">
              <a:extLst>
                <a:ext uri="{FF2B5EF4-FFF2-40B4-BE49-F238E27FC236}">
                  <a16:creationId xmlns:a16="http://schemas.microsoft.com/office/drawing/2014/main" id="{891B4BFE-7090-CB15-ACE2-E76D3D5E6402}"/>
                </a:ext>
              </a:extLst>
            </p:cNvPr>
            <p:cNvSpPr/>
            <p:nvPr userDrawn="1"/>
          </p:nvSpPr>
          <p:spPr>
            <a:xfrm>
              <a:off x="4115884" y="6438899"/>
              <a:ext cx="309566" cy="419100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796ACF-1284-B0D3-20AC-1A411B0BC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47751"/>
            <a:ext cx="10515600" cy="1500187"/>
          </a:xfrm>
        </p:spPr>
        <p:txBody>
          <a:bodyPr anchor="t">
            <a:normAutofit/>
          </a:bodyPr>
          <a:lstStyle>
            <a:lvl1pPr>
              <a:defRPr sz="4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E66E6B-CFF2-F241-A3D1-4FD4DAC4F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814638"/>
            <a:ext cx="10515600" cy="33575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6DBAF-8EC8-76B5-BD68-4EE498D12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10/5/24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C1A71-0977-DB43-6672-9DD2B43F0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1AA75-9A52-677C-BAAB-361020BE4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CA6469-707B-4B2D-CE38-C2E80563F89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DB94ABDC-D409-D0CF-BFD9-E874B46B7EEF}"/>
              </a:ext>
            </a:extLst>
          </p:cNvPr>
          <p:cNvGrpSpPr/>
          <p:nvPr userDrawn="1"/>
        </p:nvGrpSpPr>
        <p:grpSpPr>
          <a:xfrm>
            <a:off x="0" y="0"/>
            <a:ext cx="2135014" cy="390908"/>
            <a:chOff x="0" y="0"/>
            <a:chExt cx="2135014" cy="39090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5CC8F0A-14AF-F65B-6D14-A51CBEFF1729}"/>
                </a:ext>
              </a:extLst>
            </p:cNvPr>
            <p:cNvSpPr/>
            <p:nvPr userDrawn="1"/>
          </p:nvSpPr>
          <p:spPr>
            <a:xfrm>
              <a:off x="0" y="1"/>
              <a:ext cx="1921715" cy="390907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ight Triangle 22">
              <a:extLst>
                <a:ext uri="{FF2B5EF4-FFF2-40B4-BE49-F238E27FC236}">
                  <a16:creationId xmlns:a16="http://schemas.microsoft.com/office/drawing/2014/main" id="{7D170A48-ED14-4722-ED48-412F8B7C44AA}"/>
                </a:ext>
              </a:extLst>
            </p:cNvPr>
            <p:cNvSpPr/>
            <p:nvPr userDrawn="1"/>
          </p:nvSpPr>
          <p:spPr>
            <a:xfrm flipV="1">
              <a:off x="1921715" y="0"/>
              <a:ext cx="213299" cy="390907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4B6D801-7EDC-E981-F405-040472A43AB5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90F7BDA-9A67-4500-FC96-D0DCA5669FC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6D3808A-7510-8E14-D035-56A7CA6C58A0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226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45FB79D-2789-2E82-ACD5-FA141CFFB8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6764" y="1270"/>
            <a:ext cx="12073813" cy="31091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06C3F4-36B0-1561-8EFF-3B31A7774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81125"/>
          </a:xfrm>
        </p:spPr>
        <p:txBody>
          <a:bodyPr anchor="t">
            <a:normAutofit/>
          </a:bodyPr>
          <a:lstStyle>
            <a:lvl1pPr algn="l">
              <a:defRPr sz="4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C4E23C-BC64-3E31-C7C9-1CCB71C59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8"/>
            <a:ext cx="9144000" cy="346175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AAB4A-F681-D1CE-536F-A8600B878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10/5/24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2C815-2D69-C272-C63C-A195EBFE3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7A072-5E8E-BDBB-35CA-3A355E5D5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C1D35"/>
                </a:solidFill>
              </a:defRPr>
            </a:lvl1pPr>
          </a:lstStyle>
          <a:p>
            <a:fld id="{B5912E74-8957-4046-8937-1199D066517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FB2FEB-1CDE-753F-3231-2131ED23FF1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60EA2A08-0768-E840-71C5-CB5BA198C844}"/>
              </a:ext>
            </a:extLst>
          </p:cNvPr>
          <p:cNvGrpSpPr/>
          <p:nvPr userDrawn="1"/>
        </p:nvGrpSpPr>
        <p:grpSpPr>
          <a:xfrm>
            <a:off x="0" y="336866"/>
            <a:ext cx="838200" cy="390908"/>
            <a:chOff x="0" y="585597"/>
            <a:chExt cx="838200" cy="390908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7FE56D3-CDFF-99C8-081E-21872711345C}"/>
                </a:ext>
              </a:extLst>
            </p:cNvPr>
            <p:cNvSpPr/>
            <p:nvPr userDrawn="1"/>
          </p:nvSpPr>
          <p:spPr>
            <a:xfrm>
              <a:off x="0" y="585598"/>
              <a:ext cx="624901" cy="390907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ight Triangle 22">
              <a:extLst>
                <a:ext uri="{FF2B5EF4-FFF2-40B4-BE49-F238E27FC236}">
                  <a16:creationId xmlns:a16="http://schemas.microsoft.com/office/drawing/2014/main" id="{55D81439-E4CF-3498-4773-82E6A34DB949}"/>
                </a:ext>
              </a:extLst>
            </p:cNvPr>
            <p:cNvSpPr/>
            <p:nvPr userDrawn="1"/>
          </p:nvSpPr>
          <p:spPr>
            <a:xfrm flipV="1">
              <a:off x="624901" y="585597"/>
              <a:ext cx="213299" cy="390907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F56CB3B-27D6-0844-017F-CFA08F52311B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45E31CA-977D-9659-5E4D-1E4EC75ABA70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B4385F2-2245-0F8C-C446-564E2DE5084A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5987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5386308-8E2B-C701-D9C5-CFF5B6D9F8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8221F6-B30E-6574-4F98-77B2C4903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6BEFF-E786-80CC-C462-EC9F1C9C3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6CF37-673E-EFC4-46AD-C8B8CC64E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10/5/24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B8A85-2B88-6B89-6CF8-4D396AB7B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4774E-879A-AA6A-5AEF-0FD775B97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F9B18A-4C13-213C-5ECD-7D00902A82F8}"/>
              </a:ext>
            </a:extLst>
          </p:cNvPr>
          <p:cNvSpPr/>
          <p:nvPr userDrawn="1"/>
        </p:nvSpPr>
        <p:spPr>
          <a:xfrm>
            <a:off x="3894421" y="21431"/>
            <a:ext cx="4460168" cy="256507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A0DAC0-1D7C-425C-A3EA-189775AB007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3A6FB34-FC21-998E-F2ED-B41CC15A4311}"/>
              </a:ext>
            </a:extLst>
          </p:cNvPr>
          <p:cNvSpPr/>
          <p:nvPr userDrawn="1"/>
        </p:nvSpPr>
        <p:spPr>
          <a:xfrm>
            <a:off x="-1" y="6808662"/>
            <a:ext cx="12249013" cy="1089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91E5DFC-83E6-86F2-21A3-C9353A831D94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E6CDA0-D409-8B80-7C3D-EE78328F12C7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1DCC3F2-36B2-C662-DECB-01503AFCAA9E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48066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60D2230-4C54-C188-62C4-95CC76262B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466CAA0-852B-2260-4E79-4DCDC5D3C474}"/>
              </a:ext>
            </a:extLst>
          </p:cNvPr>
          <p:cNvSpPr/>
          <p:nvPr userDrawn="1"/>
        </p:nvSpPr>
        <p:spPr>
          <a:xfrm>
            <a:off x="-38100" y="1690688"/>
            <a:ext cx="12230100" cy="5167312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D09984-B07C-717A-A1FC-A0212B127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56CC2-F4AE-C871-25CA-0693B8E51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04C4D5-028B-CF4F-DB83-2E7DAE1451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84ECB3-6230-1C4A-4271-8B1B329A9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10/5/24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0EBE9-6EE3-30E5-37E9-966CEBBA4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D42C9F-71DE-08A3-B2D8-60F040A88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1BACEB-C3CA-5C73-C1CD-7E28828923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32450C2-7E85-EAB2-8C8F-8B13B9657507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593644A-0A35-6B8C-F216-AC1945DFC79E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A806244-EF9A-642C-8573-A2BFA17DB33E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536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F169F28-4F60-04EA-2355-80F723258D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6764" y="1270"/>
            <a:ext cx="12073813" cy="31091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D3BD4A-F379-8CFF-EBD6-707DD0E70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59623-7488-E134-22F1-5329048ED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9D7D39-C4CD-9439-3408-FF0BFA1B1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750B8F-83C3-D985-5919-F1A3FDF4D0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CCF953-DD56-9B85-AB4B-B9C9F0FF06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D25C81-2863-04F8-8182-D218BA273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10/5/24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A521E1-8180-A360-8696-A84620A87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3D6C59-8054-7190-9FD8-FAA59634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023B567-24C2-C088-6F75-913992BE2D8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32B20C0-22D4-422D-2940-7F540F191BF7}"/>
              </a:ext>
            </a:extLst>
          </p:cNvPr>
          <p:cNvSpPr/>
          <p:nvPr userDrawn="1"/>
        </p:nvSpPr>
        <p:spPr>
          <a:xfrm>
            <a:off x="6764" y="342265"/>
            <a:ext cx="10269639" cy="45719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870257A-EF80-EF1A-EE95-68EB9FBC2F71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AEA7E83-8757-44B8-B8ED-EFD855548FA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603E4A3-2F29-E99E-59AA-19FD2D71718A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0199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C5A05E41-FECA-555C-4DA5-FBDABE88EA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6764" y="1270"/>
            <a:ext cx="12073813" cy="310918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EFDB3D2-BABB-4614-ACBD-74206D54EFA7}"/>
              </a:ext>
            </a:extLst>
          </p:cNvPr>
          <p:cNvGrpSpPr/>
          <p:nvPr userDrawn="1"/>
        </p:nvGrpSpPr>
        <p:grpSpPr>
          <a:xfrm flipH="1">
            <a:off x="8896479" y="6438899"/>
            <a:ext cx="3295521" cy="419101"/>
            <a:chOff x="0" y="6438899"/>
            <a:chExt cx="4425450" cy="4191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3C9DBE5-42FF-593C-82CE-C4B2774E3AD0}"/>
                </a:ext>
              </a:extLst>
            </p:cNvPr>
            <p:cNvSpPr/>
            <p:nvPr userDrawn="1"/>
          </p:nvSpPr>
          <p:spPr>
            <a:xfrm>
              <a:off x="0" y="6438900"/>
              <a:ext cx="4115884" cy="419099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ight Triangle 14">
              <a:extLst>
                <a:ext uri="{FF2B5EF4-FFF2-40B4-BE49-F238E27FC236}">
                  <a16:creationId xmlns:a16="http://schemas.microsoft.com/office/drawing/2014/main" id="{D8516993-C2D5-28D4-6E6E-D3A5B19FD20F}"/>
                </a:ext>
              </a:extLst>
            </p:cNvPr>
            <p:cNvSpPr/>
            <p:nvPr userDrawn="1"/>
          </p:nvSpPr>
          <p:spPr>
            <a:xfrm>
              <a:off x="4115884" y="6438899"/>
              <a:ext cx="309566" cy="419100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EB218D0-0E4A-6601-1430-D75D1D898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4974" y="2766218"/>
            <a:ext cx="105156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407DD1-72E8-53B4-A8B5-16105BC66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10/5/24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621DE3-618B-CDA6-C30A-1DB7F4E9C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568125-E5E8-EEE2-D064-3848DBBA6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F13517-FB38-BE9B-5A77-235BBF8CE8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715FA5D2-1257-770C-1E2F-2CCA5238FD2A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9FA834-B150-3245-D347-588904243A5E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8EF11FA-4280-83FF-5E5F-70581310F2C4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1669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C80EC996-29B5-35CD-CAA8-09FAAB535A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4713261" y="1270"/>
            <a:ext cx="7112053" cy="183146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4E085B5-6456-E991-6904-BB25D1005185}"/>
              </a:ext>
            </a:extLst>
          </p:cNvPr>
          <p:cNvSpPr/>
          <p:nvPr userDrawn="1"/>
        </p:nvSpPr>
        <p:spPr>
          <a:xfrm>
            <a:off x="-38099" y="0"/>
            <a:ext cx="4764088" cy="6858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B5AF6C-3A58-DD89-B778-7C9B4E493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771969" cy="1600200"/>
          </a:xfrm>
        </p:spPr>
        <p:txBody>
          <a:bodyPr anchor="b">
            <a:normAutofit/>
          </a:bodyPr>
          <a:lstStyle>
            <a:lvl1pPr>
              <a:defRPr sz="28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30643-5DEF-0301-05FB-43BFE7810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C84E7D-D23B-8AA6-561F-6482F0A12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77196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0D1C3-135E-09A0-2E54-EFBC9A5D9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10/5/24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E11F67-329D-954C-CD5C-1AA093EC2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5EB87E-06D7-61E3-D9E0-49BF14B3E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8EA7C3-CAA4-9F46-F633-CAA69D61B61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DD1F696-3383-CCD0-5F6F-4B9E89375262}"/>
              </a:ext>
            </a:extLst>
          </p:cNvPr>
          <p:cNvSpPr/>
          <p:nvPr userDrawn="1"/>
        </p:nvSpPr>
        <p:spPr>
          <a:xfrm rot="5400000">
            <a:off x="1324286" y="3399184"/>
            <a:ext cx="6858000" cy="596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7DF8517-697A-D659-D645-CCC025297F18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28F6DD2-968A-9801-9B22-22DBD1C894E0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F835E16-0810-A050-7387-E04FC0CFD8C9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01097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BDE0F43-CB86-1C9B-53B1-54930B9BBD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8C0B1-8B0B-33DB-42B1-6BBD5950D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10/5/24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F86FD-0946-30C8-BC74-577779A4D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CEAC2-352E-92E4-C579-C2A59B694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A7D5CF-8052-62A2-8652-9E5660A058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7CEA865B-9359-931D-9136-36413785F784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90C6828-16EB-91B9-7078-52ADFDC0F2F1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BEA9D62-1A2E-5482-2A68-9FCEFEB913F9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96132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-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86208AF-0FB5-0709-9E4A-86BB9C81B267}"/>
              </a:ext>
            </a:extLst>
          </p:cNvPr>
          <p:cNvSpPr/>
          <p:nvPr userDrawn="1"/>
        </p:nvSpPr>
        <p:spPr>
          <a:xfrm>
            <a:off x="-38100" y="0"/>
            <a:ext cx="12230100" cy="6858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7D46B25-0C92-A630-DD9E-0DC228627926}"/>
              </a:ext>
            </a:extLst>
          </p:cNvPr>
          <p:cNvGrpSpPr/>
          <p:nvPr userDrawn="1"/>
        </p:nvGrpSpPr>
        <p:grpSpPr>
          <a:xfrm>
            <a:off x="7180119" y="6473574"/>
            <a:ext cx="5011881" cy="390911"/>
            <a:chOff x="7180118" y="6489891"/>
            <a:chExt cx="5011881" cy="39091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A51D9DD-D54B-BD6E-1FC0-1E96064A7DD4}"/>
                </a:ext>
              </a:extLst>
            </p:cNvPr>
            <p:cNvSpPr/>
            <p:nvPr userDrawn="1"/>
          </p:nvSpPr>
          <p:spPr>
            <a:xfrm rot="10800000">
              <a:off x="7393415" y="6489891"/>
              <a:ext cx="4798584" cy="3909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B12D63A4-B45F-D7EE-07AE-ED4F2AA9FBF6}"/>
                </a:ext>
              </a:extLst>
            </p:cNvPr>
            <p:cNvSpPr/>
            <p:nvPr userDrawn="1"/>
          </p:nvSpPr>
          <p:spPr>
            <a:xfrm rot="10800000" flipV="1">
              <a:off x="7180118" y="6489895"/>
              <a:ext cx="213299" cy="390907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CE4DBBFF-D866-CE38-8CC8-48E42BA7EF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220" y="283589"/>
            <a:ext cx="1470825" cy="49746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8C0B1-8B0B-33DB-42B1-6BBD5950D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10/5/24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F86FD-0946-30C8-BC74-577779A4D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CEAC2-352E-92E4-C579-C2A59B694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EECA337-96B6-AF15-88CE-5A1B9B8EBDB6}"/>
              </a:ext>
            </a:extLst>
          </p:cNvPr>
          <p:cNvGrpSpPr/>
          <p:nvPr userDrawn="1"/>
        </p:nvGrpSpPr>
        <p:grpSpPr>
          <a:xfrm>
            <a:off x="-58882" y="0"/>
            <a:ext cx="2130820" cy="390908"/>
            <a:chOff x="-58882" y="0"/>
            <a:chExt cx="2130820" cy="39090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55327DB-3941-6535-2638-26DDF5148B23}"/>
                </a:ext>
              </a:extLst>
            </p:cNvPr>
            <p:cNvSpPr/>
            <p:nvPr userDrawn="1"/>
          </p:nvSpPr>
          <p:spPr>
            <a:xfrm>
              <a:off x="-58882" y="1"/>
              <a:ext cx="1921715" cy="3909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ight Triangle 13">
              <a:extLst>
                <a:ext uri="{FF2B5EF4-FFF2-40B4-BE49-F238E27FC236}">
                  <a16:creationId xmlns:a16="http://schemas.microsoft.com/office/drawing/2014/main" id="{751988F2-DBDB-53FA-2E8B-DE674D6D2B6A}"/>
                </a:ext>
              </a:extLst>
            </p:cNvPr>
            <p:cNvSpPr/>
            <p:nvPr userDrawn="1"/>
          </p:nvSpPr>
          <p:spPr>
            <a:xfrm flipV="1">
              <a:off x="1858639" y="0"/>
              <a:ext cx="213299" cy="390907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5B451E3-7C30-F7E8-27F1-20A1711850CE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F9E3A6-8792-EBEF-E21F-6506CA347F7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2D7814D-56F3-7C85-157F-E73DAB5F0429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2828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450D105-3168-9AA2-1E36-18264E43F5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3EA9C-34EA-199C-CEF0-8463AAE7D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10/5/24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D9ED6-2507-9043-2434-14990C290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5142B-2BCF-3584-CF46-5568AF239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117FA9-E26A-4F12-3480-6499E26C73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2F26ABC-4A2D-3F29-949F-D733E61C91B2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ED001F-8063-F3C7-2FEF-E453A15D6F8A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8584E66-4123-80C8-F229-404A09AEC330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812957FA-0954-130C-016A-4BAA3351102F}"/>
              </a:ext>
            </a:extLst>
          </p:cNvPr>
          <p:cNvSpPr/>
          <p:nvPr userDrawn="1"/>
        </p:nvSpPr>
        <p:spPr>
          <a:xfrm rot="5400000">
            <a:off x="6073139" y="761174"/>
            <a:ext cx="45719" cy="12192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B5F1816-5F6B-7928-15B1-1910931B2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781051"/>
            <a:ext cx="105156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433504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450D105-3168-9AA2-1E36-18264E43F5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3EA9C-34EA-199C-CEF0-8463AAE7D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10/5/24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D9ED6-2507-9043-2434-14990C290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5142B-2BCF-3584-CF46-5568AF239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117FA9-E26A-4F12-3480-6499E26C73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2F26ABC-4A2D-3F29-949F-D733E61C91B2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ED001F-8063-F3C7-2FEF-E453A15D6F8A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8584E66-4123-80C8-F229-404A09AEC330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CAE4AFB9-D289-5BB8-FC6E-3A98AE611BFD}"/>
              </a:ext>
            </a:extLst>
          </p:cNvPr>
          <p:cNvSpPr/>
          <p:nvPr userDrawn="1"/>
        </p:nvSpPr>
        <p:spPr>
          <a:xfrm rot="5400000">
            <a:off x="6079906" y="-6086095"/>
            <a:ext cx="45719" cy="12192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59C5E7F-48AB-BACC-5157-81B702629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781051"/>
            <a:ext cx="105156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886618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yout20">
    <p:bg>
      <p:bgPr>
        <a:solidFill>
          <a:srgbClr val="4B47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1AA9A-AEC4-6046-A3F2-5369021A3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475A35-BAA4-3243-952D-99C48B8346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F781150-1FB5-914F-8F90-3BA38EB3A9B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C836B4-5E2D-D94D-B92C-56626921C682}"/>
              </a:ext>
            </a:extLst>
          </p:cNvPr>
          <p:cNvCxnSpPr/>
          <p:nvPr userDrawn="1"/>
        </p:nvCxnSpPr>
        <p:spPr>
          <a:xfrm>
            <a:off x="-12700" y="10160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1046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19975F-708A-F234-4722-AEB234342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7F26E-314A-B65E-03F9-0EADD49DA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C2CC6-2915-3AF9-A194-7961055772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959E7-45DE-4A2D-ACFD-0D8C8BBAB79F}" type="datetimeFigureOut">
              <a:rPr lang="en-US" smtClean="0"/>
              <a:t>10/5/24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4C745-1356-0A9F-002D-66D467AF4D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9A2B0-BC9C-678A-D6F9-6A0D62CAA9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553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6" r:id="rId3"/>
    <p:sldLayoutId id="2147483662" r:id="rId4"/>
    <p:sldLayoutId id="2147483651" r:id="rId5"/>
    <p:sldLayoutId id="2147483649" r:id="rId6"/>
    <p:sldLayoutId id="2147483650" r:id="rId7"/>
    <p:sldLayoutId id="2147483652" r:id="rId8"/>
    <p:sldLayoutId id="2147483653" r:id="rId9"/>
    <p:sldLayoutId id="2147483654" r:id="rId10"/>
    <p:sldLayoutId id="2147483656" r:id="rId11"/>
    <p:sldLayoutId id="2147483655" r:id="rId12"/>
    <p:sldLayoutId id="2147483660" r:id="rId13"/>
    <p:sldLayoutId id="2147483657" r:id="rId14"/>
    <p:sldLayoutId id="2147483663" r:id="rId15"/>
    <p:sldLayoutId id="2147483668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AD0E23-96B9-5B33-C4F6-4DBCE5F54F96}"/>
              </a:ext>
            </a:extLst>
          </p:cNvPr>
          <p:cNvSpPr txBox="1"/>
          <p:nvPr/>
        </p:nvSpPr>
        <p:spPr>
          <a:xfrm>
            <a:off x="1727700" y="3145893"/>
            <a:ext cx="8344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3200" spc="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TOPIC 3 | RELATIONAL ALGEBRA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102EFA-FD94-7D1F-B76C-45B63CEC7823}"/>
              </a:ext>
            </a:extLst>
          </p:cNvPr>
          <p:cNvSpPr txBox="1"/>
          <p:nvPr/>
        </p:nvSpPr>
        <p:spPr>
          <a:xfrm>
            <a:off x="1664969" y="2222563"/>
            <a:ext cx="109636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kern="0" dirty="0">
                <a:solidFill>
                  <a:srgbClr val="6C1D35"/>
                </a:solidFill>
              </a:rPr>
              <a:t>SECD2523 DATABASE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0A5E36-46DF-4261-B2A9-84180659C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7149" y="599516"/>
            <a:ext cx="2249407" cy="75189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DAB95FE-9FB6-3175-C6AD-6B6A256E7A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429" y="6352942"/>
            <a:ext cx="2136771" cy="1608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72DD83-1D7D-D9BF-F0F3-053EE3201597}"/>
              </a:ext>
            </a:extLst>
          </p:cNvPr>
          <p:cNvSpPr txBox="1"/>
          <p:nvPr/>
        </p:nvSpPr>
        <p:spPr>
          <a:xfrm>
            <a:off x="805543" y="5858374"/>
            <a:ext cx="1067888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1400" dirty="0">
                <a:solidFill>
                  <a:schemeClr val="tx1"/>
                </a:solidFill>
                <a:latin typeface="Verdana"/>
                <a:ea typeface="Verdana" panose="020B0604030504040204" pitchFamily="34" charset="0"/>
                <a:cs typeface="Verdana" panose="020B0604030504040204" pitchFamily="34" charset="0"/>
              </a:rPr>
              <a:t>Content adapted from </a:t>
            </a:r>
            <a:r>
              <a:rPr lang="en-MY" sz="1400" dirty="0">
                <a:effectLst/>
                <a:latin typeface="Helvetica" pitchFamily="2" charset="0"/>
              </a:rPr>
              <a:t>Connolly, T., </a:t>
            </a:r>
            <a:r>
              <a:rPr lang="en-MY" sz="1400" dirty="0" err="1">
                <a:effectLst/>
                <a:latin typeface="Helvetica" pitchFamily="2" charset="0"/>
              </a:rPr>
              <a:t>Begg</a:t>
            </a:r>
            <a:r>
              <a:rPr lang="en-MY" sz="1400" dirty="0">
                <a:effectLst/>
                <a:latin typeface="Helvetica" pitchFamily="2" charset="0"/>
              </a:rPr>
              <a:t>, C., 2015. Database Systems: A Practical Approach to Design, Implementation, and Management, Global Edition. Pearson Education.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3746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86133-417D-9582-AD5C-C9B40323D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LEARNING OUTCOME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2E07F62-62EA-F0CE-56B7-24048F3E2214}"/>
              </a:ext>
            </a:extLst>
          </p:cNvPr>
          <p:cNvGrpSpPr/>
          <p:nvPr/>
        </p:nvGrpSpPr>
        <p:grpSpPr>
          <a:xfrm>
            <a:off x="684135" y="2248734"/>
            <a:ext cx="10823730" cy="831763"/>
            <a:chOff x="531658" y="2405747"/>
            <a:chExt cx="10823730" cy="831763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C1F245CD-7264-D27E-FACB-A8B4DD06F1D6}"/>
                </a:ext>
              </a:extLst>
            </p:cNvPr>
            <p:cNvSpPr/>
            <p:nvPr/>
          </p:nvSpPr>
          <p:spPr>
            <a:xfrm>
              <a:off x="531658" y="2405747"/>
              <a:ext cx="10823730" cy="831763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 Placeholder 22">
              <a:extLst>
                <a:ext uri="{FF2B5EF4-FFF2-40B4-BE49-F238E27FC236}">
                  <a16:creationId xmlns:a16="http://schemas.microsoft.com/office/drawing/2014/main" id="{2F0FB714-3007-23C8-9764-E8C7159E2C4E}"/>
                </a:ext>
              </a:extLst>
            </p:cNvPr>
            <p:cNvSpPr txBox="1">
              <a:spLocks/>
            </p:cNvSpPr>
            <p:nvPr/>
          </p:nvSpPr>
          <p:spPr>
            <a:xfrm>
              <a:off x="612106" y="2569292"/>
              <a:ext cx="905786" cy="485535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b="1" dirty="0">
                  <a:solidFill>
                    <a:schemeClr val="bg1"/>
                  </a:solidFill>
                  <a:cs typeface="Arial" pitchFamily="34" charset="0"/>
                </a:rPr>
                <a:t>01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29E73F1-1DD6-8DC9-0B8E-AD1B04B34741}"/>
                </a:ext>
              </a:extLst>
            </p:cNvPr>
            <p:cNvSpPr txBox="1"/>
            <p:nvPr/>
          </p:nvSpPr>
          <p:spPr>
            <a:xfrm>
              <a:off x="1517891" y="2612004"/>
              <a:ext cx="94690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Identify relational algebra operations in relational algebra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458F1EA-447C-486C-DE06-EF8199F796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4018" y="6594272"/>
            <a:ext cx="1951264" cy="1468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CF5489-1A93-67FA-16A5-04A76546BEFF}"/>
              </a:ext>
            </a:extLst>
          </p:cNvPr>
          <p:cNvSpPr txBox="1"/>
          <p:nvPr/>
        </p:nvSpPr>
        <p:spPr>
          <a:xfrm>
            <a:off x="735527" y="1538145"/>
            <a:ext cx="6117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MY" b="1" dirty="0"/>
              <a:t>By the end of this lecture, students should be able to:</a:t>
            </a:r>
            <a:endParaRPr lang="en-MY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BFBB33D-3131-7809-BA72-A1FBCC5073AB}"/>
              </a:ext>
            </a:extLst>
          </p:cNvPr>
          <p:cNvGrpSpPr/>
          <p:nvPr/>
        </p:nvGrpSpPr>
        <p:grpSpPr>
          <a:xfrm>
            <a:off x="684135" y="3126580"/>
            <a:ext cx="10823730" cy="831763"/>
            <a:chOff x="756164" y="2867095"/>
            <a:chExt cx="10823730" cy="831763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44AC4C7-0CB4-FF63-FCB9-63FEE6F22477}"/>
                </a:ext>
              </a:extLst>
            </p:cNvPr>
            <p:cNvSpPr/>
            <p:nvPr/>
          </p:nvSpPr>
          <p:spPr>
            <a:xfrm>
              <a:off x="756164" y="2867095"/>
              <a:ext cx="10823730" cy="831763"/>
            </a:xfrm>
            <a:prstGeom prst="round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Text Placeholder 22">
              <a:extLst>
                <a:ext uri="{FF2B5EF4-FFF2-40B4-BE49-F238E27FC236}">
                  <a16:creationId xmlns:a16="http://schemas.microsoft.com/office/drawing/2014/main" id="{1C8EDED6-5A04-187B-A687-9F2524E0180E}"/>
                </a:ext>
              </a:extLst>
            </p:cNvPr>
            <p:cNvSpPr txBox="1">
              <a:spLocks/>
            </p:cNvSpPr>
            <p:nvPr/>
          </p:nvSpPr>
          <p:spPr>
            <a:xfrm>
              <a:off x="836612" y="3030640"/>
              <a:ext cx="905786" cy="485535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b="1" dirty="0">
                  <a:solidFill>
                    <a:schemeClr val="bg1"/>
                  </a:solidFill>
                  <a:cs typeface="Arial" pitchFamily="34" charset="0"/>
                </a:rPr>
                <a:t>02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6D76F8F-9451-9946-9AC6-6A4DC9337D85}"/>
                </a:ext>
              </a:extLst>
            </p:cNvPr>
            <p:cNvSpPr txBox="1"/>
            <p:nvPr/>
          </p:nvSpPr>
          <p:spPr>
            <a:xfrm>
              <a:off x="1742396" y="3059139"/>
              <a:ext cx="94690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Construct relational algebra statement to query relational database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3206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676C0D4F-9C0D-1226-55EF-3FC57A1C6621}"/>
              </a:ext>
            </a:extLst>
          </p:cNvPr>
          <p:cNvGrpSpPr/>
          <p:nvPr/>
        </p:nvGrpSpPr>
        <p:grpSpPr>
          <a:xfrm>
            <a:off x="5114018" y="527108"/>
            <a:ext cx="6322244" cy="646331"/>
            <a:chOff x="5114018" y="1211238"/>
            <a:chExt cx="6322244" cy="64633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03A9152-69B0-736A-2CFE-04A297940E6A}"/>
                </a:ext>
              </a:extLst>
            </p:cNvPr>
            <p:cNvSpPr txBox="1"/>
            <p:nvPr/>
          </p:nvSpPr>
          <p:spPr>
            <a:xfrm>
              <a:off x="6052351" y="1334348"/>
              <a:ext cx="5383911" cy="4001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000" b="1" dirty="0">
                  <a:cs typeface="Arial" pitchFamily="34" charset="0"/>
                </a:rPr>
                <a:t>INTRODUCTION</a:t>
              </a:r>
              <a:endParaRPr lang="ko-KR" altLang="en-US" sz="2000" b="1" dirty="0">
                <a:cs typeface="Arial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25BDAC7-AF3F-67DF-4F18-78B7C660723C}"/>
                </a:ext>
              </a:extLst>
            </p:cNvPr>
            <p:cNvSpPr txBox="1"/>
            <p:nvPr/>
          </p:nvSpPr>
          <p:spPr>
            <a:xfrm>
              <a:off x="5114018" y="1211238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cs typeface="Arial" pitchFamily="34" charset="0"/>
                </a:rPr>
                <a:t>01</a:t>
              </a:r>
              <a:endParaRPr lang="ko-KR" altLang="en-US" sz="3600" b="1" dirty="0">
                <a:cs typeface="Arial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7992FEA-767E-43B2-CB98-676A6AECBC97}"/>
              </a:ext>
            </a:extLst>
          </p:cNvPr>
          <p:cNvGrpSpPr/>
          <p:nvPr/>
        </p:nvGrpSpPr>
        <p:grpSpPr>
          <a:xfrm>
            <a:off x="5114018" y="1235606"/>
            <a:ext cx="6000670" cy="1788322"/>
            <a:chOff x="5114018" y="2650449"/>
            <a:chExt cx="6000670" cy="1788322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E4484E9-F589-F0D0-E711-BD1AD2477BB3}"/>
                </a:ext>
              </a:extLst>
            </p:cNvPr>
            <p:cNvSpPr txBox="1"/>
            <p:nvPr/>
          </p:nvSpPr>
          <p:spPr>
            <a:xfrm>
              <a:off x="6052351" y="2746000"/>
              <a:ext cx="5062337" cy="169277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000" b="1" dirty="0">
                  <a:cs typeface="Arial" pitchFamily="34" charset="0"/>
                </a:rPr>
                <a:t>RELATIONAL ALGEBRA OPERATIONS I</a:t>
              </a:r>
            </a:p>
            <a:p>
              <a:pPr marL="98425"/>
              <a:r>
                <a:rPr lang="en-US" altLang="ko-KR" sz="1400" i="1" dirty="0">
                  <a:cs typeface="Arial" pitchFamily="34" charset="0"/>
                </a:rPr>
                <a:t>Selection</a:t>
              </a:r>
            </a:p>
            <a:p>
              <a:pPr marL="98425"/>
              <a:r>
                <a:rPr lang="en-US" altLang="ko-KR" sz="1400" i="1" dirty="0">
                  <a:cs typeface="Arial" pitchFamily="34" charset="0"/>
                </a:rPr>
                <a:t>Projection</a:t>
              </a:r>
            </a:p>
            <a:p>
              <a:pPr marL="98425"/>
              <a:r>
                <a:rPr lang="en-US" altLang="ko-KR" sz="1400" i="1" dirty="0">
                  <a:cs typeface="Arial" pitchFamily="34" charset="0"/>
                </a:rPr>
                <a:t>Union</a:t>
              </a:r>
            </a:p>
            <a:p>
              <a:pPr marL="98425"/>
              <a:r>
                <a:rPr lang="en-US" altLang="ko-KR" sz="1400" i="1" dirty="0">
                  <a:cs typeface="Arial" pitchFamily="34" charset="0"/>
                </a:rPr>
                <a:t>Set Difference</a:t>
              </a:r>
            </a:p>
            <a:p>
              <a:pPr marL="98425"/>
              <a:r>
                <a:rPr lang="en-US" altLang="ko-KR" sz="1400" i="1" dirty="0">
                  <a:cs typeface="Arial" pitchFamily="34" charset="0"/>
                </a:rPr>
                <a:t>Intersection</a:t>
              </a:r>
            </a:p>
            <a:p>
              <a:pPr marL="98425"/>
              <a:r>
                <a:rPr lang="en-US" altLang="ko-KR" sz="1400" i="1" dirty="0">
                  <a:cs typeface="Arial" pitchFamily="34" charset="0"/>
                </a:rPr>
                <a:t>Cartesian Product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08DE2FE-EE81-76C5-D3F5-E4AFA05286F0}"/>
                </a:ext>
              </a:extLst>
            </p:cNvPr>
            <p:cNvSpPr txBox="1"/>
            <p:nvPr/>
          </p:nvSpPr>
          <p:spPr>
            <a:xfrm>
              <a:off x="5114018" y="2650449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cs typeface="Arial" pitchFamily="34" charset="0"/>
                </a:rPr>
                <a:t>02</a:t>
              </a:r>
              <a:endParaRPr lang="ko-KR" altLang="en-US" sz="3600" b="1" dirty="0">
                <a:cs typeface="Arial" pitchFamily="34" charset="0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9613243-C4DA-5CC5-7318-211CCB5D3BA1}"/>
              </a:ext>
            </a:extLst>
          </p:cNvPr>
          <p:cNvGrpSpPr/>
          <p:nvPr/>
        </p:nvGrpSpPr>
        <p:grpSpPr>
          <a:xfrm>
            <a:off x="5114018" y="3197930"/>
            <a:ext cx="5446026" cy="646331"/>
            <a:chOff x="5292036" y="974450"/>
            <a:chExt cx="5446026" cy="646331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6B8D799-B9DD-C367-C39E-7D4C8AA8760C}"/>
                </a:ext>
              </a:extLst>
            </p:cNvPr>
            <p:cNvSpPr txBox="1"/>
            <p:nvPr/>
          </p:nvSpPr>
          <p:spPr>
            <a:xfrm>
              <a:off x="6230370" y="1100844"/>
              <a:ext cx="4507692" cy="4001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000" b="1" dirty="0">
                  <a:cs typeface="Arial" pitchFamily="34" charset="0"/>
                </a:rPr>
                <a:t>RELATIONAL ALGEBRA OPERATIONS II</a:t>
              </a:r>
              <a:endParaRPr lang="ko-KR" altLang="en-US" sz="2000" b="1" dirty="0">
                <a:cs typeface="Arial" pitchFamily="34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B653FF4-B6FB-AB93-3922-3E2C06C965CE}"/>
                </a:ext>
              </a:extLst>
            </p:cNvPr>
            <p:cNvSpPr txBox="1"/>
            <p:nvPr/>
          </p:nvSpPr>
          <p:spPr>
            <a:xfrm>
              <a:off x="5292036" y="974450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cs typeface="Arial" pitchFamily="34" charset="0"/>
                </a:rPr>
                <a:t>03</a:t>
              </a:r>
              <a:endParaRPr lang="ko-KR" altLang="en-US" sz="3600" b="1" dirty="0">
                <a:cs typeface="Arial" pitchFamily="34" charset="0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A63027A-A8CD-9E48-8312-06F52A14B3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4018" y="6594272"/>
            <a:ext cx="1951264" cy="14684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31933D3-F573-B1DE-109A-841063E04740}"/>
              </a:ext>
            </a:extLst>
          </p:cNvPr>
          <p:cNvGrpSpPr/>
          <p:nvPr/>
        </p:nvGrpSpPr>
        <p:grpSpPr>
          <a:xfrm>
            <a:off x="5114018" y="4953606"/>
            <a:ext cx="5446026" cy="646331"/>
            <a:chOff x="5292036" y="974450"/>
            <a:chExt cx="5446026" cy="64633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CA24613-6786-F397-A6D4-BC823DA25298}"/>
                </a:ext>
              </a:extLst>
            </p:cNvPr>
            <p:cNvSpPr txBox="1"/>
            <p:nvPr/>
          </p:nvSpPr>
          <p:spPr>
            <a:xfrm>
              <a:off x="6230370" y="1097560"/>
              <a:ext cx="4507692" cy="4001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000" b="1" dirty="0">
                  <a:cs typeface="Arial" pitchFamily="34" charset="0"/>
                </a:rPr>
                <a:t>RELATIONAL ALGEBRA OPERATIONS III</a:t>
              </a:r>
              <a:endParaRPr lang="ko-KR" altLang="en-US" sz="2000" b="1" dirty="0">
                <a:cs typeface="Arial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BEF3A2A-94C1-9044-E916-211EB45749FB}"/>
                </a:ext>
              </a:extLst>
            </p:cNvPr>
            <p:cNvSpPr txBox="1"/>
            <p:nvPr/>
          </p:nvSpPr>
          <p:spPr>
            <a:xfrm>
              <a:off x="5292036" y="974450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cs typeface="Arial" pitchFamily="34" charset="0"/>
                </a:rPr>
                <a:t>04</a:t>
              </a:r>
              <a:endParaRPr lang="ko-KR" altLang="en-US" sz="3600" b="1" dirty="0">
                <a:cs typeface="Arial" pitchFamily="34" charset="0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0F91F09-D112-B4A6-2728-6559595F1369}"/>
              </a:ext>
            </a:extLst>
          </p:cNvPr>
          <p:cNvSpPr txBox="1"/>
          <p:nvPr/>
        </p:nvSpPr>
        <p:spPr>
          <a:xfrm>
            <a:off x="6181642" y="3671607"/>
            <a:ext cx="165761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i="1" dirty="0">
                <a:cs typeface="Arial" pitchFamily="34" charset="0"/>
              </a:rPr>
              <a:t>Theta Join</a:t>
            </a:r>
          </a:p>
          <a:p>
            <a:r>
              <a:rPr lang="en-US" altLang="ko-KR" sz="1400" i="1" dirty="0">
                <a:cs typeface="Arial" pitchFamily="34" charset="0"/>
              </a:rPr>
              <a:t>Equijoin</a:t>
            </a:r>
          </a:p>
          <a:p>
            <a:r>
              <a:rPr lang="en-US" altLang="ko-KR" sz="1400" i="1" dirty="0">
                <a:cs typeface="Arial" pitchFamily="34" charset="0"/>
              </a:rPr>
              <a:t>Natural Join</a:t>
            </a:r>
          </a:p>
          <a:p>
            <a:r>
              <a:rPr lang="en-US" altLang="ko-KR" sz="1400" i="1" dirty="0">
                <a:cs typeface="Arial" pitchFamily="34" charset="0"/>
              </a:rPr>
              <a:t>Outer Join</a:t>
            </a:r>
          </a:p>
          <a:p>
            <a:r>
              <a:rPr lang="en-US" altLang="ko-KR" sz="1400" i="1" dirty="0" err="1">
                <a:cs typeface="Arial" pitchFamily="34" charset="0"/>
              </a:rPr>
              <a:t>Semijoin</a:t>
            </a:r>
            <a:endParaRPr lang="en-US" altLang="ko-KR" sz="1400" i="1" dirty="0">
              <a:cs typeface="Arial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92582A-E3F2-F7FD-7103-250809587DAB}"/>
              </a:ext>
            </a:extLst>
          </p:cNvPr>
          <p:cNvSpPr txBox="1"/>
          <p:nvPr/>
        </p:nvSpPr>
        <p:spPr>
          <a:xfrm>
            <a:off x="6181642" y="5454776"/>
            <a:ext cx="195126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i="1" dirty="0">
                <a:cs typeface="Arial" pitchFamily="34" charset="0"/>
              </a:rPr>
              <a:t>Division</a:t>
            </a:r>
          </a:p>
          <a:p>
            <a:r>
              <a:rPr lang="en-US" altLang="ko-KR" sz="1400" i="1" dirty="0">
                <a:cs typeface="Arial" pitchFamily="34" charset="0"/>
              </a:rPr>
              <a:t>Aggregate Operations</a:t>
            </a:r>
          </a:p>
          <a:p>
            <a:r>
              <a:rPr lang="en-US" altLang="ko-KR" sz="1400" i="1" dirty="0">
                <a:cs typeface="Arial" pitchFamily="34" charset="0"/>
              </a:rPr>
              <a:t>Grouping Operation</a:t>
            </a:r>
          </a:p>
        </p:txBody>
      </p:sp>
    </p:spTree>
    <p:extLst>
      <p:ext uri="{BB962C8B-B14F-4D97-AF65-F5344CB8AC3E}">
        <p14:creationId xmlns:p14="http://schemas.microsoft.com/office/powerpoint/2010/main" val="2699332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26">
            <a:extLst>
              <a:ext uri="{FF2B5EF4-FFF2-40B4-BE49-F238E27FC236}">
                <a16:creationId xmlns:a16="http://schemas.microsoft.com/office/drawing/2014/main" id="{8CE4E6E8-32F8-7020-9092-472BCB2C7A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8214" y="404814"/>
            <a:ext cx="7773987" cy="890587"/>
          </a:xfrm>
          <a:noFill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GB" altLang="en-US" b="1" dirty="0">
                <a:latin typeface=""/>
              </a:rPr>
              <a:t>INTRODUCTION</a:t>
            </a:r>
          </a:p>
        </p:txBody>
      </p:sp>
      <p:sp>
        <p:nvSpPr>
          <p:cNvPr id="195587" name="Rectangle 1027">
            <a:extLst>
              <a:ext uri="{FF2B5EF4-FFF2-40B4-BE49-F238E27FC236}">
                <a16:creationId xmlns:a16="http://schemas.microsoft.com/office/drawing/2014/main" id="{9280796F-77E0-B53D-0572-234C2B4C9A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3566" y="1557338"/>
            <a:ext cx="11210795" cy="4614862"/>
          </a:xfrm>
          <a:noFill/>
        </p:spPr>
        <p:txBody>
          <a:bodyPr vert="horz" lIns="90488" tIns="44450" rIns="90488" bIns="4445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GB" altLang="en-US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Data model tells us the structure of data – requires way to query the data and to modify the data </a:t>
            </a:r>
          </a:p>
          <a:p>
            <a:pPr lvl="1">
              <a:lnSpc>
                <a:spcPct val="90000"/>
              </a:lnSpc>
            </a:pPr>
            <a:r>
              <a:rPr lang="en-GB" altLang="en-US" sz="3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 need to understand the operations done on relations</a:t>
            </a:r>
          </a:p>
          <a:p>
            <a:pPr lvl="1">
              <a:lnSpc>
                <a:spcPct val="90000"/>
              </a:lnSpc>
            </a:pPr>
            <a:r>
              <a:rPr lang="en-GB" altLang="en-US" sz="3600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RELATIONAL ALGEBRA </a:t>
            </a:r>
            <a:r>
              <a:rPr lang="en-GB" altLang="en-US" sz="3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– a special algebra that consists of some simple but powerful ways to construct new relations from given relations</a:t>
            </a:r>
          </a:p>
          <a:p>
            <a:pPr lvl="1">
              <a:lnSpc>
                <a:spcPct val="90000"/>
              </a:lnSpc>
            </a:pPr>
            <a:r>
              <a:rPr lang="en-GB" altLang="en-US" sz="3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When the given relations are stored data, then the constructed relation can be answers to queries about this data</a:t>
            </a:r>
          </a:p>
          <a:p>
            <a:pPr lvl="1">
              <a:lnSpc>
                <a:spcPct val="90000"/>
              </a:lnSpc>
            </a:pPr>
            <a:endParaRPr lang="en-GB" altLang="en-US" sz="3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>
              <a:lnSpc>
                <a:spcPct val="90000"/>
              </a:lnSpc>
            </a:pPr>
            <a:endParaRPr lang="en-GB" altLang="en-US" sz="3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2">
              <a:lnSpc>
                <a:spcPct val="90000"/>
              </a:lnSpc>
            </a:pPr>
            <a:endParaRPr lang="en-GB" altLang="en-US" sz="2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5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95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95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95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15616F20-B371-BBF2-73AB-1DE891D80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522" y="1550052"/>
            <a:ext cx="11286995" cy="4351338"/>
          </a:xfrm>
        </p:spPr>
        <p:txBody>
          <a:bodyPr>
            <a:normAutofit/>
          </a:bodyPr>
          <a:lstStyle/>
          <a:p>
            <a:r>
              <a:rPr lang="en-US" altLang="en-US" sz="4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Algebra expression– consists of </a:t>
            </a:r>
            <a:r>
              <a:rPr lang="en-US" altLang="en-US" sz="4000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operators</a:t>
            </a:r>
            <a:r>
              <a:rPr lang="en-US" altLang="en-US" sz="4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</a:t>
            </a:r>
            <a:r>
              <a:rPr lang="en-US" altLang="en-US" sz="4000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atomic operands</a:t>
            </a:r>
          </a:p>
          <a:p>
            <a:pPr lvl="1"/>
            <a:r>
              <a:rPr lang="en-US" altLang="en-US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 algebra of arithmetic, atomic operands are variables like </a:t>
            </a:r>
            <a:r>
              <a:rPr lang="en-US" altLang="en-US" sz="3600" b="1" i="1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x</a:t>
            </a:r>
            <a:r>
              <a:rPr lang="en-US" altLang="en-US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constants like </a:t>
            </a:r>
            <a:r>
              <a:rPr lang="en-US" altLang="en-US" sz="3600" i="1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15</a:t>
            </a:r>
          </a:p>
          <a:p>
            <a:pPr lvl="1"/>
            <a:r>
              <a:rPr lang="en-US" altLang="en-US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Operators are + - /  *  (examples)</a:t>
            </a:r>
          </a:p>
          <a:p>
            <a:pPr lvl="1"/>
            <a:r>
              <a:rPr lang="en-US" altLang="en-US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 algebra expressions :  </a:t>
            </a:r>
            <a:r>
              <a:rPr lang="en-US" altLang="en-US" sz="3600" b="1" i="1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(x + y) * z</a:t>
            </a:r>
          </a:p>
        </p:txBody>
      </p:sp>
      <p:sp>
        <p:nvSpPr>
          <p:cNvPr id="17411" name="Slide Number Placeholder 3">
            <a:extLst>
              <a:ext uri="{FF2B5EF4-FFF2-40B4-BE49-F238E27FC236}">
                <a16:creationId xmlns:a16="http://schemas.microsoft.com/office/drawing/2014/main" id="{F8DDAE45-094A-1635-E7E3-BBA5BABA0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87FEEA2-505C-3340-AF76-FCC6CB440FB1}" type="slidenum">
              <a:rPr lang="en-US" altLang="en-US" sz="1400">
                <a:latin typeface="Arial" panose="020B0604020202020204" pitchFamily="34" charset="0"/>
                <a:ea typeface="MS PGothic" panose="020B0600070205080204" pitchFamily="34" charset="-128"/>
              </a:rPr>
              <a:pPr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Rectangle 1026">
            <a:extLst>
              <a:ext uri="{FF2B5EF4-FFF2-40B4-BE49-F238E27FC236}">
                <a16:creationId xmlns:a16="http://schemas.microsoft.com/office/drawing/2014/main" id="{A4851F9E-3D3B-1246-7721-FC0249BAB9FB}"/>
              </a:ext>
            </a:extLst>
          </p:cNvPr>
          <p:cNvSpPr txBox="1">
            <a:spLocks noChangeArrowheads="1"/>
          </p:cNvSpPr>
          <p:nvPr/>
        </p:nvSpPr>
        <p:spPr>
          <a:xfrm>
            <a:off x="2208214" y="404814"/>
            <a:ext cx="7773987" cy="890587"/>
          </a:xfrm>
          <a:prstGeom prst="rect">
            <a:avLst/>
          </a:prstGeom>
          <a:noFill/>
        </p:spPr>
        <p:txBody>
          <a:bodyPr vert="horz" lIns="90488" tIns="44450" rIns="90488" bIns="4445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altLang="en-US" b="1" dirty="0">
                <a:latin typeface=""/>
              </a:rPr>
              <a:t>INTRODUCTION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Content Placeholder 2">
            <a:extLst>
              <a:ext uri="{FF2B5EF4-FFF2-40B4-BE49-F238E27FC236}">
                <a16:creationId xmlns:a16="http://schemas.microsoft.com/office/drawing/2014/main" id="{414B65BC-9B08-A8E8-D1CB-65C4235EA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708" y="1555750"/>
            <a:ext cx="11278122" cy="4800600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sz="4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Relational algebra – just like </a:t>
            </a:r>
            <a:r>
              <a:rPr lang="en-US" altLang="en-US" sz="4400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normal algebra </a:t>
            </a:r>
            <a:r>
              <a:rPr lang="en-US" altLang="en-US" sz="4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that consists of </a:t>
            </a:r>
            <a:r>
              <a:rPr lang="en-US" altLang="en-US" sz="4400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operators </a:t>
            </a:r>
            <a:r>
              <a:rPr lang="en-US" altLang="en-US" sz="4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and </a:t>
            </a:r>
            <a:r>
              <a:rPr lang="en-US" altLang="en-US" sz="4400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atomic operands</a:t>
            </a:r>
          </a:p>
          <a:p>
            <a:pPr lvl="1"/>
            <a:r>
              <a:rPr lang="en-US" altLang="en-US" sz="4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Atomic operands are:</a:t>
            </a:r>
          </a:p>
          <a:p>
            <a:pPr lvl="2"/>
            <a:r>
              <a:rPr lang="en-US" altLang="en-US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Variables that stand for relations</a:t>
            </a:r>
          </a:p>
          <a:p>
            <a:pPr lvl="2"/>
            <a:r>
              <a:rPr lang="en-US" altLang="en-US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Constants, which are finite relations</a:t>
            </a:r>
          </a:p>
          <a:p>
            <a:pPr lvl="1"/>
            <a:r>
              <a:rPr lang="en-US" altLang="en-US" sz="4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Operations classes:</a:t>
            </a:r>
          </a:p>
          <a:p>
            <a:pPr lvl="2"/>
            <a:r>
              <a:rPr lang="en-US" altLang="en-US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Set operations</a:t>
            </a:r>
          </a:p>
          <a:p>
            <a:pPr lvl="2"/>
            <a:r>
              <a:rPr lang="en-US" altLang="en-US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Operations that remove parts of a relation </a:t>
            </a:r>
          </a:p>
          <a:p>
            <a:pPr lvl="2"/>
            <a:r>
              <a:rPr lang="en-US" altLang="en-US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Operations that combine tuples of 2 relations</a:t>
            </a: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A11FC6A1-AC74-DD6D-0019-B4AE55D51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529C511-0A95-AF4E-9983-B6EC53DD09EE}" type="slidenum">
              <a:rPr lang="en-US" altLang="en-US" sz="1400">
                <a:latin typeface="Arial" panose="020B0604020202020204" pitchFamily="34" charset="0"/>
                <a:ea typeface="MS PGothic" panose="020B0600070205080204" pitchFamily="34" charset="-128"/>
              </a:rPr>
              <a:pPr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7172" name="Title 1">
            <a:extLst>
              <a:ext uri="{FF2B5EF4-FFF2-40B4-BE49-F238E27FC236}">
                <a16:creationId xmlns:a16="http://schemas.microsoft.com/office/drawing/2014/main" id="{22C810B0-4DBC-617B-9977-DFDED01E7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187"/>
            <a:ext cx="10515600" cy="1325563"/>
          </a:xfrm>
        </p:spPr>
        <p:txBody>
          <a:bodyPr/>
          <a:lstStyle/>
          <a:p>
            <a:r>
              <a:rPr lang="en-GB" altLang="en-US" b="1" dirty="0">
                <a:latin typeface=""/>
              </a:rPr>
              <a:t>INTRODUCTION</a:t>
            </a:r>
            <a:endParaRPr lang="en-MY" altLang="en-US" dirty="0">
              <a:latin typeface="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1284E930-8C32-F67B-7ACD-3ACB0C84A9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05839" y="320850"/>
            <a:ext cx="9039616" cy="885825"/>
          </a:xfrm>
          <a:noFill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GB" altLang="en-US" b="1" dirty="0">
                <a:latin typeface=""/>
              </a:rPr>
              <a:t>INTRODUCTION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70EFDBED-2238-854B-779E-AA7ED7E621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584" y="1427967"/>
            <a:ext cx="10919564" cy="4337050"/>
          </a:xfrm>
          <a:noFill/>
        </p:spPr>
        <p:txBody>
          <a:bodyPr vert="horz" lIns="90488" tIns="44450" rIns="90488" bIns="4445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GB" altLang="en-US" sz="3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Relational algebra operations work on one or more relations to define another relation without changing the original relations.</a:t>
            </a:r>
          </a:p>
          <a:p>
            <a:pPr>
              <a:lnSpc>
                <a:spcPct val="90000"/>
              </a:lnSpc>
            </a:pPr>
            <a:r>
              <a:rPr lang="en-GB" altLang="en-US" sz="3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Both operands and results are relations, so output from one operation can become input to another operation. </a:t>
            </a:r>
          </a:p>
          <a:p>
            <a:pPr>
              <a:lnSpc>
                <a:spcPct val="90000"/>
              </a:lnSpc>
            </a:pPr>
            <a:r>
              <a:rPr lang="en-GB" altLang="en-US" sz="3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Allows expressions to be nested (i.e. relations are closed under the algebra) - This property is called </a:t>
            </a:r>
            <a:r>
              <a:rPr lang="en-GB" altLang="en-US" sz="3200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closure</a:t>
            </a:r>
            <a:r>
              <a:rPr lang="en-GB" altLang="en-US" sz="3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3">
            <a:extLst>
              <a:ext uri="{FF2B5EF4-FFF2-40B4-BE49-F238E27FC236}">
                <a16:creationId xmlns:a16="http://schemas.microsoft.com/office/drawing/2014/main" id="{EEE534AB-F59E-8C66-C5FE-94F3A58707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3923" y="1540702"/>
            <a:ext cx="5812077" cy="4935255"/>
          </a:xfrm>
          <a:noFill/>
        </p:spPr>
        <p:txBody>
          <a:bodyPr vert="horz" lIns="90488" tIns="44450" rIns="90488" bIns="44450" rtlCol="0"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GB" alt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Five basic operations in relational algebra: </a:t>
            </a:r>
            <a:r>
              <a:rPr lang="en-GB" altLang="en-US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Selection, Projection, Cartesian Product, Union,  </a:t>
            </a:r>
            <a:r>
              <a:rPr lang="en-GB" alt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and</a:t>
            </a:r>
            <a:r>
              <a:rPr lang="en-GB" altLang="en-US" b="1" dirty="0">
                <a:solidFill>
                  <a:srgbClr val="00B0F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GB" altLang="en-US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Set Difference</a:t>
            </a:r>
            <a:r>
              <a:rPr lang="en-GB" alt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</a:t>
            </a:r>
          </a:p>
          <a:p>
            <a:pPr lvl="1">
              <a:lnSpc>
                <a:spcPct val="90000"/>
              </a:lnSpc>
            </a:pPr>
            <a:r>
              <a:rPr lang="en-GB" alt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These perform most of the data retrieval operations needed.</a:t>
            </a:r>
          </a:p>
          <a:p>
            <a:pPr>
              <a:lnSpc>
                <a:spcPct val="90000"/>
              </a:lnSpc>
            </a:pPr>
            <a:r>
              <a:rPr lang="en-GB" alt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Also have </a:t>
            </a:r>
            <a:r>
              <a:rPr lang="en-GB" altLang="en-US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Join, Intersection, </a:t>
            </a:r>
            <a:r>
              <a:rPr lang="en-GB" alt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and</a:t>
            </a:r>
            <a:r>
              <a:rPr lang="en-GB" altLang="en-US" b="1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GB" altLang="en-US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Division</a:t>
            </a:r>
            <a:r>
              <a:rPr lang="en-GB" alt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operations, which can also be expressed in terms of 5 basic operations.</a:t>
            </a:r>
          </a:p>
          <a:p>
            <a:pPr>
              <a:lnSpc>
                <a:spcPct val="90000"/>
              </a:lnSpc>
            </a:pPr>
            <a:r>
              <a:rPr lang="en-GB" altLang="en-US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Selection</a:t>
            </a:r>
            <a:r>
              <a:rPr lang="en-GB" alt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</a:t>
            </a:r>
            <a:r>
              <a:rPr lang="en-GB" altLang="en-US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Projection</a:t>
            </a:r>
            <a:r>
              <a:rPr lang="en-GB" alt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are </a:t>
            </a:r>
            <a:r>
              <a:rPr lang="en-GB" altLang="en-US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unary</a:t>
            </a:r>
            <a:r>
              <a:rPr lang="en-GB" alt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operations – operate on one relation</a:t>
            </a:r>
          </a:p>
          <a:p>
            <a:pPr lvl="1">
              <a:lnSpc>
                <a:spcPct val="90000"/>
              </a:lnSpc>
            </a:pPr>
            <a:r>
              <a:rPr lang="en-GB" alt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others are binary operations – requires pairs of relations</a:t>
            </a:r>
          </a:p>
        </p:txBody>
      </p:sp>
      <p:sp>
        <p:nvSpPr>
          <p:cNvPr id="9219" name="Title 1">
            <a:extLst>
              <a:ext uri="{FF2B5EF4-FFF2-40B4-BE49-F238E27FC236}">
                <a16:creationId xmlns:a16="http://schemas.microsoft.com/office/drawing/2014/main" id="{91C2E0CD-0EE4-7238-C86C-7A99AA3AA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6996"/>
            <a:ext cx="10515600" cy="1325563"/>
          </a:xfrm>
        </p:spPr>
        <p:txBody>
          <a:bodyPr/>
          <a:lstStyle/>
          <a:p>
            <a:r>
              <a:rPr lang="en-GB" altLang="en-US" b="1" dirty="0">
                <a:latin typeface="Times" pitchFamily="18" charset="0"/>
              </a:rPr>
              <a:t>RELATIONAL ALGEBRA</a:t>
            </a:r>
            <a:endParaRPr lang="en-MY" altLang="en-US" dirty="0"/>
          </a:p>
        </p:txBody>
      </p:sp>
      <p:pic>
        <p:nvPicPr>
          <p:cNvPr id="4" name="Picture 3" descr="A diagram of a type of operations&#10;&#10;Description automatically generated">
            <a:extLst>
              <a:ext uri="{FF2B5EF4-FFF2-40B4-BE49-F238E27FC236}">
                <a16:creationId xmlns:a16="http://schemas.microsoft.com/office/drawing/2014/main" id="{A9645A62-AC1F-376D-6BBA-133E8CC237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0093" y="1540702"/>
            <a:ext cx="6331907" cy="4577657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050">
            <a:extLst>
              <a:ext uri="{FF2B5EF4-FFF2-40B4-BE49-F238E27FC236}">
                <a16:creationId xmlns:a16="http://schemas.microsoft.com/office/drawing/2014/main" id="{F9F46C4E-5942-0C10-00A0-A8B763CC2E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63750" y="260350"/>
            <a:ext cx="7848600" cy="958850"/>
          </a:xfrm>
        </p:spPr>
        <p:txBody>
          <a:bodyPr/>
          <a:lstStyle/>
          <a:p>
            <a:r>
              <a:rPr lang="en-GB" altLang="en-US" b="1" dirty="0">
                <a:latin typeface=""/>
              </a:rPr>
              <a:t>RELATIONAL ALGEBRA</a:t>
            </a:r>
            <a:endParaRPr lang="en-GB" altLang="en-US" b="1" dirty="0">
              <a:solidFill>
                <a:srgbClr val="C00000"/>
              </a:solidFill>
              <a:latin typeface=""/>
              <a:ea typeface="Times" pitchFamily="18" charset="0"/>
              <a:cs typeface="Times" pitchFamily="18" charset="0"/>
            </a:endParaRPr>
          </a:p>
        </p:txBody>
      </p:sp>
      <p:pic>
        <p:nvPicPr>
          <p:cNvPr id="10243" name="Picture 2056" descr="C04NF01a">
            <a:extLst>
              <a:ext uri="{FF2B5EF4-FFF2-40B4-BE49-F238E27FC236}">
                <a16:creationId xmlns:a16="http://schemas.microsoft.com/office/drawing/2014/main" id="{F3CF6493-7A56-0485-18E2-8E7E537C76FB}"/>
              </a:ext>
            </a:extLst>
          </p:cNvPr>
          <p:cNvPicPr>
            <a:picLocks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09800" y="1295400"/>
            <a:ext cx="7772400" cy="5164138"/>
          </a:xfrm>
          <a:noFill/>
        </p:spPr>
      </p:pic>
    </p:spTree>
  </p:cSld>
  <p:clrMapOvr>
    <a:masterClrMapping/>
  </p:clrMapOvr>
  <p:transition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053" descr="C04NF01b">
            <a:extLst>
              <a:ext uri="{FF2B5EF4-FFF2-40B4-BE49-F238E27FC236}">
                <a16:creationId xmlns:a16="http://schemas.microsoft.com/office/drawing/2014/main" id="{BD9D1797-FAC2-DED1-16D3-4734646333BD}"/>
              </a:ext>
            </a:extLst>
          </p:cNvPr>
          <p:cNvPicPr>
            <a:picLocks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09800" y="1295400"/>
            <a:ext cx="7632700" cy="5138738"/>
          </a:xfrm>
          <a:noFill/>
        </p:spPr>
      </p:pic>
      <p:sp>
        <p:nvSpPr>
          <p:cNvPr id="11267" name="Rectangle 2050">
            <a:extLst>
              <a:ext uri="{FF2B5EF4-FFF2-40B4-BE49-F238E27FC236}">
                <a16:creationId xmlns:a16="http://schemas.microsoft.com/office/drawing/2014/main" id="{32B54A6E-8775-1AB7-284E-9F3D6B62F0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2313" y="260350"/>
            <a:ext cx="8229600" cy="998538"/>
          </a:xfrm>
        </p:spPr>
        <p:txBody>
          <a:bodyPr/>
          <a:lstStyle/>
          <a:p>
            <a:r>
              <a:rPr lang="en-GB" altLang="en-US" b="1" dirty="0">
                <a:latin typeface=""/>
              </a:rPr>
              <a:t>RELATIONAL ALGEBRA</a:t>
            </a:r>
            <a:endParaRPr lang="en-GB" altLang="en-US" b="1" dirty="0">
              <a:solidFill>
                <a:srgbClr val="C00000"/>
              </a:solidFill>
              <a:latin typeface=""/>
              <a:ea typeface="Times" pitchFamily="18" charset="0"/>
              <a:cs typeface="Times" pitchFamily="18" charset="0"/>
            </a:endParaRPr>
          </a:p>
        </p:txBody>
      </p:sp>
    </p:spTree>
  </p:cSld>
  <p:clrMapOvr>
    <a:masterClrMapping/>
  </p:clrMapOvr>
  <p:transition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>
            <a:extLst>
              <a:ext uri="{FF2B5EF4-FFF2-40B4-BE49-F238E27FC236}">
                <a16:creationId xmlns:a16="http://schemas.microsoft.com/office/drawing/2014/main" id="{6F32C6BE-5BC1-53F7-1463-9C013076E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1623" y="1371600"/>
            <a:ext cx="3816262" cy="4114800"/>
          </a:xfrm>
          <a:noFill/>
        </p:spPr>
        <p:txBody>
          <a:bodyPr vert="horz" lIns="90488" tIns="44450" rIns="90488" bIns="44450" rtlCol="0">
            <a:normAutofit/>
          </a:bodyPr>
          <a:lstStyle/>
          <a:p>
            <a:pPr marL="0" indent="0">
              <a:buNone/>
            </a:pPr>
            <a:r>
              <a:rPr lang="en-GB" alt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 will use example in Database Systems 6</a:t>
            </a:r>
            <a:r>
              <a:rPr lang="en-GB" altLang="en-US" baseline="30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</a:t>
            </a:r>
            <a:r>
              <a:rPr lang="en-GB" alt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Ed. (Connolly &amp; </a:t>
            </a:r>
            <a:r>
              <a:rPr lang="en-GB" alt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Begg</a:t>
            </a:r>
            <a:r>
              <a:rPr lang="en-GB" alt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2016).</a:t>
            </a:r>
          </a:p>
          <a:p>
            <a:pPr marL="0" indent="0">
              <a:buNone/>
            </a:pPr>
            <a:endParaRPr lang="en-GB" alt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r>
              <a:rPr lang="en-GB" alt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Figure 4.3 from Chapter 4 The Relational Model (page 160)</a:t>
            </a:r>
          </a:p>
        </p:txBody>
      </p:sp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DFC4065F-5495-CCC0-86C7-B23B502D87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2717" y="0"/>
            <a:ext cx="4673851" cy="6858000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F0991-BD72-5567-C1A9-171C243F5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463" y="0"/>
            <a:ext cx="10515600" cy="1325563"/>
          </a:xfrm>
        </p:spPr>
        <p:txBody>
          <a:bodyPr>
            <a:normAutofit/>
          </a:bodyPr>
          <a:lstStyle/>
          <a:p>
            <a:r>
              <a:rPr lang="en-GB" altLang="en-US" sz="3600" b="1" dirty="0">
                <a:latin typeface=""/>
              </a:rPr>
              <a:t>RELATIONAL ALGEBRA OPERATION I</a:t>
            </a:r>
            <a:endParaRPr lang="en-GB" sz="3600" dirty="0">
              <a:latin typeface=""/>
            </a:endParaRPr>
          </a:p>
        </p:txBody>
      </p:sp>
      <p:pic>
        <p:nvPicPr>
          <p:cNvPr id="4" name="Picture 2056" descr="C04NF01a">
            <a:extLst>
              <a:ext uri="{FF2B5EF4-FFF2-40B4-BE49-F238E27FC236}">
                <a16:creationId xmlns:a16="http://schemas.microsoft.com/office/drawing/2014/main" id="{0168ACF1-EF0F-C471-3EDB-CC9E12BC957A}"/>
              </a:ext>
            </a:extLst>
          </p:cNvPr>
          <p:cNvPicPr>
            <a:picLocks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66795" y="952955"/>
            <a:ext cx="8441497" cy="5608699"/>
          </a:xfrm>
          <a:noFill/>
        </p:spPr>
      </p:pic>
    </p:spTree>
    <p:extLst>
      <p:ext uri="{BB962C8B-B14F-4D97-AF65-F5344CB8AC3E}">
        <p14:creationId xmlns:p14="http://schemas.microsoft.com/office/powerpoint/2010/main" val="3185706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426D571-60C7-9E34-FD90-0AA8FD08D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84D85620-9F4F-9834-A492-2FD31BEEEF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99467" y="310384"/>
            <a:ext cx="7993063" cy="885825"/>
          </a:xfrm>
          <a:noFill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GB" altLang="en-US" b="1" dirty="0">
                <a:latin typeface=""/>
                <a:ea typeface="Times" pitchFamily="18" charset="0"/>
                <a:cs typeface="Times" pitchFamily="18" charset="0"/>
              </a:rPr>
              <a:t>SELECTION (</a:t>
            </a:r>
            <a:r>
              <a:rPr lang="en-GB" altLang="en-US" b="1" dirty="0">
                <a:latin typeface=""/>
                <a:sym typeface="Symbol" pitchFamily="2" charset="2"/>
              </a:rPr>
              <a:t>)</a:t>
            </a:r>
            <a:endParaRPr lang="en-GB" altLang="en-US" b="1" dirty="0">
              <a:latin typeface=""/>
              <a:ea typeface="Times" pitchFamily="18" charset="0"/>
              <a:cs typeface="Times" pitchFamily="18" charset="0"/>
            </a:endParaRP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890EE927-8510-D84E-54E8-20F6336D36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654984" y="3263183"/>
            <a:ext cx="7605545" cy="2065666"/>
          </a:xfrm>
          <a:noFill/>
        </p:spPr>
        <p:txBody>
          <a:bodyPr vert="horz" lIns="90488" tIns="44450" rIns="90488" bIns="44450" rtlCol="0">
            <a:normAutofit fontScale="92500"/>
          </a:bodyPr>
          <a:lstStyle/>
          <a:p>
            <a:pPr lvl="1" algn="just"/>
            <a:r>
              <a:rPr lang="en-GB" altLang="en-US" sz="3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Works on a </a:t>
            </a:r>
            <a:r>
              <a:rPr lang="en-GB" altLang="en-US" sz="3600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single relation R</a:t>
            </a:r>
          </a:p>
          <a:p>
            <a:pPr lvl="1" algn="just"/>
            <a:r>
              <a:rPr lang="en-GB" altLang="en-US" sz="3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Defines a relation that contains </a:t>
            </a:r>
            <a:r>
              <a:rPr lang="en-GB" altLang="en-US" sz="3600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only those tuples (rows) of R</a:t>
            </a:r>
            <a:r>
              <a:rPr lang="en-GB" altLang="en-US" sz="3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that </a:t>
            </a:r>
            <a:r>
              <a:rPr lang="en-GB" altLang="en-US" sz="3600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satisfy the specified condition (</a:t>
            </a:r>
            <a:r>
              <a:rPr lang="en-GB" altLang="en-US" sz="3600" b="1" i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predicate</a:t>
            </a:r>
            <a:r>
              <a:rPr lang="en-GB" altLang="en-US" sz="3600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).</a:t>
            </a:r>
            <a:endParaRPr lang="en-GB" altLang="en-US" sz="3200" b="1" dirty="0">
              <a:solidFill>
                <a:srgbClr val="6C1D35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006B92-CA81-7300-EB22-869ECEF59F57}"/>
              </a:ext>
            </a:extLst>
          </p:cNvPr>
          <p:cNvSpPr txBox="1">
            <a:spLocks/>
          </p:cNvSpPr>
          <p:nvPr/>
        </p:nvSpPr>
        <p:spPr>
          <a:xfrm rot="16200000">
            <a:off x="-3215290" y="3162962"/>
            <a:ext cx="6962655" cy="53207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altLang="en-US" sz="1800" b="1" dirty="0">
                <a:solidFill>
                  <a:schemeClr val="bg1"/>
                </a:solidFill>
                <a:latin typeface=""/>
              </a:rPr>
              <a:t>RELATIONAL ALGEBRA OPERATION I</a:t>
            </a:r>
            <a:endParaRPr lang="en-GB" sz="1800" dirty="0">
              <a:solidFill>
                <a:schemeClr val="bg1"/>
              </a:solidFill>
              <a:latin typeface="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6441BA9-1567-4FC9-68DE-0694B197953B}"/>
              </a:ext>
            </a:extLst>
          </p:cNvPr>
          <p:cNvSpPr/>
          <p:nvPr/>
        </p:nvSpPr>
        <p:spPr>
          <a:xfrm>
            <a:off x="4269129" y="1396982"/>
            <a:ext cx="3653738" cy="1294627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Symbol" pitchFamily="2" charset="2"/>
              </a:rPr>
              <a:t></a:t>
            </a:r>
            <a:r>
              <a:rPr lang="en-GB" altLang="en-US" sz="4800" baseline="-140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predicate</a:t>
            </a:r>
            <a:r>
              <a:rPr lang="en-GB" altLang="en-US" sz="4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(R)</a:t>
            </a:r>
          </a:p>
        </p:txBody>
      </p:sp>
      <p:pic>
        <p:nvPicPr>
          <p:cNvPr id="4" name="Picture 2056" descr="C04NF01a">
            <a:extLst>
              <a:ext uri="{FF2B5EF4-FFF2-40B4-BE49-F238E27FC236}">
                <a16:creationId xmlns:a16="http://schemas.microsoft.com/office/drawing/2014/main" id="{8C2016D3-7E19-B242-FA51-933A0BE836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813" b="59594"/>
          <a:stretch/>
        </p:blipFill>
        <p:spPr>
          <a:xfrm>
            <a:off x="1761263" y="2804286"/>
            <a:ext cx="2409903" cy="26748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0788003"/>
      </p:ext>
    </p:extLst>
  </p:cSld>
  <p:clrMapOvr>
    <a:masterClrMapping/>
  </p:clrMapOvr>
  <p:transition>
    <p:wipe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1" name="Rectangle 3">
            <a:extLst>
              <a:ext uri="{FF2B5EF4-FFF2-40B4-BE49-F238E27FC236}">
                <a16:creationId xmlns:a16="http://schemas.microsoft.com/office/drawing/2014/main" id="{E3CDFC09-453F-39FB-5773-F3FC5F7802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39554" y="1657075"/>
            <a:ext cx="10795348" cy="655529"/>
          </a:xfrm>
          <a:noFill/>
        </p:spPr>
        <p:txBody>
          <a:bodyPr vert="horz" lIns="90488" tIns="44450" rIns="90488" bIns="44450" rtlCol="0">
            <a:normAutofit/>
          </a:bodyPr>
          <a:lstStyle/>
          <a:p>
            <a:pPr marL="0" indent="0">
              <a:buNone/>
            </a:pPr>
            <a:r>
              <a:rPr lang="en-GB" altLang="en-US" sz="3600" dirty="0">
                <a:latin typeface="Times" pitchFamily="18" charset="0"/>
              </a:rPr>
              <a:t>List all staff with a salary greater than £10,000.</a:t>
            </a:r>
          </a:p>
          <a:p>
            <a:pPr marL="457200" lvl="1" indent="0">
              <a:lnSpc>
                <a:spcPct val="30000"/>
              </a:lnSpc>
              <a:buNone/>
            </a:pPr>
            <a:endParaRPr lang="en-GB" altLang="en-US" sz="3600" dirty="0">
              <a:latin typeface="Times" pitchFamily="18" charset="0"/>
            </a:endParaRPr>
          </a:p>
        </p:txBody>
      </p:sp>
      <p:pic>
        <p:nvPicPr>
          <p:cNvPr id="171013" name="Picture 5" descr="DS3-Figure 04-02">
            <a:extLst>
              <a:ext uri="{FF2B5EF4-FFF2-40B4-BE49-F238E27FC236}">
                <a16:creationId xmlns:a16="http://schemas.microsoft.com/office/drawing/2014/main" id="{3F4512F3-B318-2D27-75D7-03AADFAD97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9467" y="3115849"/>
            <a:ext cx="7620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65EB1CB1-B8E3-1D30-96F7-92EBB3ADBC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99467" y="310384"/>
            <a:ext cx="7993063" cy="885825"/>
          </a:xfrm>
          <a:noFill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GB" altLang="en-US" b="1" dirty="0">
                <a:latin typeface=""/>
                <a:ea typeface="Times" pitchFamily="18" charset="0"/>
                <a:cs typeface="Times" pitchFamily="18" charset="0"/>
              </a:rPr>
              <a:t>SELECTION (</a:t>
            </a:r>
            <a:r>
              <a:rPr lang="en-GB" altLang="en-US" b="1" dirty="0">
                <a:latin typeface=""/>
                <a:sym typeface="Symbol" pitchFamily="2" charset="2"/>
              </a:rPr>
              <a:t>)</a:t>
            </a:r>
            <a:endParaRPr lang="en-GB" altLang="en-US" b="1" dirty="0">
              <a:latin typeface=""/>
              <a:ea typeface="Times" pitchFamily="18" charset="0"/>
              <a:cs typeface="Times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BEBB80-4F38-226D-D2ED-017BCD290133}"/>
              </a:ext>
            </a:extLst>
          </p:cNvPr>
          <p:cNvSpPr txBox="1"/>
          <p:nvPr/>
        </p:nvSpPr>
        <p:spPr>
          <a:xfrm>
            <a:off x="2248422" y="2312604"/>
            <a:ext cx="61252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en-US" sz="4000" b="1" dirty="0">
                <a:solidFill>
                  <a:srgbClr val="0000FF"/>
                </a:solidFill>
                <a:latin typeface="Times" pitchFamily="18" charset="0"/>
                <a:sym typeface="Symbol" pitchFamily="2" charset="2"/>
              </a:rPr>
              <a:t></a:t>
            </a:r>
            <a:r>
              <a:rPr lang="en-GB" altLang="en-US" sz="4000" b="1" baseline="-25000" dirty="0">
                <a:solidFill>
                  <a:srgbClr val="0000FF"/>
                </a:solidFill>
                <a:latin typeface="Times" pitchFamily="18" charset="0"/>
              </a:rPr>
              <a:t>salary &gt; 10000</a:t>
            </a:r>
            <a:r>
              <a:rPr lang="en-GB" altLang="en-US" sz="4000" b="1" dirty="0">
                <a:solidFill>
                  <a:srgbClr val="0000FF"/>
                </a:solidFill>
                <a:latin typeface="Times" pitchFamily="18" charset="0"/>
              </a:rPr>
              <a:t> (Staff)</a:t>
            </a:r>
            <a:endParaRPr lang="en-US" sz="4000" dirty="0">
              <a:solidFill>
                <a:srgbClr val="0000FF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8FF79A7-2973-D93B-5AC0-EC86DBE74240}"/>
              </a:ext>
            </a:extLst>
          </p:cNvPr>
          <p:cNvSpPr txBox="1">
            <a:spLocks/>
          </p:cNvSpPr>
          <p:nvPr/>
        </p:nvSpPr>
        <p:spPr>
          <a:xfrm rot="16200000">
            <a:off x="-3215290" y="3162962"/>
            <a:ext cx="6962655" cy="53207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altLang="en-US" sz="1800" b="1" dirty="0">
                <a:solidFill>
                  <a:schemeClr val="bg1"/>
                </a:solidFill>
                <a:latin typeface=""/>
              </a:rPr>
              <a:t>RELATIONAL ALGEBRA OPERATION I</a:t>
            </a:r>
            <a:endParaRPr lang="en-GB" sz="1800" dirty="0">
              <a:solidFill>
                <a:schemeClr val="bg1"/>
              </a:solidFill>
              <a:latin typeface="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71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1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86989038-C3A7-6504-3863-051D117EF5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0444" y="282951"/>
            <a:ext cx="7631112" cy="742950"/>
          </a:xfrm>
          <a:noFill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GB" altLang="en-US" b="1" dirty="0">
                <a:latin typeface=""/>
                <a:ea typeface="Times" pitchFamily="18" charset="0"/>
                <a:cs typeface="Times" pitchFamily="18" charset="0"/>
              </a:rPr>
              <a:t>PROJECTION ( </a:t>
            </a:r>
            <a:r>
              <a:rPr lang="en-GB" altLang="en-US" b="1" dirty="0">
                <a:latin typeface=""/>
                <a:cs typeface="Times New Roman" panose="02020603050405020304" pitchFamily="18" charset="0"/>
                <a:sym typeface="Symbol" pitchFamily="2" charset="2"/>
              </a:rPr>
              <a:t></a:t>
            </a:r>
            <a:r>
              <a:rPr lang="en-GB" altLang="en-US" b="1" dirty="0">
                <a:latin typeface=""/>
                <a:ea typeface="Times" pitchFamily="18" charset="0"/>
                <a:cs typeface="Times" pitchFamily="18" charset="0"/>
              </a:rPr>
              <a:t> )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2AD2C296-FA59-FD97-A850-E1CA087861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34213" y="3177489"/>
            <a:ext cx="6782137" cy="3297478"/>
          </a:xfrm>
          <a:noFill/>
        </p:spPr>
        <p:txBody>
          <a:bodyPr vert="horz" lIns="90488" tIns="44450" rIns="90488" bIns="44450" rtlCol="0">
            <a:noAutofit/>
          </a:bodyPr>
          <a:lstStyle/>
          <a:p>
            <a:pPr lvl="1" algn="just"/>
            <a:r>
              <a:rPr lang="en-GB" alt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Works on a </a:t>
            </a:r>
            <a:r>
              <a:rPr lang="en-GB" altLang="en-US" sz="3300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single relation R </a:t>
            </a:r>
          </a:p>
          <a:p>
            <a:pPr lvl="1" algn="just"/>
            <a:r>
              <a:rPr lang="en-GB" alt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Defines a relation that contains </a:t>
            </a:r>
            <a:r>
              <a:rPr lang="en-GB" altLang="en-US" sz="3000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 </a:t>
            </a:r>
            <a:r>
              <a:rPr lang="en-GB" altLang="en-US" sz="3300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vertical subset of R</a:t>
            </a:r>
          </a:p>
          <a:p>
            <a:pPr lvl="1" algn="just"/>
            <a:r>
              <a:rPr lang="en-GB" alt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Extracts the </a:t>
            </a:r>
            <a:r>
              <a:rPr lang="en-GB" altLang="en-US" sz="3300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values of specified attributes</a:t>
            </a:r>
            <a:r>
              <a:rPr lang="en-GB" alt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</a:t>
            </a:r>
            <a:r>
              <a:rPr lang="en-GB" altLang="en-US" sz="3300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eliminating duplicates</a:t>
            </a:r>
            <a:r>
              <a:rPr lang="en-GB" altLang="en-US" sz="3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1C42891-CC36-4A27-8125-EA7446E7D040}"/>
              </a:ext>
            </a:extLst>
          </p:cNvPr>
          <p:cNvSpPr txBox="1">
            <a:spLocks/>
          </p:cNvSpPr>
          <p:nvPr/>
        </p:nvSpPr>
        <p:spPr>
          <a:xfrm rot="16200000">
            <a:off x="-3215290" y="3162962"/>
            <a:ext cx="6962655" cy="53207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altLang="en-US" sz="1800" b="1" dirty="0">
                <a:solidFill>
                  <a:schemeClr val="bg1"/>
                </a:solidFill>
                <a:latin typeface=""/>
              </a:rPr>
              <a:t>RELATIONAL ALGEBRA OPERATION I</a:t>
            </a:r>
            <a:endParaRPr lang="en-GB" sz="1800" dirty="0">
              <a:solidFill>
                <a:schemeClr val="bg1"/>
              </a:solidFill>
              <a:latin typeface="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84C9D35-68F4-19E9-F5EE-FE147BA7C507}"/>
              </a:ext>
            </a:extLst>
          </p:cNvPr>
          <p:cNvSpPr/>
          <p:nvPr/>
        </p:nvSpPr>
        <p:spPr>
          <a:xfrm>
            <a:off x="3253974" y="1540435"/>
            <a:ext cx="6018755" cy="1294627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Symbol" pitchFamily="2" charset="2"/>
              </a:rPr>
              <a:t>col</a:t>
            </a:r>
            <a:r>
              <a:rPr lang="en-GB" altLang="en-US" sz="4800" baseline="-250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Symbol" pitchFamily="2" charset="2"/>
              </a:rPr>
              <a:t>1</a:t>
            </a:r>
            <a:r>
              <a:rPr lang="en-GB" altLang="en-US" sz="4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Symbol" pitchFamily="2" charset="2"/>
              </a:rPr>
              <a:t>, . . . , </a:t>
            </a:r>
            <a:r>
              <a:rPr lang="en-GB" altLang="en-US" sz="4800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Symbol" pitchFamily="2" charset="2"/>
              </a:rPr>
              <a:t>col</a:t>
            </a:r>
            <a:r>
              <a:rPr lang="en-GB" altLang="en-US" sz="4800" baseline="-25000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Symbol" pitchFamily="2" charset="2"/>
              </a:rPr>
              <a:t>n</a:t>
            </a:r>
            <a:r>
              <a:rPr lang="en-GB" altLang="en-US" sz="4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Symbol" pitchFamily="2" charset="2"/>
              </a:rPr>
              <a:t>(R)</a:t>
            </a:r>
          </a:p>
        </p:txBody>
      </p:sp>
      <p:pic>
        <p:nvPicPr>
          <p:cNvPr id="8" name="Picture 2056" descr="C04NF01a">
            <a:extLst>
              <a:ext uri="{FF2B5EF4-FFF2-40B4-BE49-F238E27FC236}">
                <a16:creationId xmlns:a16="http://schemas.microsoft.com/office/drawing/2014/main" id="{F975DB74-7443-0913-042C-939841125A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29" r="45542" b="59818"/>
          <a:stretch/>
        </p:blipFill>
        <p:spPr>
          <a:xfrm>
            <a:off x="1807218" y="3002126"/>
            <a:ext cx="2893511" cy="3098845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5" name="Rectangle 3">
            <a:extLst>
              <a:ext uri="{FF2B5EF4-FFF2-40B4-BE49-F238E27FC236}">
                <a16:creationId xmlns:a16="http://schemas.microsoft.com/office/drawing/2014/main" id="{318EE3B3-E521-D333-7B35-AE3EB7DBBF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7427" y="1325670"/>
            <a:ext cx="11044825" cy="1079419"/>
          </a:xfrm>
          <a:noFill/>
        </p:spPr>
        <p:txBody>
          <a:bodyPr vert="horz" lIns="90488" tIns="44450" rIns="90488" bIns="44450" rtlCol="0">
            <a:normAutofit/>
          </a:bodyPr>
          <a:lstStyle/>
          <a:p>
            <a:pPr marL="0" indent="0">
              <a:buNone/>
            </a:pPr>
            <a:r>
              <a:rPr lang="en-GB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 a list of salaries for all staff, showing only  </a:t>
            </a:r>
            <a:r>
              <a:rPr lang="en-GB" alt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staffNo</a:t>
            </a:r>
            <a:r>
              <a:rPr lang="en-GB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alt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fName</a:t>
            </a:r>
            <a:r>
              <a:rPr lang="en-GB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alt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lName</a:t>
            </a:r>
            <a:r>
              <a:rPr lang="en-GB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salary details.</a:t>
            </a:r>
            <a:endParaRPr lang="en-GB" altLang="en-US" sz="3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2037" name="Picture 5" descr="DS3-Figure 04-03">
            <a:extLst>
              <a:ext uri="{FF2B5EF4-FFF2-40B4-BE49-F238E27FC236}">
                <a16:creationId xmlns:a16="http://schemas.microsoft.com/office/drawing/2014/main" id="{2E1904A6-49EC-F964-50F6-B6C0F7934E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2612" y="3343461"/>
            <a:ext cx="3889375" cy="307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54AB1B6-BDCD-578F-3943-B036DC844B89}"/>
              </a:ext>
            </a:extLst>
          </p:cNvPr>
          <p:cNvSpPr txBox="1">
            <a:spLocks/>
          </p:cNvSpPr>
          <p:nvPr/>
        </p:nvSpPr>
        <p:spPr>
          <a:xfrm rot="16200000">
            <a:off x="-3215290" y="3162962"/>
            <a:ext cx="6962655" cy="53207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altLang="en-US" sz="1800" b="1" dirty="0">
                <a:solidFill>
                  <a:schemeClr val="bg1"/>
                </a:solidFill>
                <a:latin typeface=""/>
              </a:rPr>
              <a:t>RELATIONAL ALGEBRA OPERATION I</a:t>
            </a:r>
            <a:endParaRPr lang="en-GB" sz="1800" dirty="0">
              <a:solidFill>
                <a:schemeClr val="bg1"/>
              </a:solidFill>
              <a:latin typeface="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1100BFC-410B-55C1-1471-99552734DB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107"/>
            <a:ext cx="10515600" cy="1325563"/>
          </a:xfrm>
          <a:noFill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GB" altLang="en-US" b="1" dirty="0">
                <a:latin typeface=""/>
                <a:ea typeface="Times" pitchFamily="18" charset="0"/>
                <a:cs typeface="Times" pitchFamily="18" charset="0"/>
              </a:rPr>
              <a:t>PROJECTION ( </a:t>
            </a:r>
            <a:r>
              <a:rPr lang="en-GB" altLang="en-US" b="1" dirty="0">
                <a:latin typeface=""/>
                <a:cs typeface="Times New Roman" panose="02020603050405020304" pitchFamily="18" charset="0"/>
                <a:sym typeface="Symbol" pitchFamily="2" charset="2"/>
              </a:rPr>
              <a:t></a:t>
            </a:r>
            <a:r>
              <a:rPr lang="en-GB" altLang="en-US" b="1" dirty="0">
                <a:latin typeface=""/>
                <a:ea typeface="Times" pitchFamily="18" charset="0"/>
                <a:cs typeface="Times" pitchFamily="18" charset="0"/>
              </a:rPr>
              <a:t> 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8441F1-4BE1-7931-1494-03D8847C00EB}"/>
              </a:ext>
            </a:extLst>
          </p:cNvPr>
          <p:cNvSpPr txBox="1"/>
          <p:nvPr/>
        </p:nvSpPr>
        <p:spPr>
          <a:xfrm>
            <a:off x="1790224" y="2631290"/>
            <a:ext cx="80427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en-US" sz="4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</a:t>
            </a:r>
            <a:r>
              <a:rPr lang="en-GB" altLang="en-US" sz="4000" b="1" baseline="-14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staffNo</a:t>
            </a:r>
            <a:r>
              <a:rPr lang="en-GB" altLang="en-US" sz="4000" b="1" baseline="-14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altLang="en-US" sz="4000" b="1" baseline="-14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fName</a:t>
            </a:r>
            <a:r>
              <a:rPr lang="en-GB" altLang="en-US" sz="4000" b="1" baseline="-14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altLang="en-US" sz="4000" b="1" baseline="-14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lName</a:t>
            </a:r>
            <a:r>
              <a:rPr lang="en-GB" altLang="en-US" sz="4000" b="1" baseline="-14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salary</a:t>
            </a:r>
            <a:r>
              <a:rPr lang="en-GB" altLang="en-US" sz="4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(Staff)</a:t>
            </a:r>
            <a:endParaRPr lang="en-US" sz="40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72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5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056" descr="C04NF01a">
            <a:extLst>
              <a:ext uri="{FF2B5EF4-FFF2-40B4-BE49-F238E27FC236}">
                <a16:creationId xmlns:a16="http://schemas.microsoft.com/office/drawing/2014/main" id="{739AFE4F-FB57-F5ED-4265-75826F156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" t="45182" r="68416" b="4859"/>
          <a:stretch/>
        </p:blipFill>
        <p:spPr>
          <a:xfrm>
            <a:off x="444394" y="2600288"/>
            <a:ext cx="3576461" cy="3852898"/>
          </a:xfrm>
          <a:prstGeom prst="rect">
            <a:avLst/>
          </a:prstGeom>
          <a:noFill/>
        </p:spPr>
      </p:pic>
      <p:sp>
        <p:nvSpPr>
          <p:cNvPr id="16386" name="Rectangle 2">
            <a:extLst>
              <a:ext uri="{FF2B5EF4-FFF2-40B4-BE49-F238E27FC236}">
                <a16:creationId xmlns:a16="http://schemas.microsoft.com/office/drawing/2014/main" id="{63B9F5F3-6F34-F4FE-64A2-7AFCAFA549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72350" y="176244"/>
            <a:ext cx="7847012" cy="814387"/>
          </a:xfrm>
        </p:spPr>
        <p:txBody>
          <a:bodyPr/>
          <a:lstStyle/>
          <a:p>
            <a:r>
              <a:rPr lang="en-GB" altLang="en-US" b="1" dirty="0">
                <a:latin typeface="Times" pitchFamily="18" charset="0"/>
                <a:ea typeface="Times" pitchFamily="18" charset="0"/>
                <a:cs typeface="Times" pitchFamily="18" charset="0"/>
              </a:rPr>
              <a:t>UNION  ( </a:t>
            </a:r>
            <a:r>
              <a:rPr lang="en-GB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 )</a:t>
            </a:r>
            <a:endParaRPr lang="en-GB" altLang="en-US" b="1" dirty="0">
              <a:latin typeface="Times" pitchFamily="18" charset="0"/>
              <a:ea typeface="Times" pitchFamily="18" charset="0"/>
              <a:cs typeface="Times" pitchFamily="18" charset="0"/>
            </a:endParaRPr>
          </a:p>
        </p:txBody>
      </p:sp>
      <p:sp>
        <p:nvSpPr>
          <p:cNvPr id="187395" name="Rectangle 3">
            <a:extLst>
              <a:ext uri="{FF2B5EF4-FFF2-40B4-BE49-F238E27FC236}">
                <a16:creationId xmlns:a16="http://schemas.microsoft.com/office/drawing/2014/main" id="{33A0DBCC-57EC-FCAE-B241-D7419E7712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70541" y="2890481"/>
            <a:ext cx="8066763" cy="3791275"/>
          </a:xfrm>
        </p:spPr>
        <p:txBody>
          <a:bodyPr>
            <a:normAutofit lnSpcReduction="10000"/>
          </a:bodyPr>
          <a:lstStyle/>
          <a:p>
            <a:pPr lvl="1">
              <a:defRPr/>
            </a:pP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Union of two relations R and S defines </a:t>
            </a:r>
            <a:r>
              <a:rPr lang="en-GB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 relation that contains all the tuples of R, or S, or both R and S</a:t>
            </a: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GB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duplicate tuples being eliminated</a:t>
            </a: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</a:t>
            </a:r>
          </a:p>
          <a:p>
            <a:pPr lvl="1">
              <a:defRPr/>
            </a:pP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 and S must be </a:t>
            </a:r>
            <a:r>
              <a:rPr lang="en-GB" sz="2800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union-compatible</a:t>
            </a: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lvl="2">
              <a:lnSpc>
                <a:spcPct val="90000"/>
              </a:lnSpc>
              <a:buFont typeface="Arial" charset="0"/>
              <a:buChar char="•"/>
              <a:defRPr/>
            </a:pPr>
            <a:r>
              <a:rPr lang="en-GB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Degree of relation R and S is the same</a:t>
            </a:r>
          </a:p>
          <a:p>
            <a:pPr lvl="2">
              <a:lnSpc>
                <a:spcPct val="90000"/>
              </a:lnSpc>
              <a:buFont typeface="Arial" charset="0"/>
              <a:buChar char="•"/>
              <a:defRPr/>
            </a:pP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Domain for each pair of attribute in R and S is the same</a:t>
            </a:r>
          </a:p>
          <a:p>
            <a:pPr lvl="3">
              <a:lnSpc>
                <a:spcPct val="90000"/>
              </a:lnSpc>
              <a:buFont typeface="Arial" charset="0"/>
              <a:buChar char="–"/>
              <a:defRPr/>
            </a:pP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R(A</a:t>
            </a:r>
            <a:r>
              <a:rPr lang="en-GB"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</a:t>
            </a: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</a:t>
            </a:r>
            <a:r>
              <a:rPr lang="en-GB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</a:t>
            </a: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</a:t>
            </a:r>
            <a:r>
              <a:rPr lang="en-GB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</a:t>
            </a: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... A</a:t>
            </a:r>
            <a:r>
              <a:rPr lang="en-GB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</a:t>
            </a: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 ;  S(B</a:t>
            </a:r>
            <a:r>
              <a:rPr lang="en-GB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</a:t>
            </a: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B</a:t>
            </a:r>
            <a:r>
              <a:rPr lang="en-GB"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</a:t>
            </a: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B</a:t>
            </a:r>
            <a:r>
              <a:rPr lang="en-GB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</a:t>
            </a: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.... </a:t>
            </a:r>
            <a:r>
              <a:rPr lang="en-GB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</a:t>
            </a:r>
            <a:r>
              <a:rPr lang="en-GB" sz="1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</a:t>
            </a: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  </a:t>
            </a: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itchFamily="2" charset="2"/>
              </a:rPr>
              <a:t> domain(A</a:t>
            </a:r>
            <a:r>
              <a:rPr lang="en-GB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itchFamily="2" charset="2"/>
              </a:rPr>
              <a:t>i</a:t>
            </a: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itchFamily="2" charset="2"/>
              </a:rPr>
              <a:t>) = domain (B</a:t>
            </a:r>
            <a:r>
              <a:rPr lang="en-GB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itchFamily="2" charset="2"/>
              </a:rPr>
              <a:t>i</a:t>
            </a: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itchFamily="2" charset="2"/>
              </a:rPr>
              <a:t>) for 1&lt;=</a:t>
            </a:r>
            <a:r>
              <a:rPr lang="en-GB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itchFamily="2" charset="2"/>
              </a:rPr>
              <a:t>i</a:t>
            </a: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itchFamily="2" charset="2"/>
              </a:rPr>
              <a:t>&lt;=</a:t>
            </a: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itchFamily="2" charset="2"/>
              </a:rPr>
              <a:t>n</a:t>
            </a:r>
            <a:endParaRPr lang="en-GB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>
              <a:defRPr/>
            </a:pP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If R and S have </a:t>
            </a:r>
            <a:r>
              <a:rPr lang="en-GB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</a:t>
            </a: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</a:t>
            </a:r>
            <a:r>
              <a:rPr lang="en-GB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</a:t>
            </a: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tuples, respectively, union is obtained by concatenating them into </a:t>
            </a:r>
            <a:r>
              <a:rPr lang="en-GB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one relation with a maximum of (</a:t>
            </a:r>
            <a:r>
              <a:rPr lang="en-GB" b="1" i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</a:t>
            </a:r>
            <a:r>
              <a:rPr lang="en-GB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+ </a:t>
            </a:r>
            <a:r>
              <a:rPr lang="en-GB" b="1" i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</a:t>
            </a:r>
            <a:r>
              <a:rPr lang="en-GB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 tuples</a:t>
            </a:r>
            <a:r>
              <a:rPr lang="en-GB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0B7BD5-B96D-4DF2-38E9-82B90F89E1D6}"/>
              </a:ext>
            </a:extLst>
          </p:cNvPr>
          <p:cNvSpPr txBox="1">
            <a:spLocks/>
          </p:cNvSpPr>
          <p:nvPr/>
        </p:nvSpPr>
        <p:spPr>
          <a:xfrm rot="16200000">
            <a:off x="-3215290" y="3162962"/>
            <a:ext cx="6962655" cy="53207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altLang="en-US" sz="1800" b="1" dirty="0">
                <a:solidFill>
                  <a:schemeClr val="bg1"/>
                </a:solidFill>
                <a:latin typeface=""/>
              </a:rPr>
              <a:t>RELATIONAL ALGEBRA OPERATION I</a:t>
            </a:r>
            <a:endParaRPr lang="en-GB" sz="1800" dirty="0">
              <a:solidFill>
                <a:schemeClr val="bg1"/>
              </a:solidFill>
              <a:latin typeface="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382B61B-189B-7882-4C04-FB43610B7C7E}"/>
              </a:ext>
            </a:extLst>
          </p:cNvPr>
          <p:cNvSpPr/>
          <p:nvPr/>
        </p:nvSpPr>
        <p:spPr>
          <a:xfrm>
            <a:off x="4405644" y="1367257"/>
            <a:ext cx="3439166" cy="1294627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Symbol" pitchFamily="2" charset="2"/>
              </a:rPr>
              <a:t>R  S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395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9" name="Rectangle 3">
            <a:extLst>
              <a:ext uri="{FF2B5EF4-FFF2-40B4-BE49-F238E27FC236}">
                <a16:creationId xmlns:a16="http://schemas.microsoft.com/office/drawing/2014/main" id="{302B33BA-1BAD-2EEA-BB17-BB60AF44E2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79534" y="1441242"/>
            <a:ext cx="10820399" cy="768557"/>
          </a:xfrm>
        </p:spPr>
        <p:txBody>
          <a:bodyPr/>
          <a:lstStyle/>
          <a:p>
            <a:pPr marL="0" indent="0">
              <a:buNone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all cities where there is either a branch office or a property for rent.</a:t>
            </a:r>
          </a:p>
        </p:txBody>
      </p:sp>
      <p:pic>
        <p:nvPicPr>
          <p:cNvPr id="188421" name="Picture 5" descr="DS3-Figure 04-04">
            <a:extLst>
              <a:ext uri="{FF2B5EF4-FFF2-40B4-BE49-F238E27FC236}">
                <a16:creationId xmlns:a16="http://schemas.microsoft.com/office/drawing/2014/main" id="{0499903E-E516-54FF-7A11-9D69E4364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9289" y="3145077"/>
            <a:ext cx="1566863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55A9419A-B8B1-FEBA-67B3-F349D3E1AB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28250" t="13044" r="62761" b="39525"/>
          <a:stretch>
            <a:fillRect/>
          </a:stretch>
        </p:blipFill>
        <p:spPr bwMode="auto">
          <a:xfrm>
            <a:off x="5717089" y="3373677"/>
            <a:ext cx="1211263" cy="1752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F6228ACD-B0F9-3C2B-6445-CB6FB2A230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53001" t="19048" r="28699" b="17460"/>
          <a:stretch>
            <a:fillRect/>
          </a:stretch>
        </p:blipFill>
        <p:spPr bwMode="auto">
          <a:xfrm>
            <a:off x="3202488" y="3297477"/>
            <a:ext cx="990600" cy="1905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7414" name="Rectangle 8">
            <a:extLst>
              <a:ext uri="{FF2B5EF4-FFF2-40B4-BE49-F238E27FC236}">
                <a16:creationId xmlns:a16="http://schemas.microsoft.com/office/drawing/2014/main" id="{1BAFA59B-7B55-8ABF-76A0-91E7509CB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6489" y="3983278"/>
            <a:ext cx="61106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</a:t>
            </a:r>
            <a:r>
              <a:rPr lang="en-GB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dirty="0">
              <a:solidFill>
                <a:srgbClr val="0000FF"/>
              </a:solidFill>
            </a:endParaRPr>
          </a:p>
        </p:txBody>
      </p:sp>
      <p:sp>
        <p:nvSpPr>
          <p:cNvPr id="17415" name="TextBox 9">
            <a:extLst>
              <a:ext uri="{FF2B5EF4-FFF2-40B4-BE49-F238E27FC236}">
                <a16:creationId xmlns:a16="http://schemas.microsoft.com/office/drawing/2014/main" id="{7D3B0EF9-BE5A-9072-D990-B4E12561C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3488" y="4059478"/>
            <a:ext cx="3635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=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5105F2-9712-77EA-3E3A-4D3ACBA583FF}"/>
              </a:ext>
            </a:extLst>
          </p:cNvPr>
          <p:cNvSpPr txBox="1">
            <a:spLocks/>
          </p:cNvSpPr>
          <p:nvPr/>
        </p:nvSpPr>
        <p:spPr>
          <a:xfrm rot="16200000">
            <a:off x="-3215290" y="3162962"/>
            <a:ext cx="6962655" cy="53207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altLang="en-US" sz="1800" b="1" dirty="0">
                <a:solidFill>
                  <a:schemeClr val="bg1"/>
                </a:solidFill>
                <a:latin typeface=""/>
              </a:rPr>
              <a:t>RELATIONAL ALGEBRA OPERATION I</a:t>
            </a:r>
            <a:endParaRPr lang="en-GB" sz="1800" dirty="0">
              <a:solidFill>
                <a:schemeClr val="bg1"/>
              </a:solidFill>
              <a:latin typeface="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A076AB8-32A8-F20E-3CF1-1D4934430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72350" y="176244"/>
            <a:ext cx="7847012" cy="814387"/>
          </a:xfrm>
        </p:spPr>
        <p:txBody>
          <a:bodyPr/>
          <a:lstStyle/>
          <a:p>
            <a:r>
              <a:rPr lang="en-GB" altLang="en-US" b="1" dirty="0">
                <a:latin typeface="Times" pitchFamily="18" charset="0"/>
                <a:ea typeface="Times" pitchFamily="18" charset="0"/>
                <a:cs typeface="Times" pitchFamily="18" charset="0"/>
              </a:rPr>
              <a:t>UNION  ( </a:t>
            </a:r>
            <a:r>
              <a:rPr lang="en-GB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 )</a:t>
            </a:r>
            <a:endParaRPr lang="en-GB" altLang="en-US" b="1" dirty="0">
              <a:latin typeface="Times" pitchFamily="18" charset="0"/>
              <a:ea typeface="Times" pitchFamily="18" charset="0"/>
              <a:cs typeface="Times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A01DF6-DF96-FD92-9BA6-2131135E821A}"/>
              </a:ext>
            </a:extLst>
          </p:cNvPr>
          <p:cNvSpPr txBox="1"/>
          <p:nvPr/>
        </p:nvSpPr>
        <p:spPr>
          <a:xfrm>
            <a:off x="1345503" y="2227543"/>
            <a:ext cx="950099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buFontTx/>
              <a:buNone/>
            </a:pPr>
            <a:r>
              <a:rPr lang="en-GB" altLang="en-US" sz="4000" b="1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Symbol" pitchFamily="2" charset="2"/>
              </a:rPr>
              <a:t></a:t>
            </a:r>
            <a:r>
              <a:rPr lang="en-GB" altLang="en-US" sz="4000" b="1" baseline="-14000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city</a:t>
            </a:r>
            <a:r>
              <a:rPr lang="en-GB" altLang="en-US" sz="4000" b="1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(Branch) </a:t>
            </a:r>
            <a:r>
              <a:rPr lang="en-GB" altLang="en-US" sz="4000" b="1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Symbol" pitchFamily="2" charset="2"/>
              </a:rPr>
              <a:t></a:t>
            </a:r>
            <a:r>
              <a:rPr lang="en-GB" altLang="en-US" sz="4000" b="1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GB" altLang="en-US" sz="4000" b="1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Symbol" pitchFamily="2" charset="2"/>
              </a:rPr>
              <a:t></a:t>
            </a:r>
            <a:r>
              <a:rPr lang="en-GB" altLang="en-US" sz="4000" b="1" baseline="-14000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city</a:t>
            </a:r>
            <a:r>
              <a:rPr lang="en-GB" altLang="en-US" sz="4000" b="1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</a:t>
            </a:r>
            <a:r>
              <a:rPr lang="en-GB" altLang="en-US" sz="4000" b="1" dirty="0" err="1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PropertyForRent</a:t>
            </a:r>
            <a:r>
              <a:rPr lang="en-GB" altLang="en-US" sz="4000" b="1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88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19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AD87041E-97F9-2DBA-0F42-02F5AFAE2B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44725" y="267028"/>
            <a:ext cx="7702550" cy="814387"/>
          </a:xfrm>
          <a:noFill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GB" alt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SET DIFFERENCE ( – )</a:t>
            </a:r>
          </a:p>
        </p:txBody>
      </p:sp>
      <p:sp>
        <p:nvSpPr>
          <p:cNvPr id="189443" name="Rectangle 3">
            <a:extLst>
              <a:ext uri="{FF2B5EF4-FFF2-40B4-BE49-F238E27FC236}">
                <a16:creationId xmlns:a16="http://schemas.microsoft.com/office/drawing/2014/main" id="{6571111B-9447-CC52-FDF5-39CE172E6A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09966" y="3226831"/>
            <a:ext cx="7411233" cy="1688791"/>
          </a:xfrm>
          <a:noFill/>
        </p:spPr>
        <p:txBody>
          <a:bodyPr vert="horz" lIns="90488" tIns="44450" rIns="90488" bIns="44450" rtlCol="0">
            <a:noAutofit/>
          </a:bodyPr>
          <a:lstStyle/>
          <a:p>
            <a:pPr lvl="1"/>
            <a:r>
              <a:rPr lang="en-GB" altLang="en-US" sz="3000" dirty="0">
                <a:latin typeface=""/>
                <a:cs typeface="Times New Roman" panose="02020603050405020304" pitchFamily="18" charset="0"/>
              </a:rPr>
              <a:t>Defines a relation consisting of the </a:t>
            </a:r>
            <a:r>
              <a:rPr lang="en-GB" altLang="en-US" sz="3300" b="1" dirty="0">
                <a:solidFill>
                  <a:srgbClr val="6C1D35"/>
                </a:solidFill>
                <a:latin typeface=""/>
                <a:cs typeface="Times New Roman" panose="02020603050405020304" pitchFamily="18" charset="0"/>
              </a:rPr>
              <a:t>tuples that are in relation R</a:t>
            </a:r>
            <a:r>
              <a:rPr lang="en-GB" altLang="en-US" sz="3000" dirty="0">
                <a:latin typeface=""/>
                <a:cs typeface="Times New Roman" panose="02020603050405020304" pitchFamily="18" charset="0"/>
              </a:rPr>
              <a:t>, but </a:t>
            </a:r>
            <a:r>
              <a:rPr lang="en-GB" altLang="en-US" sz="3300" b="1" dirty="0">
                <a:solidFill>
                  <a:srgbClr val="6C1D35"/>
                </a:solidFill>
                <a:latin typeface=""/>
                <a:cs typeface="Times New Roman" panose="02020603050405020304" pitchFamily="18" charset="0"/>
              </a:rPr>
              <a:t>not in S</a:t>
            </a:r>
            <a:r>
              <a:rPr lang="en-GB" altLang="en-US" sz="3000" dirty="0">
                <a:latin typeface=""/>
                <a:cs typeface="Times New Roman" panose="02020603050405020304" pitchFamily="18" charset="0"/>
              </a:rPr>
              <a:t>. </a:t>
            </a:r>
          </a:p>
          <a:p>
            <a:pPr lvl="1"/>
            <a:endParaRPr lang="en-GB" altLang="en-US" sz="3000" dirty="0">
              <a:latin typeface=""/>
              <a:cs typeface="Times New Roman" panose="02020603050405020304" pitchFamily="18" charset="0"/>
            </a:endParaRPr>
          </a:p>
          <a:p>
            <a:pPr lvl="1"/>
            <a:r>
              <a:rPr lang="en-GB" altLang="en-US" sz="3000" dirty="0">
                <a:latin typeface=""/>
                <a:cs typeface="Times New Roman" panose="02020603050405020304" pitchFamily="18" charset="0"/>
              </a:rPr>
              <a:t>R and S must be </a:t>
            </a:r>
            <a:r>
              <a:rPr lang="en-GB" altLang="en-US" sz="3300" b="1" dirty="0">
                <a:solidFill>
                  <a:srgbClr val="6C1D35"/>
                </a:solidFill>
                <a:latin typeface=""/>
                <a:cs typeface="Times New Roman" panose="02020603050405020304" pitchFamily="18" charset="0"/>
              </a:rPr>
              <a:t>union-compatible</a:t>
            </a:r>
            <a:r>
              <a:rPr lang="en-GB" altLang="en-US" sz="3000" dirty="0">
                <a:latin typeface="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918F1-6CB5-79BA-0956-991E183E4F46}"/>
              </a:ext>
            </a:extLst>
          </p:cNvPr>
          <p:cNvSpPr txBox="1">
            <a:spLocks/>
          </p:cNvSpPr>
          <p:nvPr/>
        </p:nvSpPr>
        <p:spPr>
          <a:xfrm rot="16200000">
            <a:off x="-3215290" y="3162962"/>
            <a:ext cx="6962655" cy="53207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altLang="en-US" sz="1800" b="1" dirty="0">
                <a:solidFill>
                  <a:schemeClr val="bg1"/>
                </a:solidFill>
                <a:latin typeface=""/>
              </a:rPr>
              <a:t>RELATIONAL ALGEBRA OPERATION I</a:t>
            </a:r>
            <a:endParaRPr lang="en-GB" sz="1800" dirty="0">
              <a:solidFill>
                <a:schemeClr val="bg1"/>
              </a:solidFill>
              <a:latin typeface=""/>
            </a:endParaRPr>
          </a:p>
        </p:txBody>
      </p:sp>
      <p:pic>
        <p:nvPicPr>
          <p:cNvPr id="3" name="Picture 2056" descr="C04NF01a">
            <a:extLst>
              <a:ext uri="{FF2B5EF4-FFF2-40B4-BE49-F238E27FC236}">
                <a16:creationId xmlns:a16="http://schemas.microsoft.com/office/drawing/2014/main" id="{77111DCB-C7EF-579C-65CB-CC49A289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77" t="46644" r="6810" b="5065"/>
          <a:stretch/>
        </p:blipFill>
        <p:spPr>
          <a:xfrm>
            <a:off x="799956" y="2676529"/>
            <a:ext cx="3576461" cy="3724271"/>
          </a:xfrm>
          <a:prstGeom prst="rect">
            <a:avLst/>
          </a:prstGeom>
          <a:noFill/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9A73395-03BF-BA34-3998-0D8BC296BD1F}"/>
              </a:ext>
            </a:extLst>
          </p:cNvPr>
          <p:cNvSpPr/>
          <p:nvPr/>
        </p:nvSpPr>
        <p:spPr>
          <a:xfrm>
            <a:off x="4376417" y="1181486"/>
            <a:ext cx="3439166" cy="1294627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Symbol" pitchFamily="2" charset="2"/>
              </a:rPr>
              <a:t>R – S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43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7" name="Rectangle 3">
            <a:extLst>
              <a:ext uri="{FF2B5EF4-FFF2-40B4-BE49-F238E27FC236}">
                <a16:creationId xmlns:a16="http://schemas.microsoft.com/office/drawing/2014/main" id="{5E4E747F-E859-248E-238F-79DC43BAFB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0508" y="1520342"/>
            <a:ext cx="10901536" cy="814387"/>
          </a:xfrm>
          <a:noFill/>
        </p:spPr>
        <p:txBody>
          <a:bodyPr vert="horz" lIns="90488" tIns="44450" rIns="90488" bIns="44450" rtlCol="0">
            <a:normAutofit/>
          </a:bodyPr>
          <a:lstStyle/>
          <a:p>
            <a:pPr marL="0" indent="0">
              <a:buNone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all cities where there is a branch office but no properties for rent.</a:t>
            </a:r>
          </a:p>
        </p:txBody>
      </p:sp>
      <p:pic>
        <p:nvPicPr>
          <p:cNvPr id="190469" name="Picture 5" descr="DS3-Figure 04-05">
            <a:extLst>
              <a:ext uri="{FF2B5EF4-FFF2-40B4-BE49-F238E27FC236}">
                <a16:creationId xmlns:a16="http://schemas.microsoft.com/office/drawing/2014/main" id="{90D4479E-F2B9-34EA-B009-A03446223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0873" y="3627200"/>
            <a:ext cx="1752600" cy="161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">
            <a:extLst>
              <a:ext uri="{FF2B5EF4-FFF2-40B4-BE49-F238E27FC236}">
                <a16:creationId xmlns:a16="http://schemas.microsoft.com/office/drawing/2014/main" id="{B265D665-2574-921A-4AD1-3355E5061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53001" t="19048" r="28699" b="17460"/>
          <a:stretch>
            <a:fillRect/>
          </a:stretch>
        </p:blipFill>
        <p:spPr bwMode="auto">
          <a:xfrm>
            <a:off x="2924827" y="3483533"/>
            <a:ext cx="990600" cy="1905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76B6C9EA-F424-16B2-5BB1-C8169A8D7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28250" t="13044" r="62761" b="39525"/>
          <a:stretch>
            <a:fillRect/>
          </a:stretch>
        </p:blipFill>
        <p:spPr bwMode="auto">
          <a:xfrm>
            <a:off x="5744228" y="3559733"/>
            <a:ext cx="1211263" cy="1752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9462" name="TextBox 8">
            <a:extLst>
              <a:ext uri="{FF2B5EF4-FFF2-40B4-BE49-F238E27FC236}">
                <a16:creationId xmlns:a16="http://schemas.microsoft.com/office/drawing/2014/main" id="{EB515632-AB4A-502B-A5D0-7645C7B6F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0525" y="3956392"/>
            <a:ext cx="37221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4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-</a:t>
            </a:r>
          </a:p>
        </p:txBody>
      </p:sp>
      <p:sp>
        <p:nvSpPr>
          <p:cNvPr id="19463" name="TextBox 9">
            <a:extLst>
              <a:ext uri="{FF2B5EF4-FFF2-40B4-BE49-F238E27FC236}">
                <a16:creationId xmlns:a16="http://schemas.microsoft.com/office/drawing/2014/main" id="{D184761E-5F53-7A7E-0832-565926D605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9533" y="4051312"/>
            <a:ext cx="51488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400" dirty="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=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76C1C3-5B6D-AE7D-3C3D-E575C1624D51}"/>
              </a:ext>
            </a:extLst>
          </p:cNvPr>
          <p:cNvSpPr txBox="1">
            <a:spLocks/>
          </p:cNvSpPr>
          <p:nvPr/>
        </p:nvSpPr>
        <p:spPr>
          <a:xfrm rot="16200000">
            <a:off x="-3215290" y="3162962"/>
            <a:ext cx="6962655" cy="53207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altLang="en-US" sz="1800" b="1" dirty="0">
                <a:solidFill>
                  <a:schemeClr val="bg1"/>
                </a:solidFill>
                <a:latin typeface=""/>
              </a:rPr>
              <a:t>RELATIONAL ALGEBRA OPERATION I</a:t>
            </a:r>
            <a:endParaRPr lang="en-GB" sz="1800" dirty="0">
              <a:solidFill>
                <a:schemeClr val="bg1"/>
              </a:solidFill>
              <a:latin typeface="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DDE6872-BD6F-FEEF-B5B5-68D7DDCD30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44725" y="267028"/>
            <a:ext cx="7702550" cy="814387"/>
          </a:xfrm>
          <a:noFill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GB" alt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SET DIFFERENCE ( – 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E783F-5C21-0D0B-12C0-5EDE74E53D6B}"/>
              </a:ext>
            </a:extLst>
          </p:cNvPr>
          <p:cNvSpPr txBox="1"/>
          <p:nvPr/>
        </p:nvSpPr>
        <p:spPr>
          <a:xfrm>
            <a:off x="1890528" y="2391536"/>
            <a:ext cx="894149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en-US" sz="4000" b="1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Symbol" pitchFamily="2" charset="2"/>
              </a:rPr>
              <a:t></a:t>
            </a:r>
            <a:r>
              <a:rPr lang="en-GB" altLang="en-US" sz="4000" b="1" baseline="-14000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city</a:t>
            </a:r>
            <a:r>
              <a:rPr lang="en-GB" altLang="en-US" sz="4000" b="1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(Branch) – </a:t>
            </a:r>
            <a:r>
              <a:rPr lang="en-GB" altLang="en-US" sz="4000" b="1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Symbol" pitchFamily="2" charset="2"/>
              </a:rPr>
              <a:t></a:t>
            </a:r>
            <a:r>
              <a:rPr lang="en-GB" altLang="en-US" sz="4000" b="1" baseline="-14000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city</a:t>
            </a:r>
            <a:r>
              <a:rPr lang="en-GB" altLang="en-US" sz="4000" b="1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</a:t>
            </a:r>
            <a:r>
              <a:rPr lang="en-GB" altLang="en-US" sz="4000" b="1" dirty="0" err="1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PropertyForRent</a:t>
            </a:r>
            <a:r>
              <a:rPr lang="en-GB" altLang="en-US" sz="4000" b="1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</a:t>
            </a:r>
            <a:endParaRPr lang="en-US" sz="4000" dirty="0">
              <a:solidFill>
                <a:srgbClr val="0000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90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67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056" descr="C04NF01a">
            <a:extLst>
              <a:ext uri="{FF2B5EF4-FFF2-40B4-BE49-F238E27FC236}">
                <a16:creationId xmlns:a16="http://schemas.microsoft.com/office/drawing/2014/main" id="{F98D35D5-340C-0D2F-242C-14173AD1DA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88" t="45781" r="37999" b="3890"/>
          <a:stretch/>
        </p:blipFill>
        <p:spPr>
          <a:xfrm>
            <a:off x="439032" y="2656335"/>
            <a:ext cx="3576461" cy="3881433"/>
          </a:xfrm>
          <a:prstGeom prst="rect">
            <a:avLst/>
          </a:prstGeom>
          <a:noFill/>
        </p:spPr>
      </p:pic>
      <p:sp>
        <p:nvSpPr>
          <p:cNvPr id="20482" name="Rectangle 2050">
            <a:extLst>
              <a:ext uri="{FF2B5EF4-FFF2-40B4-BE49-F238E27FC236}">
                <a16:creationId xmlns:a16="http://schemas.microsoft.com/office/drawing/2014/main" id="{67DB9BC4-113B-8A23-DF43-942A52DEA7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27263" y="300038"/>
            <a:ext cx="7558087" cy="814387"/>
          </a:xfrm>
          <a:noFill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GB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" pitchFamily="18" charset="0"/>
                <a:ea typeface="Times" pitchFamily="18" charset="0"/>
                <a:cs typeface="Times" pitchFamily="18" charset="0"/>
              </a:rPr>
              <a:t>INTERSECTION  ( </a:t>
            </a:r>
            <a:r>
              <a:rPr lang="en-GB" altLang="en-US" b="1" noProof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 )</a:t>
            </a:r>
            <a:endParaRPr lang="en-GB" altLang="en-US" b="1" dirty="0">
              <a:solidFill>
                <a:schemeClr val="tx1">
                  <a:lumMod val="95000"/>
                  <a:lumOff val="5000"/>
                </a:schemeClr>
              </a:solidFill>
              <a:latin typeface="Times" pitchFamily="18" charset="0"/>
              <a:ea typeface="Times" pitchFamily="18" charset="0"/>
              <a:cs typeface="Times" pitchFamily="18" charset="0"/>
            </a:endParaRPr>
          </a:p>
        </p:txBody>
      </p:sp>
      <p:sp>
        <p:nvSpPr>
          <p:cNvPr id="191491" name="Rectangle 2051">
            <a:extLst>
              <a:ext uri="{FF2B5EF4-FFF2-40B4-BE49-F238E27FC236}">
                <a16:creationId xmlns:a16="http://schemas.microsoft.com/office/drawing/2014/main" id="{13366E36-E309-4B38-C4C8-55770B8D73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015493" y="3169084"/>
            <a:ext cx="7727950" cy="2855934"/>
          </a:xfrm>
          <a:noFill/>
        </p:spPr>
        <p:txBody>
          <a:bodyPr vert="horz" lIns="90488" tIns="44450" rIns="90488" bIns="44450" rtlCol="0">
            <a:noAutofit/>
          </a:bodyPr>
          <a:lstStyle/>
          <a:p>
            <a:pPr lvl="1"/>
            <a:r>
              <a:rPr lang="en-GB" alt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Defines a relation consisting of the set of </a:t>
            </a:r>
            <a:r>
              <a:rPr lang="en-GB" altLang="en-US" sz="3200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all tuples that are in both R and S</a:t>
            </a:r>
            <a:r>
              <a:rPr lang="en-GB" alt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</a:t>
            </a:r>
          </a:p>
          <a:p>
            <a:pPr lvl="1"/>
            <a:r>
              <a:rPr lang="en-GB" alt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 and S must be </a:t>
            </a:r>
            <a:r>
              <a:rPr lang="en-GB" altLang="en-US" sz="3200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union-compatible</a:t>
            </a:r>
            <a:r>
              <a:rPr lang="en-GB" alt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lvl="1"/>
            <a:r>
              <a:rPr lang="en-GB" alt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Expressed using basic operations: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altLang="en-US" sz="3000" i="1" noProof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</a:t>
            </a:r>
            <a:r>
              <a:rPr lang="en-GB" altLang="en-US" sz="3000" noProof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 </a:t>
            </a:r>
            <a:r>
              <a:rPr lang="en-GB" altLang="en-US" sz="3000" noProof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Symbol" pitchFamily="2" charset="2"/>
              </a:rPr>
              <a:t></a:t>
            </a:r>
            <a:r>
              <a:rPr lang="en-GB" altLang="en-US" sz="3000" noProof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 = R – (R – S)</a:t>
            </a:r>
            <a:endParaRPr lang="en-GB" altLang="en-US" sz="3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8F0BB8-E19F-5278-1086-B2913D3EEADB}"/>
              </a:ext>
            </a:extLst>
          </p:cNvPr>
          <p:cNvSpPr txBox="1">
            <a:spLocks/>
          </p:cNvSpPr>
          <p:nvPr/>
        </p:nvSpPr>
        <p:spPr>
          <a:xfrm rot="16200000">
            <a:off x="-3215290" y="3162962"/>
            <a:ext cx="6962655" cy="53207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altLang="en-US" sz="1800" b="1" dirty="0">
                <a:solidFill>
                  <a:schemeClr val="bg1"/>
                </a:solidFill>
                <a:latin typeface=""/>
              </a:rPr>
              <a:t>RELATIONAL ALGEBRA OPERATION I</a:t>
            </a:r>
            <a:endParaRPr lang="en-GB" sz="1800" dirty="0">
              <a:solidFill>
                <a:schemeClr val="bg1"/>
              </a:solidFill>
              <a:latin typeface="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1FF5D6B-361F-7A32-FD4D-7E20E88EF7A4}"/>
              </a:ext>
            </a:extLst>
          </p:cNvPr>
          <p:cNvSpPr/>
          <p:nvPr/>
        </p:nvSpPr>
        <p:spPr>
          <a:xfrm>
            <a:off x="4376417" y="1181486"/>
            <a:ext cx="3439166" cy="1294627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Symbol" pitchFamily="2" charset="2"/>
              </a:rPr>
              <a:t>R  S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1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5" name="Rectangle 1027">
            <a:extLst>
              <a:ext uri="{FF2B5EF4-FFF2-40B4-BE49-F238E27FC236}">
                <a16:creationId xmlns:a16="http://schemas.microsoft.com/office/drawing/2014/main" id="{7C17BDBB-542B-AA90-5D82-A3069F4371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0453" y="1468630"/>
            <a:ext cx="10928960" cy="961419"/>
          </a:xfrm>
          <a:noFill/>
        </p:spPr>
        <p:txBody>
          <a:bodyPr vert="horz" lIns="90488" tIns="44450" rIns="90488" bIns="44450" rtlCol="0">
            <a:normAutofit/>
          </a:bodyPr>
          <a:lstStyle/>
          <a:p>
            <a:pPr marL="0" indent="0">
              <a:buNone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all cities where there is both a branch office and at least one property for rent.</a:t>
            </a:r>
          </a:p>
        </p:txBody>
      </p:sp>
      <p:pic>
        <p:nvPicPr>
          <p:cNvPr id="192517" name="Picture 1029" descr="DS3-Figure 04-06">
            <a:extLst>
              <a:ext uri="{FF2B5EF4-FFF2-40B4-BE49-F238E27FC236}">
                <a16:creationId xmlns:a16="http://schemas.microsoft.com/office/drawing/2014/main" id="{D0CF386D-B10B-5D39-9457-7893B2B2DA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7264" y="3546954"/>
            <a:ext cx="1698625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754" name="Picture 1">
            <a:extLst>
              <a:ext uri="{FF2B5EF4-FFF2-40B4-BE49-F238E27FC236}">
                <a16:creationId xmlns:a16="http://schemas.microsoft.com/office/drawing/2014/main" id="{2C9E1C31-7803-2D95-9221-2E72E8A9CE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53001" t="19048" r="28699" b="17460"/>
          <a:stretch>
            <a:fillRect/>
          </a:stretch>
        </p:blipFill>
        <p:spPr bwMode="auto">
          <a:xfrm>
            <a:off x="2901863" y="3699354"/>
            <a:ext cx="990600" cy="1905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1509" name="Rectangle 7">
            <a:extLst>
              <a:ext uri="{FF2B5EF4-FFF2-40B4-BE49-F238E27FC236}">
                <a16:creationId xmlns:a16="http://schemas.microsoft.com/office/drawing/2014/main" id="{2BB436C6-CB03-C671-D300-74A4C2BB3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5863" y="4385155"/>
            <a:ext cx="5334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MY" altLang="en-US" sz="4400" b="1" noProof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</a:t>
            </a:r>
            <a:r>
              <a:rPr lang="en-GB" altLang="en-US" sz="4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4400" dirty="0">
              <a:solidFill>
                <a:srgbClr val="0000FF"/>
              </a:solidFill>
            </a:endParaRPr>
          </a:p>
        </p:txBody>
      </p:sp>
      <p:pic>
        <p:nvPicPr>
          <p:cNvPr id="74755" name="Picture 3">
            <a:extLst>
              <a:ext uri="{FF2B5EF4-FFF2-40B4-BE49-F238E27FC236}">
                <a16:creationId xmlns:a16="http://schemas.microsoft.com/office/drawing/2014/main" id="{B8DDF48F-3CE1-E455-4A3D-51216212B0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28250" t="13044" r="62761" b="39525"/>
          <a:stretch>
            <a:fillRect/>
          </a:stretch>
        </p:blipFill>
        <p:spPr bwMode="auto">
          <a:xfrm>
            <a:off x="5568864" y="3699354"/>
            <a:ext cx="1211263" cy="1752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1511" name="TextBox 9">
            <a:extLst>
              <a:ext uri="{FF2B5EF4-FFF2-40B4-BE49-F238E27FC236}">
                <a16:creationId xmlns:a16="http://schemas.microsoft.com/office/drawing/2014/main" id="{43E9F8F5-61F7-D5AC-9073-B451CE80F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5263" y="4461355"/>
            <a:ext cx="457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40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=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FAEAD6-2515-1A1B-00F9-8078DD406EC0}"/>
              </a:ext>
            </a:extLst>
          </p:cNvPr>
          <p:cNvSpPr txBox="1">
            <a:spLocks/>
          </p:cNvSpPr>
          <p:nvPr/>
        </p:nvSpPr>
        <p:spPr>
          <a:xfrm rot="16200000">
            <a:off x="-3215290" y="3162962"/>
            <a:ext cx="6962655" cy="53207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altLang="en-US" sz="1800" b="1" dirty="0">
                <a:solidFill>
                  <a:schemeClr val="bg1"/>
                </a:solidFill>
                <a:latin typeface=""/>
              </a:rPr>
              <a:t>RELATIONAL ALGEBRA OPERATION I</a:t>
            </a:r>
            <a:endParaRPr lang="en-GB" sz="1800" dirty="0">
              <a:solidFill>
                <a:schemeClr val="bg1"/>
              </a:solidFill>
              <a:latin typeface=""/>
            </a:endParaRPr>
          </a:p>
        </p:txBody>
      </p:sp>
      <p:sp>
        <p:nvSpPr>
          <p:cNvPr id="5" name="Rectangle 2050">
            <a:extLst>
              <a:ext uri="{FF2B5EF4-FFF2-40B4-BE49-F238E27FC236}">
                <a16:creationId xmlns:a16="http://schemas.microsoft.com/office/drawing/2014/main" id="{0C4B9609-8AD4-70A6-6700-E5D67BF15C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40757" y="202405"/>
            <a:ext cx="7558087" cy="814387"/>
          </a:xfrm>
          <a:noFill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GB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" pitchFamily="18" charset="0"/>
                <a:ea typeface="Times" pitchFamily="18" charset="0"/>
                <a:cs typeface="Times" pitchFamily="18" charset="0"/>
              </a:rPr>
              <a:t>INTERSECTION  ( </a:t>
            </a:r>
            <a:r>
              <a:rPr lang="en-GB" altLang="en-US" b="1" noProof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 )</a:t>
            </a:r>
            <a:endParaRPr lang="en-GB" altLang="en-US" b="1" dirty="0">
              <a:solidFill>
                <a:schemeClr val="tx1">
                  <a:lumMod val="95000"/>
                  <a:lumOff val="5000"/>
                </a:schemeClr>
              </a:solidFill>
              <a:latin typeface="Times" pitchFamily="18" charset="0"/>
              <a:ea typeface="Times" pitchFamily="18" charset="0"/>
              <a:cs typeface="Times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3990FE-87B8-2B53-69F0-1B9A456A0517}"/>
              </a:ext>
            </a:extLst>
          </p:cNvPr>
          <p:cNvSpPr txBox="1"/>
          <p:nvPr/>
        </p:nvSpPr>
        <p:spPr>
          <a:xfrm>
            <a:off x="1646336" y="2499381"/>
            <a:ext cx="9958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en-US" sz="4000" b="1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Symbol" pitchFamily="2" charset="2"/>
              </a:rPr>
              <a:t></a:t>
            </a:r>
            <a:r>
              <a:rPr lang="en-GB" altLang="en-US" sz="4000" b="1" baseline="-14000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city</a:t>
            </a:r>
            <a:r>
              <a:rPr lang="en-GB" altLang="en-US" sz="4000" b="1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(Branch) </a:t>
            </a:r>
            <a:r>
              <a:rPr lang="en-GB" altLang="en-US" sz="4000" b="1" noProof="1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Symbol" pitchFamily="2" charset="2"/>
              </a:rPr>
              <a:t></a:t>
            </a:r>
            <a:r>
              <a:rPr lang="en-GB" altLang="en-US" sz="4000" b="1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GB" altLang="en-US" sz="4000" b="1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Symbol" pitchFamily="2" charset="2"/>
              </a:rPr>
              <a:t></a:t>
            </a:r>
            <a:r>
              <a:rPr lang="en-GB" altLang="en-US" sz="4000" b="1" baseline="-14000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city</a:t>
            </a:r>
            <a:r>
              <a:rPr lang="en-GB" altLang="en-US" sz="4000" b="1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</a:t>
            </a:r>
            <a:r>
              <a:rPr lang="en-GB" altLang="en-US" sz="4000" b="1" dirty="0" err="1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PropertyForRent</a:t>
            </a:r>
            <a:r>
              <a:rPr lang="en-GB" altLang="en-US" sz="4000" b="1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</a:t>
            </a:r>
            <a:endParaRPr lang="en-US" sz="4000" dirty="0">
              <a:solidFill>
                <a:srgbClr val="0000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92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15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9048E389-1E2C-6F83-00E3-23F39D2A96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8212" y="205683"/>
            <a:ext cx="7775575" cy="814387"/>
          </a:xfrm>
          <a:noFill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GB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"/>
                <a:ea typeface="Times" pitchFamily="18" charset="0"/>
                <a:cs typeface="Times" pitchFamily="18" charset="0"/>
              </a:rPr>
              <a:t>CARTESIAN PRODUCT ( </a:t>
            </a:r>
            <a:r>
              <a:rPr lang="en-GB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"/>
                <a:cs typeface="Times New Roman" panose="02020603050405020304" pitchFamily="18" charset="0"/>
              </a:rPr>
              <a:t>X )</a:t>
            </a:r>
            <a:endParaRPr lang="en-GB" altLang="en-US" b="1" dirty="0">
              <a:solidFill>
                <a:schemeClr val="tx1">
                  <a:lumMod val="95000"/>
                  <a:lumOff val="5000"/>
                </a:schemeClr>
              </a:solidFill>
              <a:latin typeface=""/>
              <a:ea typeface="Times" pitchFamily="18" charset="0"/>
              <a:cs typeface="Times" pitchFamily="18" charset="0"/>
            </a:endParaRP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087F1852-536F-D5CC-738B-54EABC83A9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32690" y="3252785"/>
            <a:ext cx="7044983" cy="1638688"/>
          </a:xfrm>
          <a:noFill/>
        </p:spPr>
        <p:txBody>
          <a:bodyPr vert="horz" lIns="90488" tIns="44450" rIns="90488" bIns="44450" rtlCol="0">
            <a:noAutofit/>
          </a:bodyPr>
          <a:lstStyle/>
          <a:p>
            <a:pPr marL="0" indent="0">
              <a:buNone/>
            </a:pPr>
            <a:r>
              <a:rPr lang="en-GB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Defines a relation that is the </a:t>
            </a:r>
            <a:r>
              <a:rPr lang="en-GB" altLang="en-US" sz="3000" b="1" dirty="0">
                <a:solidFill>
                  <a:srgbClr val="6C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concatenation</a:t>
            </a:r>
            <a:r>
              <a:rPr lang="en-GB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GB" altLang="en-US" sz="3200" b="1" dirty="0">
                <a:solidFill>
                  <a:srgbClr val="6C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 tuple of relation R with every tuple of relation S</a:t>
            </a:r>
            <a:r>
              <a:rPr lang="en-GB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AC2382-8CC4-5463-2033-709F9A9DB685}"/>
              </a:ext>
            </a:extLst>
          </p:cNvPr>
          <p:cNvSpPr txBox="1">
            <a:spLocks/>
          </p:cNvSpPr>
          <p:nvPr/>
        </p:nvSpPr>
        <p:spPr>
          <a:xfrm rot="16200000">
            <a:off x="-3215290" y="3162962"/>
            <a:ext cx="6962655" cy="53207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altLang="en-US" sz="1800" b="1" dirty="0">
                <a:solidFill>
                  <a:schemeClr val="bg1"/>
                </a:solidFill>
                <a:latin typeface=""/>
              </a:rPr>
              <a:t>RELATIONAL ALGEBRA OPERATION I</a:t>
            </a:r>
            <a:endParaRPr lang="en-GB" sz="1800" dirty="0">
              <a:solidFill>
                <a:schemeClr val="bg1"/>
              </a:solidFill>
              <a:latin typeface=""/>
            </a:endParaRPr>
          </a:p>
        </p:txBody>
      </p:sp>
      <p:pic>
        <p:nvPicPr>
          <p:cNvPr id="3" name="Picture 2056" descr="C04NF01a">
            <a:extLst>
              <a:ext uri="{FF2B5EF4-FFF2-40B4-BE49-F238E27FC236}">
                <a16:creationId xmlns:a16="http://schemas.microsoft.com/office/drawing/2014/main" id="{6E7D2FB5-EB15-BCB7-178F-A7455A5FEB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319" t="-1126" r="505" b="63943"/>
          <a:stretch/>
        </p:blipFill>
        <p:spPr>
          <a:xfrm>
            <a:off x="532076" y="2906855"/>
            <a:ext cx="4082864" cy="2867643"/>
          </a:xfrm>
          <a:prstGeom prst="rect">
            <a:avLst/>
          </a:prstGeom>
          <a:noFill/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005EE2F-146E-7598-AC52-656641A54BC6}"/>
              </a:ext>
            </a:extLst>
          </p:cNvPr>
          <p:cNvSpPr/>
          <p:nvPr/>
        </p:nvSpPr>
        <p:spPr>
          <a:xfrm>
            <a:off x="4376417" y="1181486"/>
            <a:ext cx="3439166" cy="1294627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Symbol" pitchFamily="2" charset="2"/>
              </a:rPr>
              <a:t>R X S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Exclamation Mark Vector Art, Icons, and Graphics for Free Download">
            <a:extLst>
              <a:ext uri="{FF2B5EF4-FFF2-40B4-BE49-F238E27FC236}">
                <a16:creationId xmlns:a16="http://schemas.microsoft.com/office/drawing/2014/main" id="{D002D973-0C50-2F4B-4453-3451225A2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2641" y="4826214"/>
            <a:ext cx="822329" cy="822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F4E31732-D906-9290-3A24-8E89C63D00B4}"/>
              </a:ext>
            </a:extLst>
          </p:cNvPr>
          <p:cNvSpPr/>
          <p:nvPr/>
        </p:nvSpPr>
        <p:spPr>
          <a:xfrm>
            <a:off x="4147386" y="1940971"/>
            <a:ext cx="6925622" cy="46629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3F9464-B788-AA9F-7C6D-10DC9965FBCC}"/>
              </a:ext>
            </a:extLst>
          </p:cNvPr>
          <p:cNvSpPr/>
          <p:nvPr/>
        </p:nvSpPr>
        <p:spPr>
          <a:xfrm>
            <a:off x="1227551" y="1963755"/>
            <a:ext cx="2793304" cy="46629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059" name="Rectangle 1027">
            <a:extLst>
              <a:ext uri="{FF2B5EF4-FFF2-40B4-BE49-F238E27FC236}">
                <a16:creationId xmlns:a16="http://schemas.microsoft.com/office/drawing/2014/main" id="{2B790376-A796-0E62-55A4-0DBF8E9273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4880" y="1043435"/>
            <a:ext cx="10602238" cy="1219200"/>
          </a:xfrm>
          <a:noFill/>
        </p:spPr>
        <p:txBody>
          <a:bodyPr vert="horz" lIns="90488" tIns="44450" rIns="90488" bIns="44450" rtlCol="0">
            <a:normAutofit/>
          </a:bodyPr>
          <a:lstStyle/>
          <a:p>
            <a:pPr marL="0" indent="0">
              <a:buNone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the names and comments of all clients who have viewed a property for rent.</a:t>
            </a:r>
          </a:p>
        </p:txBody>
      </p:sp>
      <p:sp>
        <p:nvSpPr>
          <p:cNvPr id="23556" name="Right Arrow 4">
            <a:extLst>
              <a:ext uri="{FF2B5EF4-FFF2-40B4-BE49-F238E27FC236}">
                <a16:creationId xmlns:a16="http://schemas.microsoft.com/office/drawing/2014/main" id="{20153129-46AA-2252-4116-F17D1B312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2083" y="3719746"/>
            <a:ext cx="560992" cy="484188"/>
          </a:xfrm>
          <a:prstGeom prst="rightArrow">
            <a:avLst>
              <a:gd name="adj1" fmla="val 50000"/>
              <a:gd name="adj2" fmla="val 50024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BAE42C-7D1D-A241-CC59-E74BAA2EB582}"/>
              </a:ext>
            </a:extLst>
          </p:cNvPr>
          <p:cNvSpPr txBox="1">
            <a:spLocks/>
          </p:cNvSpPr>
          <p:nvPr/>
        </p:nvSpPr>
        <p:spPr>
          <a:xfrm rot="16200000">
            <a:off x="-3215290" y="3162962"/>
            <a:ext cx="6962655" cy="53207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altLang="en-US" sz="1800" b="1" dirty="0">
                <a:solidFill>
                  <a:schemeClr val="bg1"/>
                </a:solidFill>
                <a:latin typeface=""/>
              </a:rPr>
              <a:t>RELATIONAL ALGEBRA OPERATION I</a:t>
            </a:r>
            <a:endParaRPr lang="en-GB" sz="1800" dirty="0">
              <a:solidFill>
                <a:schemeClr val="bg1"/>
              </a:solidFill>
              <a:latin typeface="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40B2A07-2778-E03A-8540-CEF9CF51A8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8212" y="205683"/>
            <a:ext cx="7775575" cy="814387"/>
          </a:xfrm>
          <a:noFill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GB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"/>
                <a:ea typeface="Times" pitchFamily="18" charset="0"/>
                <a:cs typeface="Times" pitchFamily="18" charset="0"/>
              </a:rPr>
              <a:t>CARTESIAN PRODUCT ( </a:t>
            </a:r>
            <a:r>
              <a:rPr lang="en-GB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"/>
                <a:cs typeface="Times New Roman" panose="02020603050405020304" pitchFamily="18" charset="0"/>
              </a:rPr>
              <a:t>X )</a:t>
            </a:r>
            <a:endParaRPr lang="en-GB" altLang="en-US" b="1" dirty="0">
              <a:solidFill>
                <a:schemeClr val="tx1">
                  <a:lumMod val="95000"/>
                  <a:lumOff val="5000"/>
                </a:schemeClr>
              </a:solidFill>
              <a:latin typeface=""/>
              <a:ea typeface="Times" pitchFamily="18" charset="0"/>
              <a:cs typeface="Times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886B6A-D704-D888-68DB-1CC1398486EB}"/>
              </a:ext>
            </a:extLst>
          </p:cNvPr>
          <p:cNvSpPr txBox="1"/>
          <p:nvPr/>
        </p:nvSpPr>
        <p:spPr>
          <a:xfrm>
            <a:off x="794880" y="1963755"/>
            <a:ext cx="12811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90000"/>
              </a:lnSpc>
              <a:buFontTx/>
              <a:buNone/>
            </a:pPr>
            <a:r>
              <a:rPr lang="en-GB" altLang="en-US" sz="2000" b="1" noProof="1">
                <a:solidFill>
                  <a:srgbClr val="0000FF"/>
                </a:solidFill>
                <a:latin typeface="Symbol" pitchFamily="2" charset="2"/>
              </a:rPr>
              <a:t>s</a:t>
            </a:r>
            <a:r>
              <a:rPr lang="en-GB" altLang="en-US" sz="2000" b="1" baseline="-25000" dirty="0">
                <a:solidFill>
                  <a:srgbClr val="0000FF"/>
                </a:solidFill>
                <a:latin typeface="Times" pitchFamily="18" charset="0"/>
              </a:rPr>
              <a:t>Client</a:t>
            </a:r>
            <a:r>
              <a:rPr lang="en-GB" altLang="en-US" sz="2000" b="1" baseline="-25000" noProof="1">
                <a:solidFill>
                  <a:srgbClr val="0000FF"/>
                </a:solidFill>
                <a:latin typeface="Times" pitchFamily="18" charset="0"/>
              </a:rPr>
              <a:t>.</a:t>
            </a:r>
            <a:r>
              <a:rPr lang="en-GB" altLang="en-US" sz="2000" b="1" baseline="-25000" dirty="0" err="1">
                <a:solidFill>
                  <a:srgbClr val="0000FF"/>
                </a:solidFill>
                <a:latin typeface="Times" pitchFamily="18" charset="0"/>
              </a:rPr>
              <a:t>clientN</a:t>
            </a:r>
            <a:r>
              <a:rPr lang="en-GB" altLang="en-US" sz="2000" b="1" baseline="-25000" noProof="1">
                <a:solidFill>
                  <a:srgbClr val="0000FF"/>
                </a:solidFill>
                <a:latin typeface="Times" pitchFamily="18" charset="0"/>
              </a:rPr>
              <a:t>o = </a:t>
            </a:r>
            <a:r>
              <a:rPr lang="en-GB" altLang="en-US" sz="2000" b="1" baseline="-25000" dirty="0">
                <a:solidFill>
                  <a:srgbClr val="0000FF"/>
                </a:solidFill>
                <a:latin typeface="Times" pitchFamily="18" charset="0"/>
              </a:rPr>
              <a:t>V</a:t>
            </a:r>
            <a:r>
              <a:rPr lang="en-GB" altLang="en-US" sz="2000" b="1" baseline="-25000" noProof="1">
                <a:solidFill>
                  <a:srgbClr val="0000FF"/>
                </a:solidFill>
                <a:latin typeface="Times" pitchFamily="18" charset="0"/>
              </a:rPr>
              <a:t>iewing.</a:t>
            </a:r>
            <a:r>
              <a:rPr lang="en-GB" altLang="en-US" sz="2000" b="1" baseline="-25000" dirty="0" err="1">
                <a:solidFill>
                  <a:srgbClr val="0000FF"/>
                </a:solidFill>
                <a:latin typeface="Times" pitchFamily="18" charset="0"/>
              </a:rPr>
              <a:t>clientN</a:t>
            </a:r>
            <a:r>
              <a:rPr lang="en-GB" altLang="en-US" sz="2000" b="1" baseline="-25000" noProof="1">
                <a:solidFill>
                  <a:srgbClr val="0000FF"/>
                </a:solidFill>
                <a:latin typeface="Times" pitchFamily="18" charset="0"/>
              </a:rPr>
              <a:t>o</a:t>
            </a:r>
            <a:r>
              <a:rPr lang="en-GB" altLang="en-US" sz="2000" b="1" noProof="1">
                <a:solidFill>
                  <a:srgbClr val="0000FF"/>
                </a:solidFill>
                <a:latin typeface="Times" pitchFamily="18" charset="0"/>
              </a:rPr>
              <a:t>((</a:t>
            </a:r>
            <a:r>
              <a:rPr lang="en-GB" altLang="en-US" sz="2000" b="1" noProof="1">
                <a:solidFill>
                  <a:srgbClr val="0000FF"/>
                </a:solidFill>
                <a:latin typeface="Symbol" pitchFamily="2" charset="2"/>
              </a:rPr>
              <a:t>Õ</a:t>
            </a:r>
            <a:r>
              <a:rPr lang="en-GB" altLang="en-US" sz="2000" b="1" baseline="-25000" dirty="0" err="1">
                <a:solidFill>
                  <a:srgbClr val="0000FF"/>
                </a:solidFill>
                <a:latin typeface="Times" pitchFamily="18" charset="0"/>
              </a:rPr>
              <a:t>clientNo</a:t>
            </a:r>
            <a:r>
              <a:rPr lang="en-GB" altLang="en-US" sz="2000" b="1" baseline="-25000" noProof="1">
                <a:solidFill>
                  <a:srgbClr val="0000FF"/>
                </a:solidFill>
                <a:latin typeface="Times" pitchFamily="18" charset="0"/>
              </a:rPr>
              <a:t>,</a:t>
            </a:r>
            <a:r>
              <a:rPr lang="en-GB" altLang="en-US" sz="2000" b="1" baseline="-25000" dirty="0">
                <a:solidFill>
                  <a:srgbClr val="0000FF"/>
                </a:solidFill>
                <a:latin typeface="Times" pitchFamily="18" charset="0"/>
              </a:rPr>
              <a:t> </a:t>
            </a:r>
            <a:r>
              <a:rPr lang="en-GB" altLang="en-US" sz="2000" b="1" baseline="-25000" noProof="1">
                <a:solidFill>
                  <a:srgbClr val="0000FF"/>
                </a:solidFill>
                <a:latin typeface="Times" pitchFamily="18" charset="0"/>
              </a:rPr>
              <a:t>f</a:t>
            </a:r>
            <a:r>
              <a:rPr lang="en-GB" altLang="en-US" sz="2000" b="1" baseline="-25000" dirty="0">
                <a:solidFill>
                  <a:srgbClr val="0000FF"/>
                </a:solidFill>
                <a:latin typeface="Times" pitchFamily="18" charset="0"/>
              </a:rPr>
              <a:t>N</a:t>
            </a:r>
            <a:r>
              <a:rPr lang="en-GB" altLang="en-US" sz="2000" b="1" baseline="-25000" noProof="1">
                <a:solidFill>
                  <a:srgbClr val="0000FF"/>
                </a:solidFill>
                <a:latin typeface="Times" pitchFamily="18" charset="0"/>
              </a:rPr>
              <a:t>ame,</a:t>
            </a:r>
            <a:r>
              <a:rPr lang="en-GB" altLang="en-US" sz="2000" b="1" baseline="-25000" dirty="0">
                <a:solidFill>
                  <a:srgbClr val="0000FF"/>
                </a:solidFill>
                <a:latin typeface="Times" pitchFamily="18" charset="0"/>
              </a:rPr>
              <a:t> </a:t>
            </a:r>
            <a:r>
              <a:rPr lang="en-GB" altLang="en-US" sz="2000" b="1" baseline="-25000" noProof="1">
                <a:solidFill>
                  <a:srgbClr val="0000FF"/>
                </a:solidFill>
                <a:latin typeface="Times" pitchFamily="18" charset="0"/>
              </a:rPr>
              <a:t>l</a:t>
            </a:r>
            <a:r>
              <a:rPr lang="en-GB" altLang="en-US" sz="2000" b="1" baseline="-25000" dirty="0">
                <a:solidFill>
                  <a:srgbClr val="0000FF"/>
                </a:solidFill>
                <a:latin typeface="Times" pitchFamily="18" charset="0"/>
              </a:rPr>
              <a:t>N</a:t>
            </a:r>
            <a:r>
              <a:rPr lang="en-GB" altLang="en-US" sz="2000" b="1" baseline="-25000" noProof="1">
                <a:solidFill>
                  <a:srgbClr val="0000FF"/>
                </a:solidFill>
                <a:latin typeface="Times" pitchFamily="18" charset="0"/>
              </a:rPr>
              <a:t>ame</a:t>
            </a:r>
            <a:r>
              <a:rPr lang="en-GB" altLang="en-US" sz="2000" b="1" noProof="1">
                <a:solidFill>
                  <a:srgbClr val="0000FF"/>
                </a:solidFill>
                <a:latin typeface="Times" pitchFamily="18" charset="0"/>
              </a:rPr>
              <a:t>(</a:t>
            </a:r>
            <a:r>
              <a:rPr lang="en-GB" altLang="en-US" sz="2000" b="1" dirty="0">
                <a:solidFill>
                  <a:srgbClr val="0000FF"/>
                </a:solidFill>
                <a:latin typeface="Times" pitchFamily="18" charset="0"/>
              </a:rPr>
              <a:t>Client</a:t>
            </a:r>
            <a:r>
              <a:rPr lang="en-GB" altLang="en-US" sz="2000" b="1" noProof="1">
                <a:solidFill>
                  <a:srgbClr val="0000FF"/>
                </a:solidFill>
                <a:latin typeface="Times" pitchFamily="18" charset="0"/>
              </a:rPr>
              <a:t>)) </a:t>
            </a:r>
            <a:r>
              <a:rPr lang="en-GB" altLang="en-US" sz="2000" b="1" noProof="1">
                <a:solidFill>
                  <a:srgbClr val="0000FF"/>
                </a:solidFill>
                <a:latin typeface="Symbol" pitchFamily="2" charset="2"/>
                <a:sym typeface="Symbol" pitchFamily="2" charset="2"/>
              </a:rPr>
              <a:t></a:t>
            </a:r>
            <a:r>
              <a:rPr lang="en-GB" altLang="en-US" sz="2000" b="1" noProof="1">
                <a:solidFill>
                  <a:srgbClr val="0000FF"/>
                </a:solidFill>
                <a:latin typeface="Times" pitchFamily="18" charset="0"/>
              </a:rPr>
              <a:t> (</a:t>
            </a:r>
            <a:r>
              <a:rPr lang="en-GB" altLang="en-US" sz="2000" b="1" noProof="1">
                <a:solidFill>
                  <a:srgbClr val="0000FF"/>
                </a:solidFill>
                <a:latin typeface="Symbol" pitchFamily="2" charset="2"/>
              </a:rPr>
              <a:t>Õ</a:t>
            </a:r>
            <a:r>
              <a:rPr lang="en-GB" altLang="en-US" sz="2000" b="1" baseline="-25000" dirty="0" err="1">
                <a:solidFill>
                  <a:srgbClr val="0000FF"/>
                </a:solidFill>
                <a:latin typeface="Times" pitchFamily="18" charset="0"/>
              </a:rPr>
              <a:t>clientN</a:t>
            </a:r>
            <a:r>
              <a:rPr lang="en-GB" altLang="en-US" sz="2000" b="1" baseline="-25000" noProof="1">
                <a:solidFill>
                  <a:srgbClr val="0000FF"/>
                </a:solidFill>
                <a:latin typeface="Times" pitchFamily="18" charset="0"/>
              </a:rPr>
              <a:t>o,</a:t>
            </a:r>
            <a:r>
              <a:rPr lang="en-GB" altLang="en-US" sz="2000" b="1" baseline="-25000" dirty="0">
                <a:solidFill>
                  <a:srgbClr val="0000FF"/>
                </a:solidFill>
                <a:latin typeface="Times" pitchFamily="18" charset="0"/>
              </a:rPr>
              <a:t> </a:t>
            </a:r>
            <a:r>
              <a:rPr lang="en-GB" altLang="en-US" sz="2000" b="1" baseline="-25000" noProof="1">
                <a:solidFill>
                  <a:srgbClr val="0000FF"/>
                </a:solidFill>
                <a:latin typeface="Times" pitchFamily="18" charset="0"/>
              </a:rPr>
              <a:t>p</a:t>
            </a:r>
            <a:r>
              <a:rPr lang="en-GB" altLang="en-US" sz="2000" b="1" baseline="-25000" dirty="0" err="1">
                <a:solidFill>
                  <a:srgbClr val="0000FF"/>
                </a:solidFill>
                <a:latin typeface="Times" pitchFamily="18" charset="0"/>
              </a:rPr>
              <a:t>ropertyN</a:t>
            </a:r>
            <a:r>
              <a:rPr lang="en-GB" altLang="en-US" sz="2000" b="1" baseline="-25000" noProof="1">
                <a:solidFill>
                  <a:srgbClr val="0000FF"/>
                </a:solidFill>
                <a:latin typeface="Times" pitchFamily="18" charset="0"/>
              </a:rPr>
              <a:t>o,</a:t>
            </a:r>
            <a:r>
              <a:rPr lang="en-GB" altLang="en-US" sz="2000" b="1" baseline="-25000" dirty="0">
                <a:solidFill>
                  <a:srgbClr val="0000FF"/>
                </a:solidFill>
                <a:latin typeface="Times" pitchFamily="18" charset="0"/>
              </a:rPr>
              <a:t> </a:t>
            </a:r>
            <a:r>
              <a:rPr lang="en-GB" altLang="en-US" sz="2000" b="1" baseline="-25000" noProof="1">
                <a:solidFill>
                  <a:srgbClr val="0000FF"/>
                </a:solidFill>
                <a:latin typeface="Times" pitchFamily="18" charset="0"/>
              </a:rPr>
              <a:t>comment</a:t>
            </a:r>
            <a:r>
              <a:rPr lang="en-GB" altLang="en-US" sz="2000" b="1" noProof="1">
                <a:solidFill>
                  <a:srgbClr val="0000FF"/>
                </a:solidFill>
                <a:latin typeface="Times" pitchFamily="18" charset="0"/>
              </a:rPr>
              <a:t>(Viewing)))</a:t>
            </a:r>
            <a:endParaRPr lang="en-GB" altLang="en-US" sz="2000" noProof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1029" descr="DS3-Figure 04-07">
            <a:extLst>
              <a:ext uri="{FF2B5EF4-FFF2-40B4-BE49-F238E27FC236}">
                <a16:creationId xmlns:a16="http://schemas.microsoft.com/office/drawing/2014/main" id="{C90235CA-6FB3-E8F1-FC6E-C3A608EB11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464" y="3168900"/>
            <a:ext cx="6466618" cy="3444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A2F2F36-076A-F588-6A76-897952487711}"/>
              </a:ext>
            </a:extLst>
          </p:cNvPr>
          <p:cNvSpPr txBox="1"/>
          <p:nvPr/>
        </p:nvSpPr>
        <p:spPr>
          <a:xfrm>
            <a:off x="815464" y="2592024"/>
            <a:ext cx="6125226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3050" indent="-273050">
              <a:lnSpc>
                <a:spcPct val="90000"/>
              </a:lnSpc>
            </a:pPr>
            <a:r>
              <a:rPr lang="en-GB" alt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1. Use selection operation to extract those tuples where </a:t>
            </a:r>
            <a:r>
              <a:rPr lang="en-GB" altLang="en-US" sz="1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Client.clientNo</a:t>
            </a:r>
            <a:r>
              <a:rPr lang="en-GB" alt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= </a:t>
            </a:r>
            <a:r>
              <a:rPr lang="en-GB" altLang="en-US" sz="1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Viewing.clientNo</a:t>
            </a:r>
            <a:r>
              <a:rPr lang="en-GB" alt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  <p:pic>
        <p:nvPicPr>
          <p:cNvPr id="12" name="Picture 2054" descr="DS3-Figure 04-08">
            <a:extLst>
              <a:ext uri="{FF2B5EF4-FFF2-40B4-BE49-F238E27FC236}">
                <a16:creationId xmlns:a16="http://schemas.microsoft.com/office/drawing/2014/main" id="{350F0381-2AF8-410B-911C-6E3D18176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3074" y="3327585"/>
            <a:ext cx="4273690" cy="1268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4401B03-FA90-A4C1-8AC5-4998DF15BA62}"/>
              </a:ext>
            </a:extLst>
          </p:cNvPr>
          <p:cNvSpPr txBox="1"/>
          <p:nvPr/>
        </p:nvSpPr>
        <p:spPr>
          <a:xfrm>
            <a:off x="7843074" y="2679026"/>
            <a:ext cx="4281425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3050" indent="-273050">
              <a:lnSpc>
                <a:spcPct val="90000"/>
              </a:lnSpc>
            </a:pPr>
            <a:r>
              <a:rPr lang="en-GB" alt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2. </a:t>
            </a:r>
            <a:r>
              <a:rPr lang="en-GB" alt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Use</a:t>
            </a:r>
            <a:r>
              <a:rPr lang="en-GB" altLang="en-US" b="1" dirty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Cartesian Product </a:t>
            </a:r>
            <a:r>
              <a:rPr lang="en-GB" alt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(X) and </a:t>
            </a:r>
            <a:r>
              <a:rPr lang="en-GB" altLang="en-US" b="1" dirty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Project</a:t>
            </a:r>
            <a:r>
              <a:rPr lang="en-GB" alt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selected column </a:t>
            </a:r>
            <a:endParaRPr lang="en-GB" alt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8FE539D-6454-8B41-3F3E-A3A9FC9D3B77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2624203" y="2430049"/>
            <a:ext cx="0" cy="24897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E2780D6-897D-7114-311C-57517438C007}"/>
              </a:ext>
            </a:extLst>
          </p:cNvPr>
          <p:cNvCxnSpPr>
            <a:cxnSpLocks/>
          </p:cNvCxnSpPr>
          <p:nvPr/>
        </p:nvCxnSpPr>
        <p:spPr>
          <a:xfrm>
            <a:off x="6936515" y="2343047"/>
            <a:ext cx="967408" cy="51288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84F22F9-F3D2-6F0C-AE09-32898B85D4F9}"/>
              </a:ext>
            </a:extLst>
          </p:cNvPr>
          <p:cNvSpPr txBox="1"/>
          <p:nvPr/>
        </p:nvSpPr>
        <p:spPr>
          <a:xfrm>
            <a:off x="7903922" y="5146670"/>
            <a:ext cx="3858017" cy="8679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 eaLnBrk="1" hangingPunct="1">
              <a:lnSpc>
                <a:spcPct val="90000"/>
              </a:lnSpc>
              <a:buClr>
                <a:schemeClr val="accent2"/>
              </a:buClr>
              <a:buSzPct val="75000"/>
            </a:pPr>
            <a:r>
              <a:rPr lang="en-GB" altLang="en-US" sz="1800" b="1" dirty="0">
                <a:latin typeface="Times" pitchFamily="18" charset="0"/>
                <a:ea typeface="MS PGothic" panose="020B0600070205080204" pitchFamily="34" charset="-128"/>
              </a:rPr>
              <a:t>Cartesian </a:t>
            </a:r>
            <a:r>
              <a:rPr lang="en-GB" altLang="en-US" b="1" dirty="0">
                <a:latin typeface="Times" pitchFamily="18" charset="0"/>
                <a:ea typeface="MS PGothic" panose="020B0600070205080204" pitchFamily="34" charset="-128"/>
              </a:rPr>
              <a:t>P</a:t>
            </a:r>
            <a:r>
              <a:rPr lang="en-GB" altLang="en-US" sz="1800" b="1" dirty="0">
                <a:latin typeface="Times" pitchFamily="18" charset="0"/>
                <a:ea typeface="MS PGothic" panose="020B0600070205080204" pitchFamily="34" charset="-128"/>
              </a:rPr>
              <a:t>roduct </a:t>
            </a:r>
            <a:r>
              <a:rPr lang="en-GB" altLang="en-US" sz="1800" dirty="0">
                <a:latin typeface="Times" pitchFamily="18" charset="0"/>
                <a:ea typeface="MS PGothic" panose="020B0600070205080204" pitchFamily="34" charset="-128"/>
              </a:rPr>
              <a:t>and </a:t>
            </a:r>
            <a:r>
              <a:rPr lang="en-GB" altLang="en-US" sz="1800" b="1" dirty="0">
                <a:latin typeface="Times" pitchFamily="18" charset="0"/>
                <a:ea typeface="MS PGothic" panose="020B0600070205080204" pitchFamily="34" charset="-128"/>
              </a:rPr>
              <a:t>Selection</a:t>
            </a:r>
            <a:r>
              <a:rPr lang="en-GB" altLang="en-US" sz="1800" dirty="0">
                <a:latin typeface="Times" pitchFamily="18" charset="0"/>
                <a:ea typeface="MS PGothic" panose="020B0600070205080204" pitchFamily="34" charset="-128"/>
              </a:rPr>
              <a:t> can be reduced to a single operation called a </a:t>
            </a:r>
            <a:r>
              <a:rPr lang="en-GB" altLang="en-US" sz="2000" b="1" i="1" dirty="0">
                <a:solidFill>
                  <a:srgbClr val="6C1D35"/>
                </a:solidFill>
                <a:latin typeface="Times" pitchFamily="18" charset="0"/>
                <a:ea typeface="MS PGothic" panose="020B0600070205080204" pitchFamily="34" charset="-128"/>
              </a:rPr>
              <a:t>Join</a:t>
            </a:r>
            <a:r>
              <a:rPr lang="en-GB" altLang="en-US" sz="1800" dirty="0">
                <a:latin typeface="Times" pitchFamily="18" charset="0"/>
                <a:ea typeface="MS PGothic" panose="020B0600070205080204" pitchFamily="34" charset="-128"/>
              </a:rPr>
              <a:t>.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59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5" name="Rectangle 2051">
            <a:extLst>
              <a:ext uri="{FF2B5EF4-FFF2-40B4-BE49-F238E27FC236}">
                <a16:creationId xmlns:a16="http://schemas.microsoft.com/office/drawing/2014/main" id="{26C3AC81-F5DD-077D-BBD5-8D92C0E2AE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676400"/>
            <a:ext cx="8229600" cy="1447800"/>
          </a:xfrm>
          <a:noFill/>
        </p:spPr>
        <p:txBody>
          <a:bodyPr vert="horz" lIns="90488" tIns="44450" rIns="90488" bIns="4445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selection operation to extract those tuples where </a:t>
            </a:r>
            <a:r>
              <a:rPr lang="en-GB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Client.clientNo</a:t>
            </a: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GB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Viewing.clientNo</a:t>
            </a: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>
              <a:lnSpc>
                <a:spcPct val="90000"/>
              </a:lnSpc>
            </a:pPr>
            <a:endParaRPr lang="en-GB" altLang="en-US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90000"/>
              </a:lnSpc>
            </a:pPr>
            <a:endParaRPr lang="en-GB" altLang="en-US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90000"/>
              </a:lnSpc>
            </a:pPr>
            <a:endParaRPr lang="en-GB" altLang="en-US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90000"/>
              </a:lnSpc>
            </a:pPr>
            <a:endParaRPr lang="en-GB" altLang="en-US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7158" name="Picture 2054" descr="DS3-Figure 04-08">
            <a:extLst>
              <a:ext uri="{FF2B5EF4-FFF2-40B4-BE49-F238E27FC236}">
                <a16:creationId xmlns:a16="http://schemas.microsoft.com/office/drawing/2014/main" id="{5D53F766-D8D3-FE4E-6A74-F4721B7752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3429001"/>
            <a:ext cx="6408738" cy="190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7160" name="Text Box 2056">
            <a:extLst>
              <a:ext uri="{FF2B5EF4-FFF2-40B4-BE49-F238E27FC236}">
                <a16:creationId xmlns:a16="http://schemas.microsoft.com/office/drawing/2014/main" id="{1626088C-CB64-8369-D4E1-4F59A7B38B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5410200"/>
            <a:ext cx="8458200" cy="75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lnSpc>
                <a:spcPct val="90000"/>
              </a:lnSpc>
              <a:buClr>
                <a:schemeClr val="accent2"/>
              </a:buClr>
              <a:buSzPct val="75000"/>
              <a:buFont typeface="Monotype Sorts" pitchFamily="2" charset="2"/>
              <a:buChar char="u"/>
            </a:pPr>
            <a:r>
              <a:rPr lang="en-GB" altLang="en-US" sz="2400" dirty="0">
                <a:latin typeface="Times" pitchFamily="18" charset="0"/>
                <a:ea typeface="MS PGothic" panose="020B0600070205080204" pitchFamily="34" charset="-128"/>
              </a:rPr>
              <a:t> Cartesian product and Selection can be reduced to a single operation called a </a:t>
            </a:r>
            <a:r>
              <a:rPr lang="en-GB" altLang="en-US" sz="2400" i="1" dirty="0">
                <a:latin typeface="Times" pitchFamily="18" charset="0"/>
                <a:ea typeface="MS PGothic" panose="020B0600070205080204" pitchFamily="34" charset="-128"/>
              </a:rPr>
              <a:t>Join</a:t>
            </a:r>
            <a:r>
              <a:rPr lang="en-GB" altLang="en-US" sz="2400" dirty="0">
                <a:latin typeface="Times" pitchFamily="18" charset="0"/>
                <a:ea typeface="MS PGothic" panose="020B0600070205080204" pitchFamily="34" charset="-128"/>
              </a:rPr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5C3767-CED9-299A-17C2-A7B2465FE349}"/>
              </a:ext>
            </a:extLst>
          </p:cNvPr>
          <p:cNvSpPr txBox="1">
            <a:spLocks/>
          </p:cNvSpPr>
          <p:nvPr/>
        </p:nvSpPr>
        <p:spPr>
          <a:xfrm rot="16200000">
            <a:off x="-3215290" y="3162962"/>
            <a:ext cx="6962655" cy="53207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altLang="en-US" sz="1800" b="1" dirty="0">
                <a:solidFill>
                  <a:schemeClr val="bg1"/>
                </a:solidFill>
                <a:latin typeface=""/>
              </a:rPr>
              <a:t>RELATIONAL ALGEBRA OPERATION I</a:t>
            </a:r>
            <a:endParaRPr lang="en-GB" sz="1800" dirty="0">
              <a:solidFill>
                <a:schemeClr val="bg1"/>
              </a:solidFill>
              <a:latin typeface="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E831B56-D2D8-A7B3-3BC2-7EA66E6583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8212" y="205683"/>
            <a:ext cx="7775575" cy="814387"/>
          </a:xfrm>
          <a:noFill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GB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"/>
                <a:ea typeface="Times" pitchFamily="18" charset="0"/>
                <a:cs typeface="Times" pitchFamily="18" charset="0"/>
              </a:rPr>
              <a:t>CARTESIAN PRODUCT ( </a:t>
            </a:r>
            <a:r>
              <a:rPr lang="en-GB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"/>
                <a:cs typeface="Times New Roman" panose="02020603050405020304" pitchFamily="18" charset="0"/>
              </a:rPr>
              <a:t>X )</a:t>
            </a:r>
            <a:endParaRPr lang="en-GB" altLang="en-US" b="1" dirty="0">
              <a:solidFill>
                <a:schemeClr val="tx1">
                  <a:lumMod val="95000"/>
                  <a:lumOff val="5000"/>
                </a:schemeClr>
              </a:solidFill>
              <a:latin typeface=""/>
              <a:ea typeface="Times" pitchFamily="18" charset="0"/>
              <a:cs typeface="Times" pitchFamily="18" charset="0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77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77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55" grpId="0" build="p" autoUpdateAnimBg="0"/>
      <p:bldP spid="177160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AB317246-D08B-B9C6-CC5A-A259B80A4712}"/>
              </a:ext>
            </a:extLst>
          </p:cNvPr>
          <p:cNvSpPr txBox="1">
            <a:spLocks noChangeArrowheads="1"/>
          </p:cNvSpPr>
          <p:nvPr/>
        </p:nvSpPr>
        <p:spPr>
          <a:xfrm>
            <a:off x="2208212" y="273843"/>
            <a:ext cx="7775575" cy="814387"/>
          </a:xfrm>
          <a:prstGeom prst="rect">
            <a:avLst/>
          </a:prstGeom>
          <a:noFill/>
        </p:spPr>
        <p:txBody>
          <a:bodyPr vert="horz" lIns="90488" tIns="44450" rIns="90488" bIns="4445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"/>
                <a:ea typeface="Times" pitchFamily="18" charset="0"/>
                <a:cs typeface="Times" pitchFamily="18" charset="0"/>
              </a:rPr>
              <a:t>CLASS DISCUSSION 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465B1D-2333-A80A-A1BC-B5AC31AE3C42}"/>
              </a:ext>
            </a:extLst>
          </p:cNvPr>
          <p:cNvSpPr txBox="1"/>
          <p:nvPr/>
        </p:nvSpPr>
        <p:spPr>
          <a:xfrm>
            <a:off x="532076" y="1374824"/>
            <a:ext cx="11367649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GB" alt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Describe the result of the relational algebra expression:</a:t>
            </a:r>
          </a:p>
          <a:p>
            <a:pPr lvl="1"/>
            <a:endParaRPr lang="en-GB" alt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200150" lvl="1" indent="-742950">
              <a:buFont typeface="+mj-lt"/>
              <a:buAutoNum type="arabicPeriod"/>
            </a:pPr>
            <a:r>
              <a:rPr lang="en-US" altLang="en-US" sz="4000" dirty="0">
                <a:sym typeface="Symbol" pitchFamily="2" charset="2"/>
              </a:rPr>
              <a:t></a:t>
            </a:r>
            <a:r>
              <a:rPr lang="en-GB" altLang="en-US" sz="2400" dirty="0" err="1"/>
              <a:t>hotelNo</a:t>
            </a:r>
            <a:r>
              <a:rPr lang="en-GB" altLang="en-US" sz="4000" dirty="0"/>
              <a:t> (</a:t>
            </a:r>
            <a:r>
              <a:rPr lang="en-GB" altLang="en-US" sz="4400" dirty="0">
                <a:sym typeface="Symbol" pitchFamily="2" charset="2"/>
              </a:rPr>
              <a:t></a:t>
            </a:r>
            <a:r>
              <a:rPr lang="en-GB" altLang="en-US" sz="2400" dirty="0"/>
              <a:t>price &gt; 50</a:t>
            </a:r>
            <a:r>
              <a:rPr lang="en-GB" altLang="en-US" sz="4000" dirty="0"/>
              <a:t> (Room) )</a:t>
            </a:r>
          </a:p>
          <a:p>
            <a:pPr marL="1200150" lvl="1" indent="-742950">
              <a:buFont typeface="+mj-lt"/>
              <a:buAutoNum type="arabicPeriod"/>
            </a:pPr>
            <a:endParaRPr lang="en-GB" altLang="en-US" sz="4000" dirty="0"/>
          </a:p>
          <a:p>
            <a:pPr marL="1200150" lvl="1" indent="-742950">
              <a:buFont typeface="+mj-lt"/>
              <a:buAutoNum type="arabicPeriod"/>
            </a:pPr>
            <a:r>
              <a:rPr lang="en-GB" altLang="en-US" sz="4000" dirty="0">
                <a:sym typeface="Symbol" pitchFamily="2" charset="2"/>
              </a:rPr>
              <a:t> </a:t>
            </a:r>
            <a:r>
              <a:rPr lang="en-GB" altLang="en-US" sz="4000" dirty="0" err="1"/>
              <a:t>Hotel.hotelNo</a:t>
            </a:r>
            <a:r>
              <a:rPr lang="en-GB" altLang="en-US" sz="4000" dirty="0"/>
              <a:t> = </a:t>
            </a:r>
            <a:r>
              <a:rPr lang="en-GB" altLang="en-US" sz="4000" dirty="0" err="1"/>
              <a:t>Room.hotelNo</a:t>
            </a:r>
            <a:r>
              <a:rPr lang="en-GB" altLang="en-US" sz="4000" dirty="0"/>
              <a:t>(Hotel X Room)</a:t>
            </a:r>
            <a:endParaRPr lang="en-US" altLang="en-US" sz="4000" dirty="0"/>
          </a:p>
          <a:p>
            <a:pPr lvl="1"/>
            <a:endParaRPr lang="en-US" altLang="en-US" sz="4000" dirty="0"/>
          </a:p>
          <a:p>
            <a:pPr lvl="1"/>
            <a:endParaRPr lang="en-GB" alt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3710A33-2C7C-C8C0-15CB-0CE35D48E167}"/>
              </a:ext>
            </a:extLst>
          </p:cNvPr>
          <p:cNvSpPr txBox="1">
            <a:spLocks/>
          </p:cNvSpPr>
          <p:nvPr/>
        </p:nvSpPr>
        <p:spPr>
          <a:xfrm rot="16200000">
            <a:off x="-3215290" y="3162962"/>
            <a:ext cx="6962655" cy="53207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altLang="en-US" sz="1800" b="1" dirty="0">
                <a:solidFill>
                  <a:schemeClr val="bg1"/>
                </a:solidFill>
                <a:latin typeface=""/>
              </a:rPr>
              <a:t>RELATIONAL ALGEBRA OPERATION I</a:t>
            </a:r>
            <a:endParaRPr lang="en-GB" sz="1800" dirty="0">
              <a:solidFill>
                <a:schemeClr val="bg1"/>
              </a:solidFill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29020530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A0249-4A9D-9F9A-432A-9E0CA7DBD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23A0FCC-F623-4CAA-4F77-B58B818D96FF}"/>
              </a:ext>
            </a:extLst>
          </p:cNvPr>
          <p:cNvSpPr txBox="1">
            <a:spLocks noChangeArrowheads="1"/>
          </p:cNvSpPr>
          <p:nvPr/>
        </p:nvSpPr>
        <p:spPr>
          <a:xfrm>
            <a:off x="2208212" y="273843"/>
            <a:ext cx="7775575" cy="814387"/>
          </a:xfrm>
          <a:prstGeom prst="rect">
            <a:avLst/>
          </a:prstGeom>
          <a:noFill/>
        </p:spPr>
        <p:txBody>
          <a:bodyPr vert="horz" lIns="90488" tIns="44450" rIns="90488" bIns="4445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"/>
                <a:ea typeface="Times" pitchFamily="18" charset="0"/>
                <a:cs typeface="Times" pitchFamily="18" charset="0"/>
              </a:rPr>
              <a:t>CLASS DISCUSSION 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9E6EC3-6D42-7169-045E-478B6AAE0913}"/>
              </a:ext>
            </a:extLst>
          </p:cNvPr>
          <p:cNvSpPr txBox="1"/>
          <p:nvPr/>
        </p:nvSpPr>
        <p:spPr>
          <a:xfrm>
            <a:off x="532076" y="1287142"/>
            <a:ext cx="1165992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GB" altLang="en-US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Write the relational algebra expression for the following statements:</a:t>
            </a:r>
          </a:p>
          <a:p>
            <a:pPr lvl="1"/>
            <a:endParaRPr lang="en-GB" altLang="en-US" sz="2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GB" altLang="en-US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List all hotels.</a:t>
            </a:r>
          </a:p>
          <a:p>
            <a:pPr marL="914400" lvl="1" indent="-457200">
              <a:buFont typeface="+mj-lt"/>
              <a:buAutoNum type="arabicPeriod"/>
            </a:pPr>
            <a:endParaRPr lang="en-GB" altLang="en-US" sz="2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GB" altLang="en-US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List all single rooms with a price below RM200 per night.</a:t>
            </a:r>
          </a:p>
          <a:p>
            <a:pPr marL="914400" lvl="1" indent="-457200">
              <a:buFont typeface="+mj-lt"/>
              <a:buAutoNum type="arabicPeriod"/>
            </a:pPr>
            <a:endParaRPr lang="en-GB" altLang="en-US" sz="2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GB" altLang="en-US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List the names and cities of all guests.</a:t>
            </a:r>
          </a:p>
          <a:p>
            <a:pPr lvl="1"/>
            <a:endParaRPr lang="en-GB" altLang="en-US" sz="2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386C93-1397-DAE0-E807-43D0129D62BE}"/>
              </a:ext>
            </a:extLst>
          </p:cNvPr>
          <p:cNvSpPr txBox="1">
            <a:spLocks/>
          </p:cNvSpPr>
          <p:nvPr/>
        </p:nvSpPr>
        <p:spPr>
          <a:xfrm rot="16200000">
            <a:off x="-3215290" y="3162962"/>
            <a:ext cx="6962655" cy="53207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altLang="en-US" sz="1800" b="1" dirty="0">
                <a:solidFill>
                  <a:schemeClr val="bg1"/>
                </a:solidFill>
                <a:latin typeface=""/>
              </a:rPr>
              <a:t>RELATIONAL ALGEBRA OPERATION I</a:t>
            </a:r>
            <a:endParaRPr lang="en-GB" sz="1800" dirty="0">
              <a:solidFill>
                <a:schemeClr val="bg1"/>
              </a:solidFill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32426675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053" descr="C04NF01b">
            <a:extLst>
              <a:ext uri="{FF2B5EF4-FFF2-40B4-BE49-F238E27FC236}">
                <a16:creationId xmlns:a16="http://schemas.microsoft.com/office/drawing/2014/main" id="{775284E6-52D4-FE96-0358-3CF3465FF13D}"/>
              </a:ext>
            </a:extLst>
          </p:cNvPr>
          <p:cNvPicPr>
            <a:picLocks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519"/>
          <a:stretch/>
        </p:blipFill>
        <p:spPr>
          <a:xfrm>
            <a:off x="932146" y="1671181"/>
            <a:ext cx="10864410" cy="3326704"/>
          </a:xfrm>
          <a:noFill/>
        </p:spPr>
      </p:pic>
      <p:sp>
        <p:nvSpPr>
          <p:cNvPr id="5" name="Rectangle 2050">
            <a:extLst>
              <a:ext uri="{FF2B5EF4-FFF2-40B4-BE49-F238E27FC236}">
                <a16:creationId xmlns:a16="http://schemas.microsoft.com/office/drawing/2014/main" id="{8F1E7080-64A6-1111-093C-D3121C7911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2313" y="260350"/>
            <a:ext cx="8229600" cy="998538"/>
          </a:xfrm>
        </p:spPr>
        <p:txBody>
          <a:bodyPr/>
          <a:lstStyle/>
          <a:p>
            <a:r>
              <a:rPr lang="en-GB" altLang="en-US" b="1" dirty="0">
                <a:latin typeface=""/>
              </a:rPr>
              <a:t>RELATIONAL ALGEBRA II</a:t>
            </a:r>
            <a:endParaRPr lang="en-GB" altLang="en-US" b="1" dirty="0">
              <a:solidFill>
                <a:srgbClr val="C00000"/>
              </a:solidFill>
              <a:latin typeface=""/>
              <a:ea typeface="Times" pitchFamily="18" charset="0"/>
              <a:cs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4191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B4B69184-6745-B729-540D-30892B5EE6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79650" y="404814"/>
            <a:ext cx="7702550" cy="814387"/>
          </a:xfrm>
          <a:noFill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GB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" pitchFamily="18" charset="0"/>
                <a:ea typeface="Times" pitchFamily="18" charset="0"/>
                <a:cs typeface="Times" pitchFamily="18" charset="0"/>
              </a:rPr>
              <a:t>JOIN OPERATIONS 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5B0D940E-A5FA-DD18-5745-204D8DF05D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0226" y="1371599"/>
            <a:ext cx="11414864" cy="5538728"/>
          </a:xfrm>
          <a:noFill/>
        </p:spPr>
        <p:txBody>
          <a:bodyPr vert="horz" lIns="90488" tIns="44450" rIns="90488" bIns="44450" rtlCol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GB" alt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Join is a derivative of Cartesian product.</a:t>
            </a:r>
          </a:p>
          <a:p>
            <a:pPr algn="just">
              <a:lnSpc>
                <a:spcPct val="70000"/>
              </a:lnSpc>
            </a:pPr>
            <a:endParaRPr lang="en-GB" alt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just">
              <a:lnSpc>
                <a:spcPct val="90000"/>
              </a:lnSpc>
            </a:pPr>
            <a:r>
              <a:rPr lang="en-GB" alt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Equivalent to performing a Selection, using join predicate as selection formula, over Cartesian product of the two operand relations. </a:t>
            </a:r>
          </a:p>
          <a:p>
            <a:pPr algn="just">
              <a:lnSpc>
                <a:spcPct val="90000"/>
              </a:lnSpc>
            </a:pPr>
            <a:endParaRPr lang="en-GB" alt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just">
              <a:lnSpc>
                <a:spcPct val="90000"/>
              </a:lnSpc>
            </a:pPr>
            <a:r>
              <a:rPr lang="en-GB" alt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One of the most difficult operations to implement efficiently in an RDBMS and one reason why RDBMSs have intrinsic performance problems.</a:t>
            </a:r>
          </a:p>
          <a:p>
            <a:pPr algn="just">
              <a:lnSpc>
                <a:spcPct val="90000"/>
              </a:lnSpc>
            </a:pPr>
            <a:endParaRPr lang="en-GB" alt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GB" alt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Various forms of join operation</a:t>
            </a:r>
          </a:p>
          <a:p>
            <a:pPr lvl="1"/>
            <a:r>
              <a:rPr lang="en-GB" alt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Theta join</a:t>
            </a:r>
          </a:p>
          <a:p>
            <a:pPr lvl="1"/>
            <a:r>
              <a:rPr lang="en-GB" alt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Equijoin (a particular type of Theta join)</a:t>
            </a:r>
          </a:p>
          <a:p>
            <a:pPr lvl="1"/>
            <a:r>
              <a:rPr lang="en-GB" alt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Natural join</a:t>
            </a:r>
          </a:p>
          <a:p>
            <a:pPr lvl="1"/>
            <a:r>
              <a:rPr lang="en-GB" alt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Outer join</a:t>
            </a:r>
          </a:p>
          <a:p>
            <a:pPr lvl="1"/>
            <a:r>
              <a:rPr lang="en-GB" altLang="en-US" sz="1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Semijoin</a:t>
            </a:r>
            <a:endParaRPr lang="en-GB" alt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just">
              <a:lnSpc>
                <a:spcPct val="90000"/>
              </a:lnSpc>
            </a:pPr>
            <a:endParaRPr lang="en-GB" alt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2E3CDB-B409-D930-8A14-7EE59BB816F4}"/>
              </a:ext>
            </a:extLst>
          </p:cNvPr>
          <p:cNvSpPr txBox="1">
            <a:spLocks/>
          </p:cNvSpPr>
          <p:nvPr/>
        </p:nvSpPr>
        <p:spPr>
          <a:xfrm rot="16200000">
            <a:off x="-3215290" y="3162962"/>
            <a:ext cx="6962655" cy="53207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altLang="en-US" sz="1800" b="1" dirty="0">
                <a:solidFill>
                  <a:schemeClr val="bg1"/>
                </a:solidFill>
                <a:latin typeface=""/>
              </a:rPr>
              <a:t>RELATIONAL ALGEBRA OPERATION II</a:t>
            </a:r>
            <a:endParaRPr lang="en-GB" sz="1800" dirty="0">
              <a:solidFill>
                <a:schemeClr val="bg1"/>
              </a:solidFill>
              <a:latin typeface="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6DA0672-BD95-D0CC-627C-EDE639E006B6}"/>
              </a:ext>
            </a:extLst>
          </p:cNvPr>
          <p:cNvSpPr/>
          <p:nvPr/>
        </p:nvSpPr>
        <p:spPr>
          <a:xfrm>
            <a:off x="4088319" y="1363197"/>
            <a:ext cx="3439166" cy="1294627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Symbol" pitchFamily="2" charset="2"/>
              </a:rPr>
              <a:t>R      </a:t>
            </a:r>
            <a:r>
              <a:rPr lang="en-GB" altLang="en-US" sz="4800" baseline="-250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Symbol" pitchFamily="2" charset="2"/>
              </a:rPr>
              <a:t>F</a:t>
            </a:r>
            <a:r>
              <a:rPr lang="en-GB" altLang="en-US" sz="4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Symbol" pitchFamily="2" charset="2"/>
              </a:rPr>
              <a:t> S</a:t>
            </a:r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8A5F002C-16A5-909B-D458-95E8CC3707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0444" y="192918"/>
            <a:ext cx="7631112" cy="814387"/>
          </a:xfrm>
          <a:noFill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GB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" pitchFamily="18" charset="0"/>
                <a:ea typeface="Times" pitchFamily="18" charset="0"/>
                <a:cs typeface="Times" pitchFamily="18" charset="0"/>
              </a:rPr>
              <a:t>THETA JOIN (</a:t>
            </a:r>
            <a:r>
              <a:rPr lang="en-GB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" pitchFamily="18" charset="0"/>
                <a:ea typeface="Times" pitchFamily="18" charset="0"/>
                <a:cs typeface="Times" pitchFamily="18" charset="0"/>
                <a:sym typeface="Symbol" pitchFamily="2" charset="2"/>
              </a:rPr>
              <a:t></a:t>
            </a:r>
            <a:r>
              <a:rPr lang="en-GB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" pitchFamily="18" charset="0"/>
                <a:ea typeface="Times" pitchFamily="18" charset="0"/>
                <a:cs typeface="Times" pitchFamily="18" charset="0"/>
              </a:rPr>
              <a:t>-JOIN)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C5968A28-5341-F61C-5EC0-8C50600DEF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7030" y="2657824"/>
            <a:ext cx="10709754" cy="4114800"/>
          </a:xfrm>
          <a:noFill/>
        </p:spPr>
        <p:txBody>
          <a:bodyPr vert="horz" lIns="90488" tIns="44450" rIns="90488" bIns="44450" rtlCol="0">
            <a:normAutofit/>
          </a:bodyPr>
          <a:lstStyle/>
          <a:p>
            <a:pPr marL="0" indent="0">
              <a:buNone/>
            </a:pPr>
            <a:r>
              <a:rPr lang="en-GB" alt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</a:t>
            </a:r>
          </a:p>
          <a:p>
            <a:pPr lvl="1"/>
            <a:r>
              <a:rPr lang="en-GB" alt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Defines a relation that contains </a:t>
            </a:r>
            <a:r>
              <a:rPr lang="en-GB" altLang="en-US" sz="3300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tuples satisfying the predicate F</a:t>
            </a:r>
            <a:r>
              <a:rPr lang="en-GB" alt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from </a:t>
            </a:r>
            <a:r>
              <a:rPr lang="en-GB" altLang="en-US" sz="3300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Cartesian product of R and S</a:t>
            </a:r>
            <a:r>
              <a:rPr lang="en-GB" alt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</a:t>
            </a:r>
          </a:p>
          <a:p>
            <a:pPr lvl="1"/>
            <a:endParaRPr lang="en-GB" altLang="en-US" sz="3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/>
            <a:r>
              <a:rPr lang="en-GB" alt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predicate F is of the form </a:t>
            </a:r>
            <a:r>
              <a:rPr lang="en-GB" altLang="en-US" sz="3300" b="1" dirty="0" err="1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R.a</a:t>
            </a:r>
            <a:r>
              <a:rPr lang="en-GB" altLang="en-US" sz="3300" b="1" baseline="-20000" dirty="0" err="1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</a:t>
            </a:r>
            <a:r>
              <a:rPr lang="en-GB" altLang="en-US" sz="3300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GB" altLang="en-US" sz="3300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Symbol" pitchFamily="2" charset="2"/>
              </a:rPr>
              <a:t></a:t>
            </a:r>
            <a:r>
              <a:rPr lang="en-GB" altLang="en-US" sz="3300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GB" altLang="en-US" sz="3300" b="1" dirty="0" err="1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S.b</a:t>
            </a:r>
            <a:r>
              <a:rPr lang="en-GB" altLang="en-US" sz="3300" b="1" baseline="-20000" dirty="0" err="1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</a:t>
            </a:r>
            <a:r>
              <a:rPr lang="en-GB" altLang="en-US" sz="3300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GB" alt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where </a:t>
            </a:r>
            <a:r>
              <a:rPr lang="en-GB" altLang="en-US" sz="3300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Symbol" pitchFamily="2" charset="2"/>
              </a:rPr>
              <a:t></a:t>
            </a:r>
            <a:r>
              <a:rPr lang="en-GB" alt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may be one of the comparison operators </a:t>
            </a:r>
            <a:r>
              <a:rPr lang="en-GB" altLang="en-US" sz="3200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(&lt;, </a:t>
            </a:r>
            <a:r>
              <a:rPr lang="en-GB" altLang="en-US" sz="3200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Symbol" pitchFamily="2" charset="2"/>
              </a:rPr>
              <a:t></a:t>
            </a:r>
            <a:r>
              <a:rPr lang="en-GB" altLang="en-US" sz="3200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&gt;, </a:t>
            </a:r>
            <a:r>
              <a:rPr lang="en-GB" altLang="en-US" sz="3200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Symbol" pitchFamily="2" charset="2"/>
              </a:rPr>
              <a:t></a:t>
            </a:r>
            <a:r>
              <a:rPr lang="en-GB" altLang="en-US" sz="3200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=, </a:t>
            </a:r>
            <a:r>
              <a:rPr lang="en-GB" altLang="en-US" sz="3200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Symbol" pitchFamily="2" charset="2"/>
              </a:rPr>
              <a:t></a:t>
            </a:r>
            <a:r>
              <a:rPr lang="en-GB" alt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).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B78AC0D7-9DC4-ED45-E821-A4081090787F}"/>
              </a:ext>
            </a:extLst>
          </p:cNvPr>
          <p:cNvGrpSpPr>
            <a:grpSpLocks/>
          </p:cNvGrpSpPr>
          <p:nvPr/>
        </p:nvGrpSpPr>
        <p:grpSpPr bwMode="auto">
          <a:xfrm>
            <a:off x="5390367" y="1778696"/>
            <a:ext cx="592898" cy="523236"/>
            <a:chOff x="2448" y="9360"/>
            <a:chExt cx="288" cy="144"/>
          </a:xfrm>
        </p:grpSpPr>
        <p:sp>
          <p:nvSpPr>
            <p:cNvPr id="32773" name="Line 5">
              <a:extLst>
                <a:ext uri="{FF2B5EF4-FFF2-40B4-BE49-F238E27FC236}">
                  <a16:creationId xmlns:a16="http://schemas.microsoft.com/office/drawing/2014/main" id="{DCDE3879-2CC5-76F0-7BC2-F73CA323AE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9360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74" name="Line 6">
              <a:extLst>
                <a:ext uri="{FF2B5EF4-FFF2-40B4-BE49-F238E27FC236}">
                  <a16:creationId xmlns:a16="http://schemas.microsoft.com/office/drawing/2014/main" id="{AFB910A6-E800-0B73-84B5-26D6B01B54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9360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75" name="Line 7">
              <a:extLst>
                <a:ext uri="{FF2B5EF4-FFF2-40B4-BE49-F238E27FC236}">
                  <a16:creationId xmlns:a16="http://schemas.microsoft.com/office/drawing/2014/main" id="{62EAD99B-4623-8E5A-982C-8EF80D7D10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8" y="9360"/>
              <a:ext cx="28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76" name="Line 8">
              <a:extLst>
                <a:ext uri="{FF2B5EF4-FFF2-40B4-BE49-F238E27FC236}">
                  <a16:creationId xmlns:a16="http://schemas.microsoft.com/office/drawing/2014/main" id="{F524991F-CCC4-C642-100E-8E01D1A500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9360"/>
              <a:ext cx="28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ADA132F1-EC03-996B-4D29-10E3228828D7}"/>
              </a:ext>
            </a:extLst>
          </p:cNvPr>
          <p:cNvSpPr txBox="1">
            <a:spLocks/>
          </p:cNvSpPr>
          <p:nvPr/>
        </p:nvSpPr>
        <p:spPr>
          <a:xfrm rot="16200000">
            <a:off x="-3215290" y="3162962"/>
            <a:ext cx="6962655" cy="53207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altLang="en-US" sz="1800" b="1" dirty="0">
                <a:solidFill>
                  <a:schemeClr val="bg1"/>
                </a:solidFill>
                <a:latin typeface=""/>
              </a:rPr>
              <a:t>RELATIONAL ALGEBRA OPERATION II</a:t>
            </a:r>
            <a:endParaRPr lang="en-GB" sz="1800" dirty="0">
              <a:solidFill>
                <a:schemeClr val="bg1"/>
              </a:solidFill>
              <a:latin typeface="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3">
            <a:extLst>
              <a:ext uri="{FF2B5EF4-FFF2-40B4-BE49-F238E27FC236}">
                <a16:creationId xmlns:a16="http://schemas.microsoft.com/office/drawing/2014/main" id="{D27F8A4E-28DA-B671-48EA-1C833A2F6A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3522" y="1311276"/>
            <a:ext cx="11194093" cy="1981200"/>
          </a:xfrm>
          <a:noFill/>
        </p:spPr>
        <p:txBody>
          <a:bodyPr vert="horz" lIns="90488" tIns="44450" rIns="90488" bIns="44450" rtlCol="0">
            <a:normAutofit/>
          </a:bodyPr>
          <a:lstStyle/>
          <a:p>
            <a:r>
              <a:rPr lang="en-GB" alt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Can rewrite Theta join using basic Selection and Cartesian product operations.</a:t>
            </a:r>
          </a:p>
        </p:txBody>
      </p:sp>
      <p:sp>
        <p:nvSpPr>
          <p:cNvPr id="48137" name="Rectangle 9">
            <a:extLst>
              <a:ext uri="{FF2B5EF4-FFF2-40B4-BE49-F238E27FC236}">
                <a16:creationId xmlns:a16="http://schemas.microsoft.com/office/drawing/2014/main" id="{81CA1523-B640-41AB-3994-86561272FA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6256" y="3104453"/>
            <a:ext cx="10705579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accent2"/>
              </a:buClr>
              <a:buSzPct val="75000"/>
            </a:pPr>
            <a:r>
              <a:rPr lang="en-GB" altLang="en-US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Degree of a Theta join is sum of degrees of the operand relations R and S. </a:t>
            </a:r>
          </a:p>
          <a:p>
            <a:pPr eaLnBrk="1" hangingPunct="1">
              <a:lnSpc>
                <a:spcPct val="90000"/>
              </a:lnSpc>
              <a:buClr>
                <a:schemeClr val="accent2"/>
              </a:buClr>
              <a:buSzPct val="75000"/>
            </a:pPr>
            <a:endParaRPr lang="en-GB" altLang="en-US" sz="2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eaLnBrk="1" hangingPunct="1">
              <a:lnSpc>
                <a:spcPct val="90000"/>
              </a:lnSpc>
              <a:buClr>
                <a:schemeClr val="accent2"/>
              </a:buClr>
              <a:buSzPct val="75000"/>
            </a:pPr>
            <a:r>
              <a:rPr lang="en-GB" altLang="en-US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Example: </a:t>
            </a:r>
            <a:endParaRPr lang="en-GB" alt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 eaLnBrk="1" hangingPunct="1">
              <a:lnSpc>
                <a:spcPct val="90000"/>
              </a:lnSpc>
              <a:buClr>
                <a:schemeClr val="accent2"/>
              </a:buClr>
              <a:buSzPct val="75000"/>
              <a:buNone/>
            </a:pPr>
            <a:r>
              <a:rPr lang="en-GB" alt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List the names of clients with the apartment they can afford</a:t>
            </a:r>
            <a:r>
              <a:rPr lang="en-GB" altLang="en-US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76BCD9C-AB9E-5824-54A4-850781B0ABFE}"/>
              </a:ext>
            </a:extLst>
          </p:cNvPr>
          <p:cNvSpPr txBox="1">
            <a:spLocks/>
          </p:cNvSpPr>
          <p:nvPr/>
        </p:nvSpPr>
        <p:spPr>
          <a:xfrm rot="16200000">
            <a:off x="-3215290" y="3162962"/>
            <a:ext cx="6962655" cy="53207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altLang="en-US" sz="1800" b="1" dirty="0">
                <a:solidFill>
                  <a:schemeClr val="bg1"/>
                </a:solidFill>
                <a:latin typeface=""/>
              </a:rPr>
              <a:t>RELATIONAL ALGEBRA OPERATION II</a:t>
            </a:r>
            <a:endParaRPr lang="en-GB" sz="1800" dirty="0">
              <a:solidFill>
                <a:schemeClr val="bg1"/>
              </a:solidFill>
              <a:latin typeface="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4E5B347-E7DE-1412-CB4B-E606C0E4517A}"/>
              </a:ext>
            </a:extLst>
          </p:cNvPr>
          <p:cNvSpPr txBox="1">
            <a:spLocks noChangeArrowheads="1"/>
          </p:cNvSpPr>
          <p:nvPr/>
        </p:nvSpPr>
        <p:spPr>
          <a:xfrm>
            <a:off x="2280444" y="192918"/>
            <a:ext cx="7631112" cy="814387"/>
          </a:xfrm>
          <a:prstGeom prst="rect">
            <a:avLst/>
          </a:prstGeom>
          <a:noFill/>
        </p:spPr>
        <p:txBody>
          <a:bodyPr vert="horz" lIns="90488" tIns="44450" rIns="90488" bIns="4445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" pitchFamily="18" charset="0"/>
                <a:ea typeface="Times" pitchFamily="18" charset="0"/>
                <a:cs typeface="Times" pitchFamily="18" charset="0"/>
              </a:rPr>
              <a:t>THETA JOIN (</a:t>
            </a:r>
            <a:r>
              <a:rPr lang="en-GB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" pitchFamily="18" charset="0"/>
                <a:ea typeface="Times" pitchFamily="18" charset="0"/>
                <a:cs typeface="Times" pitchFamily="18" charset="0"/>
                <a:sym typeface="Symbol" pitchFamily="2" charset="2"/>
              </a:rPr>
              <a:t></a:t>
            </a:r>
            <a:r>
              <a:rPr lang="en-GB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" pitchFamily="18" charset="0"/>
                <a:ea typeface="Times" pitchFamily="18" charset="0"/>
                <a:cs typeface="Times" pitchFamily="18" charset="0"/>
              </a:rPr>
              <a:t>-JOIN)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22634C-7FEC-A07A-8363-C9FE7BA27B71}"/>
              </a:ext>
            </a:extLst>
          </p:cNvPr>
          <p:cNvSpPr txBox="1"/>
          <p:nvPr/>
        </p:nvSpPr>
        <p:spPr>
          <a:xfrm>
            <a:off x="3052176" y="2169362"/>
            <a:ext cx="61252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buFontTx/>
              <a:buNone/>
            </a:pPr>
            <a:r>
              <a:rPr lang="en-GB" altLang="en-US" sz="4000" b="1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      </a:t>
            </a:r>
            <a:r>
              <a:rPr lang="en-GB" altLang="en-US" sz="4000" b="1" baseline="-14000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</a:t>
            </a:r>
            <a:r>
              <a:rPr lang="en-GB" altLang="en-US" sz="4000" b="1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 = </a:t>
            </a:r>
            <a:r>
              <a:rPr lang="en-GB" altLang="en-US" sz="4000" b="1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Symbol" pitchFamily="2" charset="2"/>
              </a:rPr>
              <a:t></a:t>
            </a:r>
            <a:r>
              <a:rPr lang="en-GB" altLang="en-US" sz="4000" b="1" baseline="-14000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</a:t>
            </a:r>
            <a:r>
              <a:rPr lang="en-GB" altLang="en-US" sz="4000" b="1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(R </a:t>
            </a:r>
            <a:r>
              <a:rPr lang="en-GB" altLang="en-US" sz="4000" b="1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Symbol" pitchFamily="2" charset="2"/>
              </a:rPr>
              <a:t></a:t>
            </a:r>
            <a:r>
              <a:rPr lang="en-GB" altLang="en-US" sz="4000" b="1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S)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442036F-F7E0-402D-5DC6-06C3DABB5624}"/>
              </a:ext>
            </a:extLst>
          </p:cNvPr>
          <p:cNvGrpSpPr>
            <a:grpSpLocks/>
          </p:cNvGrpSpPr>
          <p:nvPr/>
        </p:nvGrpSpPr>
        <p:grpSpPr bwMode="auto">
          <a:xfrm>
            <a:off x="4472497" y="2285215"/>
            <a:ext cx="613069" cy="476180"/>
            <a:chOff x="2448" y="9360"/>
            <a:chExt cx="288" cy="144"/>
          </a:xfrm>
        </p:grpSpPr>
        <p:sp>
          <p:nvSpPr>
            <p:cNvPr id="33798" name="Line 5">
              <a:extLst>
                <a:ext uri="{FF2B5EF4-FFF2-40B4-BE49-F238E27FC236}">
                  <a16:creationId xmlns:a16="http://schemas.microsoft.com/office/drawing/2014/main" id="{05C2C2B1-0D1B-0D9B-4455-A6D261C94A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9360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799" name="Line 6">
              <a:extLst>
                <a:ext uri="{FF2B5EF4-FFF2-40B4-BE49-F238E27FC236}">
                  <a16:creationId xmlns:a16="http://schemas.microsoft.com/office/drawing/2014/main" id="{3D7E82BE-939F-A250-70C2-F0FA891FFC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9360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00" name="Line 7">
              <a:extLst>
                <a:ext uri="{FF2B5EF4-FFF2-40B4-BE49-F238E27FC236}">
                  <a16:creationId xmlns:a16="http://schemas.microsoft.com/office/drawing/2014/main" id="{771178F9-3551-6F34-FAEB-4B76BF2C35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8" y="9360"/>
              <a:ext cx="28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01" name="Line 8">
              <a:extLst>
                <a:ext uri="{FF2B5EF4-FFF2-40B4-BE49-F238E27FC236}">
                  <a16:creationId xmlns:a16="http://schemas.microsoft.com/office/drawing/2014/main" id="{A52D54EC-2BFB-508D-8D1F-A67294AF36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9360"/>
              <a:ext cx="28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BBBD5CE-FDFC-A5E9-5EB2-AF62A185CCE1}"/>
              </a:ext>
            </a:extLst>
          </p:cNvPr>
          <p:cNvSpPr txBox="1"/>
          <p:nvPr/>
        </p:nvSpPr>
        <p:spPr>
          <a:xfrm>
            <a:off x="188863" y="5415452"/>
            <a:ext cx="118142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GB" altLang="en-US" sz="2800" dirty="0" err="1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TempClient</a:t>
            </a:r>
            <a:r>
              <a:rPr lang="en-GB" altLang="en-US" sz="2800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⋈</a:t>
            </a:r>
            <a:r>
              <a:rPr lang="en-GB" altLang="en-US" sz="2800" baseline="-25000" dirty="0" err="1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TempClient.maxRent</a:t>
            </a:r>
            <a:r>
              <a:rPr lang="en-GB" altLang="en-US" sz="2800" baseline="-25000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≤ </a:t>
            </a:r>
            <a:r>
              <a:rPr lang="en-GB" altLang="en-US" sz="2800" baseline="-25000" dirty="0" err="1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TempPropertyForRent.rent</a:t>
            </a:r>
            <a:r>
              <a:rPr lang="en-GB" altLang="en-US" sz="2800" baseline="-25000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</a:t>
            </a:r>
            <a:r>
              <a:rPr lang="en-GB" altLang="en-US" sz="2800" dirty="0" err="1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TempPropertyForRent</a:t>
            </a:r>
            <a:endParaRPr lang="en-GB" altLang="en-US" sz="2800" dirty="0">
              <a:solidFill>
                <a:srgbClr val="0000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8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build="p" autoUpdateAnimBg="0"/>
      <p:bldP spid="48137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87DEF4C5-AC02-8ED9-E65E-9644E99755C2}"/>
              </a:ext>
            </a:extLst>
          </p:cNvPr>
          <p:cNvGrpSpPr>
            <a:grpSpLocks/>
          </p:cNvGrpSpPr>
          <p:nvPr/>
        </p:nvGrpSpPr>
        <p:grpSpPr bwMode="auto">
          <a:xfrm>
            <a:off x="4132882" y="3202343"/>
            <a:ext cx="304800" cy="244475"/>
            <a:chOff x="2448" y="9360"/>
            <a:chExt cx="288" cy="144"/>
          </a:xfrm>
        </p:grpSpPr>
        <p:sp>
          <p:nvSpPr>
            <p:cNvPr id="35846" name="Line 5">
              <a:extLst>
                <a:ext uri="{FF2B5EF4-FFF2-40B4-BE49-F238E27FC236}">
                  <a16:creationId xmlns:a16="http://schemas.microsoft.com/office/drawing/2014/main" id="{CAD15267-BE56-13E7-64F6-5929073D75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9360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47" name="Line 6">
              <a:extLst>
                <a:ext uri="{FF2B5EF4-FFF2-40B4-BE49-F238E27FC236}">
                  <a16:creationId xmlns:a16="http://schemas.microsoft.com/office/drawing/2014/main" id="{34FEC237-23E8-2141-DFE8-0DEAD07F53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9360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48" name="Line 7">
              <a:extLst>
                <a:ext uri="{FF2B5EF4-FFF2-40B4-BE49-F238E27FC236}">
                  <a16:creationId xmlns:a16="http://schemas.microsoft.com/office/drawing/2014/main" id="{3B21846F-02C4-C609-3655-62F281CC42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8" y="9360"/>
              <a:ext cx="28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49" name="Line 8">
              <a:extLst>
                <a:ext uri="{FF2B5EF4-FFF2-40B4-BE49-F238E27FC236}">
                  <a16:creationId xmlns:a16="http://schemas.microsoft.com/office/drawing/2014/main" id="{968B0FA6-D7F7-CDD6-67FD-4C0949D659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9360"/>
              <a:ext cx="28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9163" name="Picture 11" descr="DS3-Figure 04-08">
            <a:extLst>
              <a:ext uri="{FF2B5EF4-FFF2-40B4-BE49-F238E27FC236}">
                <a16:creationId xmlns:a16="http://schemas.microsoft.com/office/drawing/2014/main" id="{BDBEE1DA-D7E1-C552-928B-DDE661064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7129" y="4014491"/>
            <a:ext cx="8532312" cy="2533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FD25392-84B4-39ED-A6E9-3AAFC2F2FBFE}"/>
              </a:ext>
            </a:extLst>
          </p:cNvPr>
          <p:cNvSpPr txBox="1">
            <a:spLocks/>
          </p:cNvSpPr>
          <p:nvPr/>
        </p:nvSpPr>
        <p:spPr>
          <a:xfrm rot="16200000">
            <a:off x="-3215290" y="3162962"/>
            <a:ext cx="6962655" cy="53207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altLang="en-US" sz="1800" b="1" dirty="0">
                <a:solidFill>
                  <a:schemeClr val="bg1"/>
                </a:solidFill>
                <a:latin typeface=""/>
              </a:rPr>
              <a:t>RELATIONAL ALGEBRA OPERATION II</a:t>
            </a:r>
            <a:endParaRPr lang="en-GB" sz="1800" dirty="0">
              <a:solidFill>
                <a:schemeClr val="bg1"/>
              </a:solidFill>
              <a:latin typeface="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68DD4A5-6713-56EE-0C59-ABE84B8E3F89}"/>
              </a:ext>
            </a:extLst>
          </p:cNvPr>
          <p:cNvSpPr txBox="1">
            <a:spLocks noChangeArrowheads="1"/>
          </p:cNvSpPr>
          <p:nvPr/>
        </p:nvSpPr>
        <p:spPr>
          <a:xfrm>
            <a:off x="2280444" y="192918"/>
            <a:ext cx="7631112" cy="814387"/>
          </a:xfrm>
          <a:prstGeom prst="rect">
            <a:avLst/>
          </a:prstGeom>
          <a:noFill/>
        </p:spPr>
        <p:txBody>
          <a:bodyPr vert="horz" lIns="90488" tIns="44450" rIns="90488" bIns="4445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" pitchFamily="18" charset="0"/>
                <a:ea typeface="Times" pitchFamily="18" charset="0"/>
                <a:cs typeface="Times" pitchFamily="18" charset="0"/>
              </a:rPr>
              <a:t>EQUIJOIN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D95D6E-984F-5D82-B522-9FE98078526C}"/>
              </a:ext>
            </a:extLst>
          </p:cNvPr>
          <p:cNvSpPr txBox="1"/>
          <p:nvPr/>
        </p:nvSpPr>
        <p:spPr>
          <a:xfrm>
            <a:off x="759913" y="1329400"/>
            <a:ext cx="11052130" cy="197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eaLnBrk="1" hangingPunct="1">
              <a:lnSpc>
                <a:spcPct val="90000"/>
              </a:lnSpc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altLang="en-US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If predicate F contains only equality (=), the term </a:t>
            </a:r>
            <a:r>
              <a:rPr lang="en-GB" altLang="en-US" sz="2800" b="1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Equijoin</a:t>
            </a:r>
            <a:r>
              <a:rPr lang="en-GB" altLang="en-US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GB" altLang="en-US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is used.</a:t>
            </a:r>
          </a:p>
          <a:p>
            <a:pPr marL="457200" indent="-457200" eaLnBrk="1" hangingPunct="1">
              <a:lnSpc>
                <a:spcPct val="90000"/>
              </a:lnSpc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endParaRPr lang="en-GB" altLang="en-US" sz="2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457200" indent="-457200" eaLnBrk="1" hangingPunct="1">
              <a:lnSpc>
                <a:spcPct val="90000"/>
              </a:lnSpc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lang="en-GB" altLang="en-US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Example:</a:t>
            </a:r>
          </a:p>
          <a:p>
            <a:pPr eaLnBrk="1" hangingPunct="1">
              <a:lnSpc>
                <a:spcPct val="90000"/>
              </a:lnSpc>
              <a:buClr>
                <a:schemeClr val="accent2"/>
              </a:buClr>
              <a:buSzPct val="75000"/>
            </a:pPr>
            <a:r>
              <a:rPr lang="en-GB" alt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List the names and comments of all clients who have viewed a property for rent.</a:t>
            </a:r>
          </a:p>
          <a:p>
            <a:pPr eaLnBrk="1" hangingPunct="1">
              <a:lnSpc>
                <a:spcPct val="90000"/>
              </a:lnSpc>
              <a:buClr>
                <a:schemeClr val="accent2"/>
              </a:buClr>
              <a:buSzPct val="75000"/>
            </a:pPr>
            <a:r>
              <a:rPr lang="en-GB" altLang="en-US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33F923-4B4B-0553-6EA8-0E429BC880BE}"/>
              </a:ext>
            </a:extLst>
          </p:cNvPr>
          <p:cNvSpPr txBox="1"/>
          <p:nvPr/>
        </p:nvSpPr>
        <p:spPr>
          <a:xfrm>
            <a:off x="759913" y="3089882"/>
            <a:ext cx="1143207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en-US" sz="2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altLang="en-US" sz="2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</a:t>
            </a:r>
            <a:r>
              <a:rPr lang="en-GB" altLang="en-US" sz="2200" b="1" baseline="-14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clientNo</a:t>
            </a:r>
            <a:r>
              <a:rPr lang="en-GB" altLang="en-US" sz="2200" b="1" baseline="-14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altLang="en-US" sz="2200" b="1" baseline="-14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fName</a:t>
            </a:r>
            <a:r>
              <a:rPr lang="en-GB" altLang="en-US" sz="2200" b="1" baseline="-14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altLang="en-US" sz="2200" b="1" baseline="-14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lName</a:t>
            </a:r>
            <a:r>
              <a:rPr lang="en-GB" altLang="en-US" sz="2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(Client))      </a:t>
            </a:r>
            <a:r>
              <a:rPr lang="en-GB" altLang="en-US" sz="2200" b="1" baseline="-14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Client.clientNo</a:t>
            </a:r>
            <a:r>
              <a:rPr lang="en-GB" altLang="en-US" sz="2200" b="1" baseline="-14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GB" altLang="en-US" sz="2200" b="1" baseline="-14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Viewing.clientNo</a:t>
            </a:r>
            <a:r>
              <a:rPr lang="en-GB" altLang="en-US" sz="2200" b="1" baseline="-14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altLang="en-US" sz="2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</a:t>
            </a:r>
            <a:r>
              <a:rPr lang="en-GB" altLang="en-US" sz="2200" b="1" baseline="-14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clientNo</a:t>
            </a:r>
            <a:r>
              <a:rPr lang="en-GB" altLang="en-US" sz="2200" b="1" baseline="-14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altLang="en-US" sz="2200" b="1" baseline="-14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propertyNo</a:t>
            </a:r>
            <a:r>
              <a:rPr lang="en-GB" altLang="en-US" sz="2200" b="1" baseline="-14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comment</a:t>
            </a:r>
            <a:r>
              <a:rPr lang="en-GB" altLang="en-US" sz="2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(Viewing))</a:t>
            </a:r>
            <a:endParaRPr lang="en-US" sz="22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9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053" descr="C04NF01b">
            <a:extLst>
              <a:ext uri="{FF2B5EF4-FFF2-40B4-BE49-F238E27FC236}">
                <a16:creationId xmlns:a16="http://schemas.microsoft.com/office/drawing/2014/main" id="{CE7F17FE-FAEE-7310-95B9-56ED67BA2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4361" b="62396"/>
          <a:stretch/>
        </p:blipFill>
        <p:spPr>
          <a:xfrm>
            <a:off x="418579" y="2522156"/>
            <a:ext cx="6044843" cy="2750506"/>
          </a:xfrm>
          <a:prstGeom prst="rect">
            <a:avLst/>
          </a:prstGeom>
          <a:noFill/>
        </p:spPr>
      </p:pic>
      <p:sp>
        <p:nvSpPr>
          <p:cNvPr id="36866" name="Rectangle 2">
            <a:extLst>
              <a:ext uri="{FF2B5EF4-FFF2-40B4-BE49-F238E27FC236}">
                <a16:creationId xmlns:a16="http://schemas.microsoft.com/office/drawing/2014/main" id="{279585F2-B50D-6268-95F4-13898644A6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26172" y="229450"/>
            <a:ext cx="7918450" cy="814387"/>
          </a:xfrm>
          <a:noFill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GB" altLang="en-US" b="1" dirty="0">
                <a:latin typeface="Times" pitchFamily="18" charset="0"/>
                <a:ea typeface="Times" pitchFamily="18" charset="0"/>
                <a:cs typeface="Times" pitchFamily="18" charset="0"/>
              </a:rPr>
              <a:t>NATURAL JOIN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02EC3B97-0495-9566-F398-39CA72D444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63422" y="2887760"/>
            <a:ext cx="5284946" cy="3437883"/>
          </a:xfrm>
          <a:noFill/>
        </p:spPr>
        <p:txBody>
          <a:bodyPr vert="horz" lIns="90488" tIns="44450" rIns="90488" bIns="44450" rtlCol="0">
            <a:noAutofit/>
          </a:bodyPr>
          <a:lstStyle/>
          <a:p>
            <a:r>
              <a:rPr lang="en-GB" alt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 Equijoin of the </a:t>
            </a:r>
            <a:r>
              <a:rPr lang="en-GB" altLang="en-US" sz="3200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two relations R and S</a:t>
            </a:r>
            <a:r>
              <a:rPr lang="en-GB" alt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over </a:t>
            </a:r>
            <a:r>
              <a:rPr lang="en-GB" altLang="en-US" sz="3200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all common attributes </a:t>
            </a:r>
            <a:r>
              <a:rPr lang="en-GB" altLang="en-US" sz="3200" b="1" i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x</a:t>
            </a:r>
            <a:r>
              <a:rPr lang="en-GB" alt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</a:t>
            </a:r>
          </a:p>
          <a:p>
            <a:pPr marL="0" indent="0">
              <a:buNone/>
            </a:pPr>
            <a:endParaRPr lang="en-GB" alt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GB" alt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One occurrence of each common attribute is eliminated from the result.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7136EFD-D8E4-67D8-1DBF-86A98A3B38B9}"/>
              </a:ext>
            </a:extLst>
          </p:cNvPr>
          <p:cNvSpPr txBox="1">
            <a:spLocks/>
          </p:cNvSpPr>
          <p:nvPr/>
        </p:nvSpPr>
        <p:spPr>
          <a:xfrm rot="16200000">
            <a:off x="-3215290" y="3162962"/>
            <a:ext cx="6962655" cy="53207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altLang="en-US" sz="1800" b="1" dirty="0">
                <a:solidFill>
                  <a:schemeClr val="bg1"/>
                </a:solidFill>
                <a:latin typeface=""/>
              </a:rPr>
              <a:t>RELATIONAL ALGEBRA OPERATION II</a:t>
            </a:r>
            <a:endParaRPr lang="en-GB" sz="1800" dirty="0">
              <a:solidFill>
                <a:schemeClr val="bg1"/>
              </a:solidFill>
              <a:latin typeface="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85D9E52-A890-2E5C-F701-C9712F7AD53E}"/>
              </a:ext>
            </a:extLst>
          </p:cNvPr>
          <p:cNvSpPr/>
          <p:nvPr/>
        </p:nvSpPr>
        <p:spPr>
          <a:xfrm>
            <a:off x="4100845" y="1043837"/>
            <a:ext cx="3439166" cy="1294627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Symbol" pitchFamily="2" charset="2"/>
              </a:rPr>
              <a:t>R       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02C7360-4E55-95C6-0C55-81C1DF44D6BE}"/>
              </a:ext>
            </a:extLst>
          </p:cNvPr>
          <p:cNvGrpSpPr>
            <a:grpSpLocks/>
          </p:cNvGrpSpPr>
          <p:nvPr/>
        </p:nvGrpSpPr>
        <p:grpSpPr bwMode="auto">
          <a:xfrm>
            <a:off x="5515628" y="1429532"/>
            <a:ext cx="592898" cy="523236"/>
            <a:chOff x="2448" y="9360"/>
            <a:chExt cx="288" cy="144"/>
          </a:xfrm>
        </p:grpSpPr>
        <p:sp>
          <p:nvSpPr>
            <p:cNvPr id="6" name="Line 5">
              <a:extLst>
                <a:ext uri="{FF2B5EF4-FFF2-40B4-BE49-F238E27FC236}">
                  <a16:creationId xmlns:a16="http://schemas.microsoft.com/office/drawing/2014/main" id="{7FB6D05C-BC05-AAA8-E079-6F678EA4CA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9360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E37837C6-8F58-CC63-FAC9-6D490ABD45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9360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EB09B6E8-A917-E6DA-DC64-568C9AFBE9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8" y="9360"/>
              <a:ext cx="28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6D60E8DC-4DD8-0A0B-5811-DE1B77A606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9360"/>
              <a:ext cx="28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build="p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9" name="Rectangle 3">
            <a:extLst>
              <a:ext uri="{FF2B5EF4-FFF2-40B4-BE49-F238E27FC236}">
                <a16:creationId xmlns:a16="http://schemas.microsoft.com/office/drawing/2014/main" id="{80130C32-7F49-95F6-1B1D-97A9D9383B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5840" y="1171390"/>
            <a:ext cx="11294302" cy="2133600"/>
          </a:xfrm>
          <a:noFill/>
        </p:spPr>
        <p:txBody>
          <a:bodyPr vert="horz" lIns="90488" tIns="44450" rIns="90488" bIns="44450" rtlCol="0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the names and comments of all clients who have viewed a property for rent.</a:t>
            </a:r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619E83CC-80B5-062C-517C-7A82F7668F9F}"/>
              </a:ext>
            </a:extLst>
          </p:cNvPr>
          <p:cNvGrpSpPr>
            <a:grpSpLocks/>
          </p:cNvGrpSpPr>
          <p:nvPr/>
        </p:nvGrpSpPr>
        <p:grpSpPr bwMode="auto">
          <a:xfrm>
            <a:off x="5671529" y="2210881"/>
            <a:ext cx="456493" cy="510641"/>
            <a:chOff x="2448" y="9360"/>
            <a:chExt cx="288" cy="144"/>
          </a:xfrm>
        </p:grpSpPr>
        <p:sp>
          <p:nvSpPr>
            <p:cNvPr id="37894" name="Line 10">
              <a:extLst>
                <a:ext uri="{FF2B5EF4-FFF2-40B4-BE49-F238E27FC236}">
                  <a16:creationId xmlns:a16="http://schemas.microsoft.com/office/drawing/2014/main" id="{06EACE98-DB72-77BA-3F8C-4640DCA8FE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9360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895" name="Line 11">
              <a:extLst>
                <a:ext uri="{FF2B5EF4-FFF2-40B4-BE49-F238E27FC236}">
                  <a16:creationId xmlns:a16="http://schemas.microsoft.com/office/drawing/2014/main" id="{C7FB651A-0AE8-928E-B33F-FD462210FA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9360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896" name="Line 12">
              <a:extLst>
                <a:ext uri="{FF2B5EF4-FFF2-40B4-BE49-F238E27FC236}">
                  <a16:creationId xmlns:a16="http://schemas.microsoft.com/office/drawing/2014/main" id="{E0978769-3E0B-3B70-C4B2-6E2CD37F1C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8" y="9360"/>
              <a:ext cx="28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897" name="Line 13">
              <a:extLst>
                <a:ext uri="{FF2B5EF4-FFF2-40B4-BE49-F238E27FC236}">
                  <a16:creationId xmlns:a16="http://schemas.microsoft.com/office/drawing/2014/main" id="{E1F830DB-5687-7A11-20C0-B9E603CB91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9360"/>
              <a:ext cx="28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78191" name="Picture 15" descr="DS3-Figure 04-09">
            <a:extLst>
              <a:ext uri="{FF2B5EF4-FFF2-40B4-BE49-F238E27FC236}">
                <a16:creationId xmlns:a16="http://schemas.microsoft.com/office/drawing/2014/main" id="{C3062ED0-FF5B-C650-ECDA-6599C543B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7040" y="3065125"/>
            <a:ext cx="7261964" cy="309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4AF3D58-FD2C-2732-8C41-E94E58FF65F3}"/>
              </a:ext>
            </a:extLst>
          </p:cNvPr>
          <p:cNvSpPr txBox="1">
            <a:spLocks/>
          </p:cNvSpPr>
          <p:nvPr/>
        </p:nvSpPr>
        <p:spPr>
          <a:xfrm rot="16200000">
            <a:off x="-3215290" y="3162962"/>
            <a:ext cx="6962655" cy="53207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altLang="en-US" sz="1800" b="1" dirty="0">
                <a:solidFill>
                  <a:schemeClr val="bg1"/>
                </a:solidFill>
                <a:latin typeface=""/>
              </a:rPr>
              <a:t>RELATIONAL ALGEBRA OPERATION II</a:t>
            </a:r>
            <a:endParaRPr lang="en-GB" sz="1800" dirty="0">
              <a:solidFill>
                <a:schemeClr val="bg1"/>
              </a:solidFill>
              <a:latin typeface="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79062BF-044A-23A1-FDBB-AAF5C97512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26172" y="229450"/>
            <a:ext cx="7918450" cy="814387"/>
          </a:xfrm>
          <a:noFill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GB" altLang="en-US" b="1" dirty="0">
                <a:latin typeface="Times" pitchFamily="18" charset="0"/>
                <a:ea typeface="Times" pitchFamily="18" charset="0"/>
                <a:cs typeface="Times" pitchFamily="18" charset="0"/>
              </a:rPr>
              <a:t>NATURAL JOIN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836E36-2A40-15FF-2ECE-3D7B81727936}"/>
              </a:ext>
            </a:extLst>
          </p:cNvPr>
          <p:cNvSpPr txBox="1"/>
          <p:nvPr/>
        </p:nvSpPr>
        <p:spPr>
          <a:xfrm>
            <a:off x="805840" y="2189203"/>
            <a:ext cx="1148660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buFontTx/>
              <a:buNone/>
            </a:pPr>
            <a:r>
              <a:rPr lang="en-GB" altLang="en-US" sz="3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altLang="en-US" sz="3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</a:t>
            </a:r>
            <a:r>
              <a:rPr lang="en-GB" altLang="en-US" sz="3000" baseline="-14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clientNo</a:t>
            </a:r>
            <a:r>
              <a:rPr lang="en-GB" altLang="en-US" sz="3000" baseline="-14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altLang="en-US" sz="3000" baseline="-14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fName</a:t>
            </a:r>
            <a:r>
              <a:rPr lang="en-GB" altLang="en-US" sz="3000" baseline="-14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altLang="en-US" sz="3000" baseline="-14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lName</a:t>
            </a:r>
            <a:r>
              <a:rPr lang="en-GB" altLang="en-US" sz="3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(Client))      </a:t>
            </a:r>
            <a:r>
              <a:rPr lang="en-GB" altLang="en-US" sz="3000" baseline="-14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3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altLang="en-US" sz="3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</a:t>
            </a:r>
            <a:r>
              <a:rPr lang="en-GB" altLang="en-US" sz="3000" baseline="-14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clientNo</a:t>
            </a:r>
            <a:r>
              <a:rPr lang="en-GB" altLang="en-US" sz="3000" baseline="-14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altLang="en-US" sz="3000" baseline="-14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propertyNo</a:t>
            </a:r>
            <a:r>
              <a:rPr lang="en-GB" altLang="en-US" sz="3000" baseline="-14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comment</a:t>
            </a:r>
            <a:r>
              <a:rPr lang="en-GB" altLang="en-US" sz="3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(Viewing))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78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79" grpId="0" build="p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BE9BE9FE-B727-7540-F65A-D1BC50BDB8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2815" y="162669"/>
            <a:ext cx="10366369" cy="885825"/>
          </a:xfrm>
          <a:noFill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GB" altLang="en-US" b="1" dirty="0">
                <a:latin typeface="Times" pitchFamily="18" charset="0"/>
                <a:ea typeface="Times" pitchFamily="18" charset="0"/>
                <a:cs typeface="Times" pitchFamily="18" charset="0"/>
              </a:rPr>
              <a:t>OUTER JOIN (    )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4BFC34F3-8EE2-FE6F-31C0-176FA311CD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00845" y="2784551"/>
            <a:ext cx="7727950" cy="4114800"/>
          </a:xfrm>
          <a:noFill/>
        </p:spPr>
        <p:txBody>
          <a:bodyPr vert="horz" lIns="90488" tIns="44450" rIns="90488" bIns="4445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GB" alt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 display rows in the result that </a:t>
            </a:r>
            <a:r>
              <a:rPr lang="en-GB" altLang="en-US" sz="33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 not have matching values</a:t>
            </a:r>
            <a:r>
              <a:rPr lang="en-GB" alt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in the join column, use </a:t>
            </a:r>
            <a:r>
              <a:rPr lang="en-GB" altLang="en-US" sz="30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OUTER JOIN</a:t>
            </a:r>
            <a:r>
              <a:rPr lang="en-GB" alt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>
              <a:lnSpc>
                <a:spcPct val="90000"/>
              </a:lnSpc>
            </a:pPr>
            <a:endParaRPr lang="en-GB" altLang="en-US" sz="3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lnSpc>
                <a:spcPct val="90000"/>
              </a:lnSpc>
            </a:pPr>
            <a:r>
              <a:rPr lang="en-GB" altLang="en-US" sz="30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(Left) outer join </a:t>
            </a:r>
            <a:r>
              <a:rPr lang="en-GB" alt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is a join in which </a:t>
            </a:r>
            <a:r>
              <a:rPr lang="en-GB" altLang="en-US" sz="30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tuples from R that do not have matching values in common columns of S </a:t>
            </a:r>
            <a:r>
              <a:rPr lang="en-GB" altLang="en-US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are also included in result relation.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D4864BAC-9F59-3176-D2AF-1516CF50E4AB}"/>
              </a:ext>
            </a:extLst>
          </p:cNvPr>
          <p:cNvGrpSpPr>
            <a:grpSpLocks/>
          </p:cNvGrpSpPr>
          <p:nvPr/>
        </p:nvGrpSpPr>
        <p:grpSpPr bwMode="auto">
          <a:xfrm>
            <a:off x="7557370" y="484137"/>
            <a:ext cx="304800" cy="242888"/>
            <a:chOff x="1568" y="8789"/>
            <a:chExt cx="313" cy="144"/>
          </a:xfrm>
        </p:grpSpPr>
        <p:sp>
          <p:nvSpPr>
            <p:cNvPr id="38923" name="Line 5">
              <a:extLst>
                <a:ext uri="{FF2B5EF4-FFF2-40B4-BE49-F238E27FC236}">
                  <a16:creationId xmlns:a16="http://schemas.microsoft.com/office/drawing/2014/main" id="{60A43801-FC17-E0C7-7E8D-80F1DBA1E9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1" y="8789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24" name="Line 6">
              <a:extLst>
                <a:ext uri="{FF2B5EF4-FFF2-40B4-BE49-F238E27FC236}">
                  <a16:creationId xmlns:a16="http://schemas.microsoft.com/office/drawing/2014/main" id="{E16B5088-EF42-554E-5BE1-6F8625A419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53" y="8789"/>
              <a:ext cx="22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25" name="Line 7">
              <a:extLst>
                <a:ext uri="{FF2B5EF4-FFF2-40B4-BE49-F238E27FC236}">
                  <a16:creationId xmlns:a16="http://schemas.microsoft.com/office/drawing/2014/main" id="{DD6ED844-490A-AC7F-C0A2-41C27FD47E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3" y="8789"/>
              <a:ext cx="22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26" name="Line 8">
              <a:extLst>
                <a:ext uri="{FF2B5EF4-FFF2-40B4-BE49-F238E27FC236}">
                  <a16:creationId xmlns:a16="http://schemas.microsoft.com/office/drawing/2014/main" id="{293800B5-3D55-CEBF-B535-05F8DADFF9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68" y="8790"/>
              <a:ext cx="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27" name="Line 9">
              <a:extLst>
                <a:ext uri="{FF2B5EF4-FFF2-40B4-BE49-F238E27FC236}">
                  <a16:creationId xmlns:a16="http://schemas.microsoft.com/office/drawing/2014/main" id="{269F6B97-0EBE-4CEE-E0CF-A5E3E6E2A8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68" y="8932"/>
              <a:ext cx="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D2CB2C4F-3697-5AB8-7D5D-7A595EE01DAE}"/>
              </a:ext>
            </a:extLst>
          </p:cNvPr>
          <p:cNvSpPr txBox="1">
            <a:spLocks/>
          </p:cNvSpPr>
          <p:nvPr/>
        </p:nvSpPr>
        <p:spPr>
          <a:xfrm rot="16200000">
            <a:off x="-3215290" y="3162962"/>
            <a:ext cx="6962655" cy="53207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altLang="en-US" sz="1800" b="1" dirty="0">
                <a:solidFill>
                  <a:schemeClr val="bg1"/>
                </a:solidFill>
                <a:latin typeface=""/>
              </a:rPr>
              <a:t>RELATIONAL ALGEBRA OPERATION II</a:t>
            </a:r>
            <a:endParaRPr lang="en-GB" sz="1800" dirty="0">
              <a:solidFill>
                <a:schemeClr val="bg1"/>
              </a:solidFill>
              <a:latin typeface=""/>
            </a:endParaRPr>
          </a:p>
        </p:txBody>
      </p:sp>
      <p:pic>
        <p:nvPicPr>
          <p:cNvPr id="4" name="Picture 2053" descr="C04NF01b">
            <a:extLst>
              <a:ext uri="{FF2B5EF4-FFF2-40B4-BE49-F238E27FC236}">
                <a16:creationId xmlns:a16="http://schemas.microsoft.com/office/drawing/2014/main" id="{B6030993-D427-9315-217A-42CD582DBF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315" t="640" r="5393" b="61757"/>
          <a:stretch/>
        </p:blipFill>
        <p:spPr>
          <a:xfrm>
            <a:off x="1162062" y="2497104"/>
            <a:ext cx="2938783" cy="3666520"/>
          </a:xfrm>
          <a:prstGeom prst="rect">
            <a:avLst/>
          </a:prstGeom>
          <a:noFill/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D200156-387D-56F1-4F80-0F6A6B9F10D2}"/>
              </a:ext>
            </a:extLst>
          </p:cNvPr>
          <p:cNvSpPr/>
          <p:nvPr/>
        </p:nvSpPr>
        <p:spPr>
          <a:xfrm>
            <a:off x="4100845" y="1043837"/>
            <a:ext cx="3439166" cy="1294627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Symbol" pitchFamily="2" charset="2"/>
              </a:rPr>
              <a:t>R       S</a:t>
            </a: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254C9AC5-E2E1-71D0-EE97-69FCFD6028FF}"/>
              </a:ext>
            </a:extLst>
          </p:cNvPr>
          <p:cNvGrpSpPr>
            <a:grpSpLocks/>
          </p:cNvGrpSpPr>
          <p:nvPr/>
        </p:nvGrpSpPr>
        <p:grpSpPr bwMode="auto">
          <a:xfrm>
            <a:off x="5491620" y="1408930"/>
            <a:ext cx="657616" cy="564439"/>
            <a:chOff x="1568" y="8789"/>
            <a:chExt cx="313" cy="144"/>
          </a:xfrm>
        </p:grpSpPr>
        <p:sp>
          <p:nvSpPr>
            <p:cNvPr id="7" name="Line 5">
              <a:extLst>
                <a:ext uri="{FF2B5EF4-FFF2-40B4-BE49-F238E27FC236}">
                  <a16:creationId xmlns:a16="http://schemas.microsoft.com/office/drawing/2014/main" id="{48AE766F-B81B-101B-695C-F15A66C72C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1" y="8789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A01280A9-36BF-AEB2-ECB0-6A1D9435EB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53" y="8789"/>
              <a:ext cx="22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77776023-42E9-D71A-13BC-6668A564C4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3" y="8789"/>
              <a:ext cx="22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8">
              <a:extLst>
                <a:ext uri="{FF2B5EF4-FFF2-40B4-BE49-F238E27FC236}">
                  <a16:creationId xmlns:a16="http://schemas.microsoft.com/office/drawing/2014/main" id="{91936972-F13C-6807-FC48-A216311F93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68" y="8790"/>
              <a:ext cx="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C4970235-D5F4-C6F5-7522-99BF538A2A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68" y="8932"/>
              <a:ext cx="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 build="p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3" name="Rectangle 3">
            <a:extLst>
              <a:ext uri="{FF2B5EF4-FFF2-40B4-BE49-F238E27FC236}">
                <a16:creationId xmlns:a16="http://schemas.microsoft.com/office/drawing/2014/main" id="{59165E79-5C61-D283-1643-A9C5C6F218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7850" y="1483477"/>
            <a:ext cx="10545262" cy="1524000"/>
          </a:xfrm>
          <a:noFill/>
        </p:spPr>
        <p:txBody>
          <a:bodyPr vert="horz" lIns="90488" tIns="44450" rIns="90488" bIns="44450" rtlCol="0">
            <a:normAutofit/>
          </a:bodyPr>
          <a:lstStyle/>
          <a:p>
            <a:pPr marL="0" indent="0">
              <a:buNone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 a status report on property viewings.</a:t>
            </a:r>
            <a:endParaRPr lang="en-GB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9217" name="Picture 17" descr="DS3-Figure 04-10">
            <a:extLst>
              <a:ext uri="{FF2B5EF4-FFF2-40B4-BE49-F238E27FC236}">
                <a16:creationId xmlns:a16="http://schemas.microsoft.com/office/drawing/2014/main" id="{1E47A0AE-69C6-BFDE-A0F1-1617B6164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664" y="2883867"/>
            <a:ext cx="8408095" cy="3378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6D2B7F0-D1E0-4685-4C6D-73B107AEBEAA}"/>
              </a:ext>
            </a:extLst>
          </p:cNvPr>
          <p:cNvSpPr txBox="1">
            <a:spLocks/>
          </p:cNvSpPr>
          <p:nvPr/>
        </p:nvSpPr>
        <p:spPr>
          <a:xfrm rot="16200000">
            <a:off x="-3215290" y="3162962"/>
            <a:ext cx="6962655" cy="53207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altLang="en-US" sz="1800" b="1" dirty="0">
                <a:solidFill>
                  <a:schemeClr val="bg1"/>
                </a:solidFill>
                <a:latin typeface=""/>
              </a:rPr>
              <a:t>RELATIONAL ALGEBRA OPERATION II</a:t>
            </a:r>
            <a:endParaRPr lang="en-GB" sz="1800" dirty="0">
              <a:solidFill>
                <a:schemeClr val="bg1"/>
              </a:solidFill>
              <a:latin typeface="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9936DE13-E400-7E53-F6DD-7DBEA18839CB}"/>
              </a:ext>
            </a:extLst>
          </p:cNvPr>
          <p:cNvSpPr txBox="1">
            <a:spLocks noChangeArrowheads="1"/>
          </p:cNvSpPr>
          <p:nvPr/>
        </p:nvSpPr>
        <p:spPr>
          <a:xfrm>
            <a:off x="912815" y="162669"/>
            <a:ext cx="10366369" cy="885825"/>
          </a:xfrm>
          <a:prstGeom prst="rect">
            <a:avLst/>
          </a:prstGeom>
          <a:noFill/>
        </p:spPr>
        <p:txBody>
          <a:bodyPr vert="horz" lIns="90488" tIns="44450" rIns="90488" bIns="4445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altLang="en-US" b="1">
                <a:latin typeface="Times" pitchFamily="18" charset="0"/>
                <a:ea typeface="Times" pitchFamily="18" charset="0"/>
                <a:cs typeface="Times" pitchFamily="18" charset="0"/>
              </a:rPr>
              <a:t>OUTER JOIN (    )</a:t>
            </a:r>
            <a:endParaRPr lang="en-GB" altLang="en-US" b="1" dirty="0">
              <a:latin typeface="Times" pitchFamily="18" charset="0"/>
              <a:ea typeface="Times" pitchFamily="18" charset="0"/>
              <a:cs typeface="Times" pitchFamily="18" charset="0"/>
            </a:endParaRPr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1B8AD36C-8E4A-C70C-2418-7F11A04BE38C}"/>
              </a:ext>
            </a:extLst>
          </p:cNvPr>
          <p:cNvGrpSpPr>
            <a:grpSpLocks/>
          </p:cNvGrpSpPr>
          <p:nvPr/>
        </p:nvGrpSpPr>
        <p:grpSpPr bwMode="auto">
          <a:xfrm>
            <a:off x="7557370" y="484137"/>
            <a:ext cx="304800" cy="242888"/>
            <a:chOff x="1568" y="8789"/>
            <a:chExt cx="313" cy="144"/>
          </a:xfrm>
        </p:grpSpPr>
        <p:sp>
          <p:nvSpPr>
            <p:cNvPr id="11" name="Line 5">
              <a:extLst>
                <a:ext uri="{FF2B5EF4-FFF2-40B4-BE49-F238E27FC236}">
                  <a16:creationId xmlns:a16="http://schemas.microsoft.com/office/drawing/2014/main" id="{4D942FE2-59E1-01B3-71F5-5F981C4BBB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1" y="8789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6">
              <a:extLst>
                <a:ext uri="{FF2B5EF4-FFF2-40B4-BE49-F238E27FC236}">
                  <a16:creationId xmlns:a16="http://schemas.microsoft.com/office/drawing/2014/main" id="{67338F14-80F3-39CF-7274-D506BEAEE8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53" y="8789"/>
              <a:ext cx="22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7">
              <a:extLst>
                <a:ext uri="{FF2B5EF4-FFF2-40B4-BE49-F238E27FC236}">
                  <a16:creationId xmlns:a16="http://schemas.microsoft.com/office/drawing/2014/main" id="{F9D54BBC-A49E-C35E-CF17-D0AC1A181C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3" y="8789"/>
              <a:ext cx="22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8">
              <a:extLst>
                <a:ext uri="{FF2B5EF4-FFF2-40B4-BE49-F238E27FC236}">
                  <a16:creationId xmlns:a16="http://schemas.microsoft.com/office/drawing/2014/main" id="{F364D3AA-0172-6CB9-E56E-FAD007905B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68" y="8790"/>
              <a:ext cx="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9">
              <a:extLst>
                <a:ext uri="{FF2B5EF4-FFF2-40B4-BE49-F238E27FC236}">
                  <a16:creationId xmlns:a16="http://schemas.microsoft.com/office/drawing/2014/main" id="{F1C26447-87E8-B508-B374-ECC78C2969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68" y="8932"/>
              <a:ext cx="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F8822111-FC4D-7CC0-5CAF-3580E01A37E8}"/>
              </a:ext>
            </a:extLst>
          </p:cNvPr>
          <p:cNvSpPr txBox="1"/>
          <p:nvPr/>
        </p:nvSpPr>
        <p:spPr>
          <a:xfrm>
            <a:off x="514330" y="2035815"/>
            <a:ext cx="111732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buFontTx/>
              <a:buNone/>
            </a:pPr>
            <a:r>
              <a:rPr lang="en-GB" altLang="en-US" sz="3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</a:t>
            </a:r>
            <a:r>
              <a:rPr lang="en-GB" altLang="en-US" sz="3600" baseline="-14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propertyNo</a:t>
            </a:r>
            <a:r>
              <a:rPr lang="en-GB" altLang="en-US" sz="3600" baseline="-14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street, city</a:t>
            </a:r>
            <a:r>
              <a:rPr lang="en-GB" altLang="en-US" sz="3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altLang="en-US" sz="36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PropertyForRent</a:t>
            </a:r>
            <a:r>
              <a:rPr lang="en-GB" altLang="en-US" sz="3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      Viewing</a:t>
            </a:r>
          </a:p>
        </p:txBody>
      </p:sp>
      <p:grpSp>
        <p:nvGrpSpPr>
          <p:cNvPr id="2" name="Group 10">
            <a:extLst>
              <a:ext uri="{FF2B5EF4-FFF2-40B4-BE49-F238E27FC236}">
                <a16:creationId xmlns:a16="http://schemas.microsoft.com/office/drawing/2014/main" id="{944006D1-A53C-C814-22DB-221AA1974DA3}"/>
              </a:ext>
            </a:extLst>
          </p:cNvPr>
          <p:cNvGrpSpPr>
            <a:grpSpLocks/>
          </p:cNvGrpSpPr>
          <p:nvPr/>
        </p:nvGrpSpPr>
        <p:grpSpPr bwMode="auto">
          <a:xfrm>
            <a:off x="7862170" y="2237536"/>
            <a:ext cx="304800" cy="242888"/>
            <a:chOff x="1568" y="8789"/>
            <a:chExt cx="313" cy="144"/>
          </a:xfrm>
        </p:grpSpPr>
        <p:sp>
          <p:nvSpPr>
            <p:cNvPr id="39948" name="Line 11">
              <a:extLst>
                <a:ext uri="{FF2B5EF4-FFF2-40B4-BE49-F238E27FC236}">
                  <a16:creationId xmlns:a16="http://schemas.microsoft.com/office/drawing/2014/main" id="{FFD78C92-BDF1-8880-BB22-EA2CABA76D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1" y="8789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49" name="Line 12">
              <a:extLst>
                <a:ext uri="{FF2B5EF4-FFF2-40B4-BE49-F238E27FC236}">
                  <a16:creationId xmlns:a16="http://schemas.microsoft.com/office/drawing/2014/main" id="{FE65EE02-DE66-26BE-90F3-B1EEC2BA6B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53" y="8789"/>
              <a:ext cx="22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50" name="Line 13">
              <a:extLst>
                <a:ext uri="{FF2B5EF4-FFF2-40B4-BE49-F238E27FC236}">
                  <a16:creationId xmlns:a16="http://schemas.microsoft.com/office/drawing/2014/main" id="{247D7928-F72B-F055-ED52-A3C4446AB3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3" y="8789"/>
              <a:ext cx="22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51" name="Line 14">
              <a:extLst>
                <a:ext uri="{FF2B5EF4-FFF2-40B4-BE49-F238E27FC236}">
                  <a16:creationId xmlns:a16="http://schemas.microsoft.com/office/drawing/2014/main" id="{B0F9480A-97AF-06EB-1472-F367983236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68" y="8790"/>
              <a:ext cx="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52" name="Line 15">
              <a:extLst>
                <a:ext uri="{FF2B5EF4-FFF2-40B4-BE49-F238E27FC236}">
                  <a16:creationId xmlns:a16="http://schemas.microsoft.com/office/drawing/2014/main" id="{8BA81E3A-07D4-CF06-5304-2C0ADE5234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68" y="8932"/>
              <a:ext cx="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79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03" grpId="0" build="p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36" name="Rectangle 12">
            <a:extLst>
              <a:ext uri="{FF2B5EF4-FFF2-40B4-BE49-F238E27FC236}">
                <a16:creationId xmlns:a16="http://schemas.microsoft.com/office/drawing/2014/main" id="{AC85ECFB-60F6-C47E-3724-4B5115C23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6438" y="2872252"/>
            <a:ext cx="87630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Clr>
                <a:schemeClr val="tx1"/>
              </a:buClr>
              <a:buSzPct val="75000"/>
            </a:pPr>
            <a:r>
              <a:rPr lang="en-GB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rewrite </a:t>
            </a:r>
            <a:r>
              <a:rPr lang="en-GB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Semijoin</a:t>
            </a:r>
            <a:r>
              <a:rPr lang="en-GB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Projection and Join:</a:t>
            </a:r>
          </a:p>
          <a:p>
            <a:pPr lvl="1" eaLnBrk="1" hangingPunct="1">
              <a:lnSpc>
                <a:spcPct val="60000"/>
              </a:lnSpc>
              <a:buClr>
                <a:schemeClr val="tx1"/>
              </a:buClr>
              <a:buFontTx/>
              <a:buNone/>
            </a:pPr>
            <a:endParaRPr lang="en-GB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buClr>
                <a:schemeClr val="tx1"/>
              </a:buClr>
              <a:buFontTx/>
              <a:buNone/>
            </a:pPr>
            <a:endParaRPr lang="en-GB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2053" descr="C04NF01b">
            <a:extLst>
              <a:ext uri="{FF2B5EF4-FFF2-40B4-BE49-F238E27FC236}">
                <a16:creationId xmlns:a16="http://schemas.microsoft.com/office/drawing/2014/main" id="{66FE4F47-DDFD-DF12-380F-ADE0BC8FFB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61" t="-151" r="27240" b="67181"/>
          <a:stretch/>
        </p:blipFill>
        <p:spPr>
          <a:xfrm>
            <a:off x="436024" y="2555173"/>
            <a:ext cx="2938779" cy="3883205"/>
          </a:xfrm>
          <a:prstGeom prst="rect">
            <a:avLst/>
          </a:prstGeom>
          <a:noFill/>
        </p:spPr>
      </p:pic>
      <p:sp>
        <p:nvSpPr>
          <p:cNvPr id="40962" name="Rectangle 2">
            <a:extLst>
              <a:ext uri="{FF2B5EF4-FFF2-40B4-BE49-F238E27FC236}">
                <a16:creationId xmlns:a16="http://schemas.microsoft.com/office/drawing/2014/main" id="{F2AA8478-5419-FF44-9E6F-065FA2C369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27275" y="269875"/>
            <a:ext cx="7918450" cy="885825"/>
          </a:xfrm>
          <a:noFill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GB" altLang="en-US" b="1" dirty="0">
                <a:latin typeface="Times" pitchFamily="18" charset="0"/>
                <a:ea typeface="Times" pitchFamily="18" charset="0"/>
                <a:cs typeface="Times" pitchFamily="18" charset="0"/>
              </a:rPr>
              <a:t>SEMIJOIN (     )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A43A2AA1-D63A-B24B-D5EE-1522752BFF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646438" y="4381249"/>
            <a:ext cx="8328123" cy="1676400"/>
          </a:xfrm>
          <a:noFill/>
        </p:spPr>
        <p:txBody>
          <a:bodyPr vert="horz" lIns="90488" tIns="44450" rIns="90488" bIns="44450" rtlCol="0">
            <a:normAutofit/>
          </a:bodyPr>
          <a:lstStyle/>
          <a:p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Defines a relation that contains the </a:t>
            </a:r>
            <a:r>
              <a:rPr lang="en-GB" altLang="en-US" sz="3000" b="1" dirty="0">
                <a:solidFill>
                  <a:srgbClr val="6C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tuples of R that participate in the join of R with S</a:t>
            </a: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FA36D1DC-FA77-3514-61FA-DA6D9F974AB1}"/>
              </a:ext>
            </a:extLst>
          </p:cNvPr>
          <p:cNvGrpSpPr>
            <a:grpSpLocks/>
          </p:cNvGrpSpPr>
          <p:nvPr/>
        </p:nvGrpSpPr>
        <p:grpSpPr bwMode="auto">
          <a:xfrm>
            <a:off x="7464046" y="511769"/>
            <a:ext cx="364721" cy="402631"/>
            <a:chOff x="2693" y="8520"/>
            <a:chExt cx="165" cy="144"/>
          </a:xfrm>
        </p:grpSpPr>
        <p:sp>
          <p:nvSpPr>
            <p:cNvPr id="40979" name="Line 5">
              <a:extLst>
                <a:ext uri="{FF2B5EF4-FFF2-40B4-BE49-F238E27FC236}">
                  <a16:creationId xmlns:a16="http://schemas.microsoft.com/office/drawing/2014/main" id="{05E84744-D1DC-1FE1-7129-B972FCCF44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8" y="8520"/>
              <a:ext cx="0" cy="1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0" name="Line 6">
              <a:extLst>
                <a:ext uri="{FF2B5EF4-FFF2-40B4-BE49-F238E27FC236}">
                  <a16:creationId xmlns:a16="http://schemas.microsoft.com/office/drawing/2014/main" id="{C08D370C-D749-CF0D-8C29-AE9EA5EB6B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8" y="8520"/>
              <a:ext cx="160" cy="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1" name="Line 7">
              <a:extLst>
                <a:ext uri="{FF2B5EF4-FFF2-40B4-BE49-F238E27FC236}">
                  <a16:creationId xmlns:a16="http://schemas.microsoft.com/office/drawing/2014/main" id="{B30FC82E-BD34-7740-C692-12DD0C4595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93" y="8604"/>
              <a:ext cx="165" cy="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A816083-6BEC-2A2B-AE08-59BA699C8485}"/>
              </a:ext>
            </a:extLst>
          </p:cNvPr>
          <p:cNvSpPr/>
          <p:nvPr/>
        </p:nvSpPr>
        <p:spPr>
          <a:xfrm>
            <a:off x="4100845" y="1254443"/>
            <a:ext cx="3439166" cy="1294627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Symbol" pitchFamily="2" charset="2"/>
              </a:rPr>
              <a:t>R       S</a:t>
            </a:r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49AD3501-AF0C-E151-C9FF-4C73B20CEB7C}"/>
              </a:ext>
            </a:extLst>
          </p:cNvPr>
          <p:cNvGrpSpPr>
            <a:grpSpLocks/>
          </p:cNvGrpSpPr>
          <p:nvPr/>
        </p:nvGrpSpPr>
        <p:grpSpPr bwMode="auto">
          <a:xfrm>
            <a:off x="5731279" y="1700440"/>
            <a:ext cx="364721" cy="402631"/>
            <a:chOff x="2693" y="8520"/>
            <a:chExt cx="165" cy="144"/>
          </a:xfrm>
        </p:grpSpPr>
        <p:sp>
          <p:nvSpPr>
            <p:cNvPr id="9" name="Line 5">
              <a:extLst>
                <a:ext uri="{FF2B5EF4-FFF2-40B4-BE49-F238E27FC236}">
                  <a16:creationId xmlns:a16="http://schemas.microsoft.com/office/drawing/2014/main" id="{BBE1379C-AA9A-0C0C-9FDC-03E0B0D5BD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8" y="8520"/>
              <a:ext cx="0" cy="1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6">
              <a:extLst>
                <a:ext uri="{FF2B5EF4-FFF2-40B4-BE49-F238E27FC236}">
                  <a16:creationId xmlns:a16="http://schemas.microsoft.com/office/drawing/2014/main" id="{70FAB0A9-C855-8AF2-3781-F24F63487F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8" y="8520"/>
              <a:ext cx="160" cy="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7">
              <a:extLst>
                <a:ext uri="{FF2B5EF4-FFF2-40B4-BE49-F238E27FC236}">
                  <a16:creationId xmlns:a16="http://schemas.microsoft.com/office/drawing/2014/main" id="{51B911AF-190D-2AFD-BD2F-91BEB29CE6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93" y="8604"/>
              <a:ext cx="165" cy="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010C88AA-E1A4-324C-95BA-133CF9F7308C}"/>
              </a:ext>
            </a:extLst>
          </p:cNvPr>
          <p:cNvSpPr txBox="1"/>
          <p:nvPr/>
        </p:nvSpPr>
        <p:spPr>
          <a:xfrm>
            <a:off x="3810828" y="3499386"/>
            <a:ext cx="653858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eaLnBrk="1" hangingPunct="1">
              <a:buClr>
                <a:schemeClr val="tx1"/>
              </a:buClr>
              <a:buFontTx/>
              <a:buNone/>
            </a:pPr>
            <a:r>
              <a:rPr lang="en-GB" altLang="en-US" sz="4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   </a:t>
            </a:r>
            <a:r>
              <a:rPr lang="en-GB" altLang="en-US" sz="4000" b="1" baseline="-14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GB" altLang="en-US" sz="4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	 = </a:t>
            </a:r>
            <a:r>
              <a:rPr lang="en-GB" altLang="en-US" sz="4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</a:t>
            </a:r>
            <a:r>
              <a:rPr lang="en-GB" altLang="en-US" sz="4000" b="1" baseline="-14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GB" altLang="en-US" sz="4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      </a:t>
            </a:r>
            <a:r>
              <a:rPr lang="en-GB" altLang="en-US" sz="40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GB" altLang="en-US" sz="4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S)</a:t>
            </a:r>
          </a:p>
        </p:txBody>
      </p:sp>
      <p:grpSp>
        <p:nvGrpSpPr>
          <p:cNvPr id="4" name="Group 17">
            <a:extLst>
              <a:ext uri="{FF2B5EF4-FFF2-40B4-BE49-F238E27FC236}">
                <a16:creationId xmlns:a16="http://schemas.microsoft.com/office/drawing/2014/main" id="{4FF82128-9FD4-CA55-2B95-356635357E73}"/>
              </a:ext>
            </a:extLst>
          </p:cNvPr>
          <p:cNvGrpSpPr>
            <a:grpSpLocks/>
          </p:cNvGrpSpPr>
          <p:nvPr/>
        </p:nvGrpSpPr>
        <p:grpSpPr bwMode="auto">
          <a:xfrm>
            <a:off x="8495526" y="3621169"/>
            <a:ext cx="583926" cy="476180"/>
            <a:chOff x="2448" y="9360"/>
            <a:chExt cx="288" cy="144"/>
          </a:xfrm>
        </p:grpSpPr>
        <p:sp>
          <p:nvSpPr>
            <p:cNvPr id="40972" name="Line 18">
              <a:extLst>
                <a:ext uri="{FF2B5EF4-FFF2-40B4-BE49-F238E27FC236}">
                  <a16:creationId xmlns:a16="http://schemas.microsoft.com/office/drawing/2014/main" id="{4F1D8ACF-78B9-9CF0-BED3-E529417F16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9360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3" name="Line 19">
              <a:extLst>
                <a:ext uri="{FF2B5EF4-FFF2-40B4-BE49-F238E27FC236}">
                  <a16:creationId xmlns:a16="http://schemas.microsoft.com/office/drawing/2014/main" id="{AC0EE99B-F0DE-8880-C834-89C06DD1E3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9360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4" name="Line 20">
              <a:extLst>
                <a:ext uri="{FF2B5EF4-FFF2-40B4-BE49-F238E27FC236}">
                  <a16:creationId xmlns:a16="http://schemas.microsoft.com/office/drawing/2014/main" id="{83B2361C-7433-CF30-929B-5AF6EF4884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8" y="9360"/>
              <a:ext cx="28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5" name="Line 21">
              <a:extLst>
                <a:ext uri="{FF2B5EF4-FFF2-40B4-BE49-F238E27FC236}">
                  <a16:creationId xmlns:a16="http://schemas.microsoft.com/office/drawing/2014/main" id="{2C9399A3-B755-EB62-4386-123A744DB9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9360"/>
              <a:ext cx="28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4025C8DA-2912-E747-E453-C9821FA441E3}"/>
              </a:ext>
            </a:extLst>
          </p:cNvPr>
          <p:cNvSpPr txBox="1">
            <a:spLocks/>
          </p:cNvSpPr>
          <p:nvPr/>
        </p:nvSpPr>
        <p:spPr>
          <a:xfrm rot="16200000">
            <a:off x="-3215290" y="3162962"/>
            <a:ext cx="6962655" cy="53207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altLang="en-US" sz="1800" b="1" dirty="0">
                <a:solidFill>
                  <a:schemeClr val="bg1"/>
                </a:solidFill>
                <a:latin typeface=""/>
              </a:rPr>
              <a:t>RELATIONAL ALGEBRA OPERATION II</a:t>
            </a:r>
            <a:endParaRPr lang="en-GB" sz="1800" dirty="0">
              <a:solidFill>
                <a:schemeClr val="bg1"/>
              </a:solidFill>
              <a:latin typeface=""/>
            </a:endParaRPr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id="{8258A6AE-F5A3-BA51-F273-62CA89DA9BC4}"/>
              </a:ext>
            </a:extLst>
          </p:cNvPr>
          <p:cNvGrpSpPr>
            <a:grpSpLocks/>
          </p:cNvGrpSpPr>
          <p:nvPr/>
        </p:nvGrpSpPr>
        <p:grpSpPr bwMode="auto">
          <a:xfrm>
            <a:off x="4744397" y="3639848"/>
            <a:ext cx="451979" cy="382899"/>
            <a:chOff x="2693" y="8520"/>
            <a:chExt cx="165" cy="144"/>
          </a:xfrm>
        </p:grpSpPr>
        <p:sp>
          <p:nvSpPr>
            <p:cNvPr id="15" name="Line 5">
              <a:extLst>
                <a:ext uri="{FF2B5EF4-FFF2-40B4-BE49-F238E27FC236}">
                  <a16:creationId xmlns:a16="http://schemas.microsoft.com/office/drawing/2014/main" id="{6A81CAFD-BADC-1ADE-AC7B-40C26C6CE7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8" y="8520"/>
              <a:ext cx="0" cy="1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6">
              <a:extLst>
                <a:ext uri="{FF2B5EF4-FFF2-40B4-BE49-F238E27FC236}">
                  <a16:creationId xmlns:a16="http://schemas.microsoft.com/office/drawing/2014/main" id="{4EE6F550-1FBE-8BA0-7FF8-39CC77404A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8" y="8520"/>
              <a:ext cx="160" cy="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7">
              <a:extLst>
                <a:ext uri="{FF2B5EF4-FFF2-40B4-BE49-F238E27FC236}">
                  <a16:creationId xmlns:a16="http://schemas.microsoft.com/office/drawing/2014/main" id="{4B13F9EA-2770-4B01-37AE-3E29AE9FA0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93" y="8604"/>
              <a:ext cx="165" cy="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2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36" grpId="0" autoUpdateAnimBg="0"/>
      <p:bldP spid="52227" grpId="0" build="p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7" name="Rectangle 1027">
            <a:extLst>
              <a:ext uri="{FF2B5EF4-FFF2-40B4-BE49-F238E27FC236}">
                <a16:creationId xmlns:a16="http://schemas.microsoft.com/office/drawing/2014/main" id="{879D1481-54C6-ED1F-F903-4585CDC322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5235" y="1537458"/>
            <a:ext cx="10570924" cy="673416"/>
          </a:xfrm>
          <a:noFill/>
        </p:spPr>
        <p:txBody>
          <a:bodyPr vert="horz" lIns="90488" tIns="44450" rIns="90488" bIns="44450" rtlCol="0">
            <a:normAutofit/>
          </a:bodyPr>
          <a:lstStyle/>
          <a:p>
            <a:pPr marL="0" indent="0">
              <a:buNone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complete details of all staff who work at the branch in Glasgow.</a:t>
            </a:r>
            <a:endParaRPr lang="en-GB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032">
            <a:extLst>
              <a:ext uri="{FF2B5EF4-FFF2-40B4-BE49-F238E27FC236}">
                <a16:creationId xmlns:a16="http://schemas.microsoft.com/office/drawing/2014/main" id="{934FA4E6-E4F2-1107-67C2-F728FBEE1495}"/>
              </a:ext>
            </a:extLst>
          </p:cNvPr>
          <p:cNvGrpSpPr>
            <a:grpSpLocks/>
          </p:cNvGrpSpPr>
          <p:nvPr/>
        </p:nvGrpSpPr>
        <p:grpSpPr bwMode="auto">
          <a:xfrm>
            <a:off x="2327275" y="2385894"/>
            <a:ext cx="228600" cy="241300"/>
            <a:chOff x="2685" y="8520"/>
            <a:chExt cx="170" cy="142"/>
          </a:xfrm>
        </p:grpSpPr>
        <p:sp>
          <p:nvSpPr>
            <p:cNvPr id="41994" name="Line 1033">
              <a:extLst>
                <a:ext uri="{FF2B5EF4-FFF2-40B4-BE49-F238E27FC236}">
                  <a16:creationId xmlns:a16="http://schemas.microsoft.com/office/drawing/2014/main" id="{DC3784F3-6D61-80A6-D3F5-CCB489F5BC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8" y="8520"/>
              <a:ext cx="0" cy="142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95" name="Line 1034">
              <a:extLst>
                <a:ext uri="{FF2B5EF4-FFF2-40B4-BE49-F238E27FC236}">
                  <a16:creationId xmlns:a16="http://schemas.microsoft.com/office/drawing/2014/main" id="{2D7B3E5E-FFF0-670E-F8C5-2E47EAB7A5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8" y="8520"/>
              <a:ext cx="157" cy="82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96" name="Line 1035">
              <a:extLst>
                <a:ext uri="{FF2B5EF4-FFF2-40B4-BE49-F238E27FC236}">
                  <a16:creationId xmlns:a16="http://schemas.microsoft.com/office/drawing/2014/main" id="{A055F05C-E8B8-E31C-3923-8E6F152119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5" y="8580"/>
              <a:ext cx="165" cy="6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80237" name="Picture 1037" descr="DS3-Figure 04-11">
            <a:extLst>
              <a:ext uri="{FF2B5EF4-FFF2-40B4-BE49-F238E27FC236}">
                <a16:creationId xmlns:a16="http://schemas.microsoft.com/office/drawing/2014/main" id="{0754DE0E-2DA1-86A3-1828-402DCEC04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8407" y="3151559"/>
            <a:ext cx="8855670" cy="2486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A2B0086-A40C-4D59-63B8-ACD0FF15D4DE}"/>
              </a:ext>
            </a:extLst>
          </p:cNvPr>
          <p:cNvSpPr txBox="1">
            <a:spLocks/>
          </p:cNvSpPr>
          <p:nvPr/>
        </p:nvSpPr>
        <p:spPr>
          <a:xfrm rot="16200000">
            <a:off x="-3215290" y="3162962"/>
            <a:ext cx="6962655" cy="53207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altLang="en-US" sz="1800" b="1" dirty="0">
                <a:solidFill>
                  <a:schemeClr val="bg1"/>
                </a:solidFill>
                <a:latin typeface=""/>
              </a:rPr>
              <a:t>RELATIONAL ALGEBRA OPERATION II</a:t>
            </a:r>
            <a:endParaRPr lang="en-GB" sz="1800" dirty="0">
              <a:solidFill>
                <a:schemeClr val="bg1"/>
              </a:solidFill>
              <a:latin typeface="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5193C59-CF70-6264-D5FA-791F90B33D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27275" y="269875"/>
            <a:ext cx="7918450" cy="885825"/>
          </a:xfrm>
          <a:noFill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GB" altLang="en-US" b="1" dirty="0">
                <a:latin typeface="Times" pitchFamily="18" charset="0"/>
                <a:ea typeface="Times" pitchFamily="18" charset="0"/>
                <a:cs typeface="Times" pitchFamily="18" charset="0"/>
              </a:rPr>
              <a:t>SEMIJOIN (     )</a:t>
            </a:r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632BD33B-1BB6-FEED-1E0E-EF17CE0B4561}"/>
              </a:ext>
            </a:extLst>
          </p:cNvPr>
          <p:cNvGrpSpPr>
            <a:grpSpLocks/>
          </p:cNvGrpSpPr>
          <p:nvPr/>
        </p:nvGrpSpPr>
        <p:grpSpPr bwMode="auto">
          <a:xfrm>
            <a:off x="7464046" y="511769"/>
            <a:ext cx="364721" cy="402631"/>
            <a:chOff x="2693" y="8520"/>
            <a:chExt cx="165" cy="144"/>
          </a:xfrm>
        </p:grpSpPr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66E5D41B-4601-3C8F-FD40-CE44B33A95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8" y="8520"/>
              <a:ext cx="0" cy="1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5D4CEE21-36CE-A629-124F-E1F002BBD8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8" y="8520"/>
              <a:ext cx="160" cy="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7">
              <a:extLst>
                <a:ext uri="{FF2B5EF4-FFF2-40B4-BE49-F238E27FC236}">
                  <a16:creationId xmlns:a16="http://schemas.microsoft.com/office/drawing/2014/main" id="{033FA7E5-DB77-5094-B0CB-6BEA03E413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93" y="8604"/>
              <a:ext cx="165" cy="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93CBE50-D84A-6DE0-9E27-CB745953FA4A}"/>
              </a:ext>
            </a:extLst>
          </p:cNvPr>
          <p:cNvSpPr txBox="1"/>
          <p:nvPr/>
        </p:nvSpPr>
        <p:spPr>
          <a:xfrm>
            <a:off x="620038" y="2158784"/>
            <a:ext cx="105709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buFontTx/>
              <a:buNone/>
            </a:pPr>
            <a:r>
              <a:rPr lang="en-GB" altLang="en-US" sz="3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Staff      </a:t>
            </a:r>
            <a:r>
              <a:rPr lang="en-GB" altLang="en-US" sz="3600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Staff.branchNo</a:t>
            </a:r>
            <a:r>
              <a:rPr lang="en-GB" altLang="en-US" sz="36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GB" altLang="en-US" sz="3600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Branch.branchNo</a:t>
            </a:r>
            <a:r>
              <a:rPr lang="en-GB" altLang="en-US" sz="3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altLang="en-US" sz="3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</a:t>
            </a:r>
            <a:r>
              <a:rPr lang="en-GB" altLang="en-US" sz="36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city=‘Glasgow’</a:t>
            </a:r>
            <a:r>
              <a:rPr lang="en-GB" altLang="en-US" sz="3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(Branch))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27" grpId="0" build="p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A screenshot of a computer&#10;&#10;Description automatically generated">
            <a:extLst>
              <a:ext uri="{FF2B5EF4-FFF2-40B4-BE49-F238E27FC236}">
                <a16:creationId xmlns:a16="http://schemas.microsoft.com/office/drawing/2014/main" id="{A5832736-ED12-45E2-DDA5-F244F6771C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4980" y="1821165"/>
            <a:ext cx="7772400" cy="2274585"/>
          </a:xfrm>
          <a:prstGeom prst="rect">
            <a:avLst/>
          </a:prstGeom>
        </p:spPr>
      </p:pic>
      <p:sp>
        <p:nvSpPr>
          <p:cNvPr id="48130" name="Content Placeholder 6">
            <a:extLst>
              <a:ext uri="{FF2B5EF4-FFF2-40B4-BE49-F238E27FC236}">
                <a16:creationId xmlns:a16="http://schemas.microsoft.com/office/drawing/2014/main" id="{0374F206-B52D-89C1-572F-AB8D42246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4258297"/>
            <a:ext cx="11550041" cy="2135180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</a:t>
            </a:r>
            <a:r>
              <a:rPr lang="en-GB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hotelName</a:t>
            </a: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(Hotel</a:t>
            </a:r>
            <a:r>
              <a:rPr lang="en-GB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GB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Hotel.hotelNo</a:t>
            </a: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GB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Room.hotelNo</a:t>
            </a: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l-GR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l-GR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&gt; 50 (Room)) ) </a:t>
            </a:r>
          </a:p>
          <a:p>
            <a:pPr marL="514350" indent="-514350">
              <a:buFont typeface="+mj-lt"/>
              <a:buAutoNum type="arabicPeriod"/>
            </a:pP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Guest</a:t>
            </a:r>
            <a:r>
              <a:rPr lang="en-GB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	 ( </a:t>
            </a: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</a:t>
            </a:r>
            <a:r>
              <a:rPr lang="en-GB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dateTo</a:t>
            </a: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</a:t>
            </a: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‘1-Jan-2002’ (Booking))</a:t>
            </a:r>
          </a:p>
          <a:p>
            <a:pPr marL="514350" indent="-514350">
              <a:buFont typeface="+mj-lt"/>
              <a:buAutoNum type="arabicPeriod"/>
            </a:pP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</a:t>
            </a:r>
            <a:r>
              <a:rPr lang="en-GB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GB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Hotel.hotelNo</a:t>
            </a: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GB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Room.hotelNo</a:t>
            </a: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l-GR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l-GR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&gt; 50 (Room)) 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</a:t>
            </a:r>
            <a:r>
              <a:rPr lang="en-GB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guestName</a:t>
            </a: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hotelNo</a:t>
            </a: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(Booking</a:t>
            </a:r>
            <a:r>
              <a:rPr lang="en-GB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GB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Booking.guestNo</a:t>
            </a: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GB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Guest.guestNo</a:t>
            </a: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Guest) </a:t>
            </a: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</a:t>
            </a: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</a:t>
            </a:r>
            <a:r>
              <a:rPr lang="en-GB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hotelNo</a:t>
            </a: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l-GR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l-GR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 = ’London’(Hotel))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GB" altLang="en-US" sz="2400" dirty="0"/>
              <a:t> </a:t>
            </a:r>
            <a:endParaRPr lang="en-US" altLang="en-US" sz="2400" dirty="0"/>
          </a:p>
          <a:p>
            <a:pPr>
              <a:buFontTx/>
              <a:buNone/>
            </a:pPr>
            <a:endParaRPr lang="en-US" alt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1DF806-595B-3C84-3D6D-020D00A3EA9A}"/>
              </a:ext>
            </a:extLst>
          </p:cNvPr>
          <p:cNvSpPr txBox="1"/>
          <p:nvPr/>
        </p:nvSpPr>
        <p:spPr>
          <a:xfrm>
            <a:off x="838199" y="1440273"/>
            <a:ext cx="108986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Describe the result of the relational algebra expression based on the following schema:</a:t>
            </a:r>
            <a:endParaRPr lang="en-US" sz="2000" dirty="0"/>
          </a:p>
        </p:txBody>
      </p:sp>
      <p:sp>
        <p:nvSpPr>
          <p:cNvPr id="58371" name="Slide Number Placeholder 4">
            <a:extLst>
              <a:ext uri="{FF2B5EF4-FFF2-40B4-BE49-F238E27FC236}">
                <a16:creationId xmlns:a16="http://schemas.microsoft.com/office/drawing/2014/main" id="{95AB22E5-D4FB-F412-B92B-0C05E84C5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C1D0419-8717-E440-B5BC-67462A185120}" type="slidenum">
              <a:rPr lang="en-GB" altLang="en-US" sz="1400">
                <a:latin typeface="Arial" panose="020B0604020202020204" pitchFamily="34" charset="0"/>
                <a:ea typeface="MS PGothic" panose="020B0600070205080204" pitchFamily="34" charset="-128"/>
              </a:rPr>
              <a:pPr eaLnBrk="1" hangingPunct="1">
                <a:spcBef>
                  <a:spcPct val="0"/>
                </a:spcBef>
                <a:buFontTx/>
                <a:buNone/>
              </a:pPr>
              <a:t>39</a:t>
            </a:fld>
            <a:endParaRPr lang="en-GB" altLang="en-US" sz="1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grpSp>
        <p:nvGrpSpPr>
          <p:cNvPr id="2" name="Group 10">
            <a:extLst>
              <a:ext uri="{FF2B5EF4-FFF2-40B4-BE49-F238E27FC236}">
                <a16:creationId xmlns:a16="http://schemas.microsoft.com/office/drawing/2014/main" id="{0C94C12D-0DB8-8888-F1E3-88AD9D799A68}"/>
              </a:ext>
            </a:extLst>
          </p:cNvPr>
          <p:cNvGrpSpPr/>
          <p:nvPr/>
        </p:nvGrpSpPr>
        <p:grpSpPr>
          <a:xfrm>
            <a:off x="3923898" y="4343292"/>
            <a:ext cx="342900" cy="266700"/>
            <a:chOff x="7162800" y="2438400"/>
            <a:chExt cx="342900" cy="266700"/>
          </a:xfrm>
          <a:noFill/>
        </p:grpSpPr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364E2886-3106-EFB4-4308-75876DC52325}"/>
                </a:ext>
              </a:extLst>
            </p:cNvPr>
            <p:cNvSpPr/>
            <p:nvPr/>
          </p:nvSpPr>
          <p:spPr bwMode="auto">
            <a:xfrm rot="16200000" flipV="1">
              <a:off x="7124700" y="2476500"/>
              <a:ext cx="266700" cy="190500"/>
            </a:xfrm>
            <a:prstGeom prst="triangl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 sz="2400">
                <a:cs typeface="Arial" charset="0"/>
              </a:endParaRPr>
            </a:p>
          </p:txBody>
        </p:sp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B61B0D04-75AE-2042-9EE1-C8F596137BB5}"/>
                </a:ext>
              </a:extLst>
            </p:cNvPr>
            <p:cNvSpPr/>
            <p:nvPr/>
          </p:nvSpPr>
          <p:spPr bwMode="auto">
            <a:xfrm rot="5400000" flipV="1">
              <a:off x="7277100" y="2476500"/>
              <a:ext cx="266700" cy="190500"/>
            </a:xfrm>
            <a:prstGeom prst="triangl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 sz="2400">
                <a:cs typeface="Arial" charset="0"/>
              </a:endParaRPr>
            </a:p>
          </p:txBody>
        </p:sp>
      </p:grpSp>
      <p:sp>
        <p:nvSpPr>
          <p:cNvPr id="5" name="Rectangle 2">
            <a:extLst>
              <a:ext uri="{FF2B5EF4-FFF2-40B4-BE49-F238E27FC236}">
                <a16:creationId xmlns:a16="http://schemas.microsoft.com/office/drawing/2014/main" id="{1AB1A6C5-C1CA-266E-99DF-8E62BAD0F1EB}"/>
              </a:ext>
            </a:extLst>
          </p:cNvPr>
          <p:cNvSpPr txBox="1">
            <a:spLocks noChangeArrowheads="1"/>
          </p:cNvSpPr>
          <p:nvPr/>
        </p:nvSpPr>
        <p:spPr>
          <a:xfrm>
            <a:off x="2208212" y="273843"/>
            <a:ext cx="7775575" cy="814387"/>
          </a:xfrm>
          <a:prstGeom prst="rect">
            <a:avLst/>
          </a:prstGeom>
          <a:noFill/>
        </p:spPr>
        <p:txBody>
          <a:bodyPr vert="horz" lIns="90488" tIns="44450" rIns="90488" bIns="4445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"/>
                <a:ea typeface="Times" pitchFamily="18" charset="0"/>
                <a:cs typeface="Times" pitchFamily="18" charset="0"/>
              </a:rPr>
              <a:t>CLASS DISCUSSION II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1E86D72-A910-56F3-AB43-D69EE91EF181}"/>
              </a:ext>
            </a:extLst>
          </p:cNvPr>
          <p:cNvSpPr txBox="1">
            <a:spLocks/>
          </p:cNvSpPr>
          <p:nvPr/>
        </p:nvSpPr>
        <p:spPr>
          <a:xfrm rot="16200000">
            <a:off x="-3215290" y="3162962"/>
            <a:ext cx="6962655" cy="53207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altLang="en-US" sz="1800" b="1" dirty="0">
                <a:solidFill>
                  <a:schemeClr val="bg1"/>
                </a:solidFill>
                <a:latin typeface=""/>
              </a:rPr>
              <a:t>RELATIONAL ALGEBRA OPERATION II</a:t>
            </a:r>
            <a:endParaRPr lang="en-GB" sz="1800" dirty="0">
              <a:solidFill>
                <a:schemeClr val="bg1"/>
              </a:solidFill>
              <a:latin typeface=""/>
            </a:endParaRP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6771E91B-4B43-5839-DF02-E4392AEF8D34}"/>
              </a:ext>
            </a:extLst>
          </p:cNvPr>
          <p:cNvGrpSpPr>
            <a:grpSpLocks/>
          </p:cNvGrpSpPr>
          <p:nvPr/>
        </p:nvGrpSpPr>
        <p:grpSpPr bwMode="auto">
          <a:xfrm>
            <a:off x="2343399" y="4819915"/>
            <a:ext cx="304800" cy="242888"/>
            <a:chOff x="1568" y="8789"/>
            <a:chExt cx="313" cy="144"/>
          </a:xfrm>
        </p:grpSpPr>
        <p:sp>
          <p:nvSpPr>
            <p:cNvPr id="12" name="Line 5">
              <a:extLst>
                <a:ext uri="{FF2B5EF4-FFF2-40B4-BE49-F238E27FC236}">
                  <a16:creationId xmlns:a16="http://schemas.microsoft.com/office/drawing/2014/main" id="{769F34FB-C402-E28B-E840-DA0258A113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1" y="8789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6">
              <a:extLst>
                <a:ext uri="{FF2B5EF4-FFF2-40B4-BE49-F238E27FC236}">
                  <a16:creationId xmlns:a16="http://schemas.microsoft.com/office/drawing/2014/main" id="{54C66123-EE23-9ABF-C02D-C72FD66743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53" y="8789"/>
              <a:ext cx="22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7">
              <a:extLst>
                <a:ext uri="{FF2B5EF4-FFF2-40B4-BE49-F238E27FC236}">
                  <a16:creationId xmlns:a16="http://schemas.microsoft.com/office/drawing/2014/main" id="{6851F158-2B86-9A20-A825-1A3AD9A6A0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3" y="8789"/>
              <a:ext cx="22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8">
              <a:extLst>
                <a:ext uri="{FF2B5EF4-FFF2-40B4-BE49-F238E27FC236}">
                  <a16:creationId xmlns:a16="http://schemas.microsoft.com/office/drawing/2014/main" id="{9017FFB4-2C7F-6BE8-9892-4336585592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68" y="8790"/>
              <a:ext cx="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9">
              <a:extLst>
                <a:ext uri="{FF2B5EF4-FFF2-40B4-BE49-F238E27FC236}">
                  <a16:creationId xmlns:a16="http://schemas.microsoft.com/office/drawing/2014/main" id="{5602D81B-FE11-8061-33A8-083625182C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68" y="8932"/>
              <a:ext cx="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Isosceles Triangle 9">
            <a:extLst>
              <a:ext uri="{FF2B5EF4-FFF2-40B4-BE49-F238E27FC236}">
                <a16:creationId xmlns:a16="http://schemas.microsoft.com/office/drawing/2014/main" id="{8A9321CA-0895-B3B8-B09B-D89BF3B5EC7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198305" y="5261691"/>
            <a:ext cx="381000" cy="228600"/>
          </a:xfrm>
          <a:prstGeom prst="triangle">
            <a:avLst>
              <a:gd name="adj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pSp>
        <p:nvGrpSpPr>
          <p:cNvPr id="19" name="Group 4">
            <a:extLst>
              <a:ext uri="{FF2B5EF4-FFF2-40B4-BE49-F238E27FC236}">
                <a16:creationId xmlns:a16="http://schemas.microsoft.com/office/drawing/2014/main" id="{BE5F2C30-78D2-97E1-CE14-B012BEDEFE33}"/>
              </a:ext>
            </a:extLst>
          </p:cNvPr>
          <p:cNvGrpSpPr>
            <a:grpSpLocks/>
          </p:cNvGrpSpPr>
          <p:nvPr/>
        </p:nvGrpSpPr>
        <p:grpSpPr bwMode="auto">
          <a:xfrm>
            <a:off x="5481180" y="5714216"/>
            <a:ext cx="304800" cy="244475"/>
            <a:chOff x="2448" y="9360"/>
            <a:chExt cx="288" cy="144"/>
          </a:xfrm>
        </p:grpSpPr>
        <p:sp>
          <p:nvSpPr>
            <p:cNvPr id="20" name="Line 5">
              <a:extLst>
                <a:ext uri="{FF2B5EF4-FFF2-40B4-BE49-F238E27FC236}">
                  <a16:creationId xmlns:a16="http://schemas.microsoft.com/office/drawing/2014/main" id="{CA34B108-B42D-20BA-22BA-D3304883D4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9360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6">
              <a:extLst>
                <a:ext uri="{FF2B5EF4-FFF2-40B4-BE49-F238E27FC236}">
                  <a16:creationId xmlns:a16="http://schemas.microsoft.com/office/drawing/2014/main" id="{832E863E-A3BA-5794-F7FA-9D94FF4A4E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9360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7">
              <a:extLst>
                <a:ext uri="{FF2B5EF4-FFF2-40B4-BE49-F238E27FC236}">
                  <a16:creationId xmlns:a16="http://schemas.microsoft.com/office/drawing/2014/main" id="{8223DBB4-65AD-1DDA-2C1E-2C0BC34297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8" y="9360"/>
              <a:ext cx="28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8">
              <a:extLst>
                <a:ext uri="{FF2B5EF4-FFF2-40B4-BE49-F238E27FC236}">
                  <a16:creationId xmlns:a16="http://schemas.microsoft.com/office/drawing/2014/main" id="{AA14638A-998F-DC60-7631-9A4349EE3E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9360"/>
              <a:ext cx="28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Content Placeholder 2">
            <a:extLst>
              <a:ext uri="{FF2B5EF4-FFF2-40B4-BE49-F238E27FC236}">
                <a16:creationId xmlns:a16="http://schemas.microsoft.com/office/drawing/2014/main" id="{791DA600-FF47-CAC1-DD3C-15A293F4D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0140" y="1775619"/>
            <a:ext cx="10666956" cy="449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Guest</a:t>
            </a:r>
            <a:r>
              <a:rPr lang="en-GB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	( </a:t>
            </a:r>
            <a:r>
              <a:rPr lang="en-GB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</a:t>
            </a:r>
            <a:r>
              <a:rPr lang="en-GB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dateTo</a:t>
            </a:r>
            <a:r>
              <a:rPr lang="en-GB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</a:t>
            </a:r>
            <a:r>
              <a:rPr lang="en-GB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‘1-Jan-2002’</a:t>
            </a: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(Booking))</a:t>
            </a:r>
          </a:p>
          <a:p>
            <a:pPr>
              <a:buFontTx/>
              <a:buNone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algn="just">
              <a:buFontTx/>
              <a:buNone/>
            </a:pPr>
            <a:r>
              <a:rPr lang="en-GB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will produce a </a:t>
            </a:r>
            <a:r>
              <a:rPr lang="en-GB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(left outer) join of Guest and those tuples of Booking</a:t>
            </a:r>
            <a:r>
              <a:rPr lang="en-GB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5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an </a:t>
            </a:r>
            <a:r>
              <a:rPr lang="en-GB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date (</a:t>
            </a:r>
            <a:r>
              <a:rPr lang="en-GB" altLang="en-US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dateTo</a:t>
            </a:r>
            <a:r>
              <a:rPr lang="en-GB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greater than or equal to 1-Jan-2002</a:t>
            </a:r>
            <a:r>
              <a:rPr lang="en-GB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endParaRPr lang="en-GB" altLang="en-US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None/>
            </a:pPr>
            <a:r>
              <a:rPr lang="en-GB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altLang="en-US" sz="25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guests who don’t have a booking with such a date will still be included in the join. </a:t>
            </a:r>
          </a:p>
          <a:p>
            <a:pPr algn="just">
              <a:buFontTx/>
              <a:buNone/>
            </a:pPr>
            <a:r>
              <a:rPr lang="en-GB" altLang="en-US" sz="25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Essentially this will produce a </a:t>
            </a:r>
            <a:r>
              <a:rPr lang="en-GB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 containing all guests and show the details of any bookings they have beyond 1-Jan-2002</a:t>
            </a:r>
            <a:r>
              <a:rPr lang="en-GB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395" name="Slide Number Placeholder 3">
            <a:extLst>
              <a:ext uri="{FF2B5EF4-FFF2-40B4-BE49-F238E27FC236}">
                <a16:creationId xmlns:a16="http://schemas.microsoft.com/office/drawing/2014/main" id="{DC50D15B-9DE7-3A9C-1A8A-5ED60DCCE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5B56422-1781-C144-AE3A-A5A9E1C8A084}" type="slidenum">
              <a:rPr lang="en-US" altLang="en-US" sz="1400">
                <a:latin typeface="Arial" panose="020B0604020202020204" pitchFamily="34" charset="0"/>
                <a:ea typeface="MS PGothic" panose="020B0600070205080204" pitchFamily="34" charset="-128"/>
              </a:rPr>
              <a:pPr eaLnBrk="1" hangingPunct="1">
                <a:spcBef>
                  <a:spcPct val="0"/>
                </a:spcBef>
                <a:buFontTx/>
                <a:buNone/>
              </a:pPr>
              <a:t>40</a:t>
            </a:fld>
            <a:endParaRPr lang="en-US" altLang="en-US" sz="1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DA55AC37-451E-2F4E-104A-30B0BDF9CC05}"/>
              </a:ext>
            </a:extLst>
          </p:cNvPr>
          <p:cNvGrpSpPr>
            <a:grpSpLocks/>
          </p:cNvGrpSpPr>
          <p:nvPr/>
        </p:nvGrpSpPr>
        <p:grpSpPr bwMode="auto">
          <a:xfrm>
            <a:off x="2630466" y="1971806"/>
            <a:ext cx="304800" cy="242888"/>
            <a:chOff x="1568" y="8789"/>
            <a:chExt cx="313" cy="144"/>
          </a:xfrm>
        </p:grpSpPr>
        <p:sp>
          <p:nvSpPr>
            <p:cNvPr id="50182" name="Line 5">
              <a:extLst>
                <a:ext uri="{FF2B5EF4-FFF2-40B4-BE49-F238E27FC236}">
                  <a16:creationId xmlns:a16="http://schemas.microsoft.com/office/drawing/2014/main" id="{5FAC7703-5D80-8D3A-A08F-EC43269DFD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1" y="8789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183" name="Line 6">
              <a:extLst>
                <a:ext uri="{FF2B5EF4-FFF2-40B4-BE49-F238E27FC236}">
                  <a16:creationId xmlns:a16="http://schemas.microsoft.com/office/drawing/2014/main" id="{D39FA43E-A7B5-EDDF-3A54-67682675A6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53" y="8789"/>
              <a:ext cx="22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184" name="Line 7">
              <a:extLst>
                <a:ext uri="{FF2B5EF4-FFF2-40B4-BE49-F238E27FC236}">
                  <a16:creationId xmlns:a16="http://schemas.microsoft.com/office/drawing/2014/main" id="{218A5FBD-083D-129F-739A-12B97AD53D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3" y="8789"/>
              <a:ext cx="22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185" name="Line 8">
              <a:extLst>
                <a:ext uri="{FF2B5EF4-FFF2-40B4-BE49-F238E27FC236}">
                  <a16:creationId xmlns:a16="http://schemas.microsoft.com/office/drawing/2014/main" id="{DA4C4FEB-FB00-B5C8-AA31-460EB70529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68" y="8790"/>
              <a:ext cx="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186" name="Line 9">
              <a:extLst>
                <a:ext uri="{FF2B5EF4-FFF2-40B4-BE49-F238E27FC236}">
                  <a16:creationId xmlns:a16="http://schemas.microsoft.com/office/drawing/2014/main" id="{5E9EDC07-98B5-B7BF-F795-661F6E1255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68" y="8932"/>
              <a:ext cx="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099E080C-7B49-8A64-98C2-16C5A4A40804}"/>
              </a:ext>
            </a:extLst>
          </p:cNvPr>
          <p:cNvSpPr txBox="1">
            <a:spLocks/>
          </p:cNvSpPr>
          <p:nvPr/>
        </p:nvSpPr>
        <p:spPr>
          <a:xfrm rot="16200000">
            <a:off x="-3215290" y="3162962"/>
            <a:ext cx="6962655" cy="53207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altLang="en-US" sz="1800" b="1" dirty="0">
                <a:solidFill>
                  <a:schemeClr val="bg1"/>
                </a:solidFill>
                <a:latin typeface=""/>
              </a:rPr>
              <a:t>RELATIONAL ALGEBRA OPERATION II</a:t>
            </a:r>
            <a:endParaRPr lang="en-GB" sz="1800" dirty="0">
              <a:solidFill>
                <a:schemeClr val="bg1"/>
              </a:solidFill>
              <a:latin typeface="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BE7BD42-659F-E601-9D3A-E6BAA79A81C5}"/>
              </a:ext>
            </a:extLst>
          </p:cNvPr>
          <p:cNvSpPr txBox="1">
            <a:spLocks noChangeArrowheads="1"/>
          </p:cNvSpPr>
          <p:nvPr/>
        </p:nvSpPr>
        <p:spPr>
          <a:xfrm>
            <a:off x="2208212" y="273843"/>
            <a:ext cx="7775575" cy="814387"/>
          </a:xfrm>
          <a:prstGeom prst="rect">
            <a:avLst/>
          </a:prstGeom>
          <a:noFill/>
        </p:spPr>
        <p:txBody>
          <a:bodyPr vert="horz" lIns="90488" tIns="44450" rIns="90488" bIns="4445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"/>
                <a:ea typeface="Times" pitchFamily="18" charset="0"/>
                <a:cs typeface="Times" pitchFamily="18" charset="0"/>
              </a:rPr>
              <a:t>CLASS DISCUSSION II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Slide Number Placeholder 3">
            <a:extLst>
              <a:ext uri="{FF2B5EF4-FFF2-40B4-BE49-F238E27FC236}">
                <a16:creationId xmlns:a16="http://schemas.microsoft.com/office/drawing/2014/main" id="{DE78E0EE-5C8A-FB17-A914-D61F1CF56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CB6D2E1-2D8C-FA4D-B80A-B492DBABAAA5}" type="slidenum">
              <a:rPr lang="en-US" altLang="en-US" sz="1400">
                <a:latin typeface="Arial" panose="020B0604020202020204" pitchFamily="34" charset="0"/>
                <a:ea typeface="MS PGothic" panose="020B0600070205080204" pitchFamily="34" charset="-128"/>
              </a:rPr>
              <a:pPr eaLnBrk="1" hangingPunct="1">
                <a:spcBef>
                  <a:spcPct val="0"/>
                </a:spcBef>
                <a:buFontTx/>
                <a:buNone/>
              </a:pPr>
              <a:t>41</a:t>
            </a:fld>
            <a:endParaRPr lang="en-US" altLang="en-US" sz="1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8D75433-D6D8-05ED-7556-71614EE5B0AF}"/>
              </a:ext>
            </a:extLst>
          </p:cNvPr>
          <p:cNvSpPr txBox="1">
            <a:spLocks/>
          </p:cNvSpPr>
          <p:nvPr/>
        </p:nvSpPr>
        <p:spPr>
          <a:xfrm rot="16200000">
            <a:off x="-3215290" y="3162962"/>
            <a:ext cx="6962655" cy="53207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altLang="en-US" sz="1800" b="1" dirty="0">
                <a:solidFill>
                  <a:schemeClr val="bg1"/>
                </a:solidFill>
                <a:latin typeface=""/>
              </a:rPr>
              <a:t>RELATIONAL ALGEBRA OPERATION II</a:t>
            </a:r>
            <a:endParaRPr lang="en-GB" sz="1800" dirty="0">
              <a:solidFill>
                <a:schemeClr val="bg1"/>
              </a:solidFill>
              <a:latin typeface="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396033D-6A5F-4243-3AB4-0F18A5D90CF8}"/>
              </a:ext>
            </a:extLst>
          </p:cNvPr>
          <p:cNvSpPr txBox="1">
            <a:spLocks noChangeArrowheads="1"/>
          </p:cNvSpPr>
          <p:nvPr/>
        </p:nvSpPr>
        <p:spPr>
          <a:xfrm>
            <a:off x="2208212" y="273843"/>
            <a:ext cx="7775575" cy="814387"/>
          </a:xfrm>
          <a:prstGeom prst="rect">
            <a:avLst/>
          </a:prstGeom>
          <a:noFill/>
        </p:spPr>
        <p:txBody>
          <a:bodyPr vert="horz" lIns="90488" tIns="44450" rIns="90488" bIns="4445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"/>
                <a:ea typeface="Times" pitchFamily="18" charset="0"/>
                <a:cs typeface="Times" pitchFamily="18" charset="0"/>
              </a:rPr>
              <a:t>CLASS DISCUSSION II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35F518-2B24-4173-8ABA-72117D1FFA63}"/>
              </a:ext>
            </a:extLst>
          </p:cNvPr>
          <p:cNvSpPr txBox="1"/>
          <p:nvPr/>
        </p:nvSpPr>
        <p:spPr>
          <a:xfrm>
            <a:off x="532076" y="1460132"/>
            <a:ext cx="1137063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GB" alt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Write the relational algebra expression for the following statements (refer to the Hotel schema in previous question):</a:t>
            </a:r>
          </a:p>
          <a:p>
            <a:pPr lvl="1"/>
            <a:endParaRPr lang="en-GB" alt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GB" alt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List the price and type of all rooms at the Grosvenor Hotel.</a:t>
            </a:r>
          </a:p>
          <a:p>
            <a:pPr marL="971550" lvl="1" indent="-514350">
              <a:buFont typeface="+mj-lt"/>
              <a:buAutoNum type="arabicPeriod"/>
            </a:pPr>
            <a:endParaRPr lang="en-GB" alt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GB" alt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List all guests currently staying at the Grosvenor Hotel.</a:t>
            </a:r>
          </a:p>
          <a:p>
            <a:pPr marL="971550" lvl="1" indent="-514350">
              <a:buFont typeface="+mj-lt"/>
              <a:buAutoNum type="arabicPeriod"/>
            </a:pPr>
            <a:endParaRPr lang="en-GB" alt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GB" alt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List the details of all rooms at the Grosvenor Hotel, including the name of the guest staying in the room, if the room is occupied.</a:t>
            </a:r>
          </a:p>
          <a:p>
            <a:pPr marL="971550" lvl="1" indent="-514350">
              <a:buFont typeface="+mj-lt"/>
              <a:buAutoNum type="arabicPeriod"/>
            </a:pPr>
            <a:endParaRPr lang="en-GB" alt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GB" alt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List the guest details (</a:t>
            </a:r>
            <a:r>
              <a:rPr lang="en-GB" altLang="en-US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guestNo</a:t>
            </a:r>
            <a:r>
              <a:rPr lang="en-GB" alt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GB" altLang="en-US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guestName</a:t>
            </a:r>
            <a:r>
              <a:rPr lang="en-GB" alt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and </a:t>
            </a:r>
            <a:r>
              <a:rPr lang="en-GB" altLang="en-US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guestAddress</a:t>
            </a:r>
            <a:r>
              <a:rPr lang="en-GB" alt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 of all guests staying at the Grosvenor Hotel.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A9AD2-0D8B-FBC4-1D87-0127ECF61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053" descr="C04NF01b">
            <a:extLst>
              <a:ext uri="{FF2B5EF4-FFF2-40B4-BE49-F238E27FC236}">
                <a16:creationId xmlns:a16="http://schemas.microsoft.com/office/drawing/2014/main" id="{88A73BD2-3701-7CE1-280C-43EE34CB0DB6}"/>
              </a:ext>
            </a:extLst>
          </p:cNvPr>
          <p:cNvPicPr>
            <a:picLocks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" t="47093" r="-346" b="7426"/>
          <a:stretch/>
        </p:blipFill>
        <p:spPr>
          <a:xfrm>
            <a:off x="663795" y="1420660"/>
            <a:ext cx="10864410" cy="3326704"/>
          </a:xfrm>
          <a:noFill/>
        </p:spPr>
      </p:pic>
      <p:sp>
        <p:nvSpPr>
          <p:cNvPr id="5" name="Rectangle 2050">
            <a:extLst>
              <a:ext uri="{FF2B5EF4-FFF2-40B4-BE49-F238E27FC236}">
                <a16:creationId xmlns:a16="http://schemas.microsoft.com/office/drawing/2014/main" id="{DCB3A3BF-9FC7-DAC6-97B9-BC097C6BF0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2313" y="260350"/>
            <a:ext cx="8229600" cy="998538"/>
          </a:xfrm>
        </p:spPr>
        <p:txBody>
          <a:bodyPr/>
          <a:lstStyle/>
          <a:p>
            <a:r>
              <a:rPr lang="en-GB" altLang="en-US" b="1" dirty="0">
                <a:latin typeface=""/>
              </a:rPr>
              <a:t>RELATIONAL ALGEBRA III</a:t>
            </a:r>
            <a:endParaRPr lang="en-GB" altLang="en-US" b="1" dirty="0">
              <a:solidFill>
                <a:srgbClr val="C00000"/>
              </a:solidFill>
              <a:latin typeface=""/>
              <a:ea typeface="Times" pitchFamily="18" charset="0"/>
              <a:cs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69868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55C7F02C-E251-47C6-6539-8DFDD35EE6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006" y="229346"/>
            <a:ext cx="7773987" cy="742950"/>
          </a:xfrm>
          <a:noFill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GB" altLang="en-US" b="1" dirty="0">
                <a:latin typeface=""/>
                <a:ea typeface="Times" pitchFamily="18" charset="0"/>
                <a:cs typeface="Times" pitchFamily="18" charset="0"/>
              </a:rPr>
              <a:t>DIVISION ( </a:t>
            </a:r>
            <a:r>
              <a:rPr lang="en-GB" altLang="en-US" b="1" dirty="0">
                <a:latin typeface=""/>
                <a:cs typeface="Times New Roman" panose="02020603050405020304" pitchFamily="18" charset="0"/>
                <a:sym typeface="Symbol" pitchFamily="2" charset="2"/>
              </a:rPr>
              <a:t> )</a:t>
            </a:r>
            <a:endParaRPr lang="en-GB" altLang="en-US" b="1" dirty="0">
              <a:latin typeface=""/>
              <a:ea typeface="Times" pitchFamily="18" charset="0"/>
              <a:cs typeface="Times" pitchFamily="18" charset="0"/>
            </a:endParaRP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4377293F-E38A-8F40-A7D2-B35DACDD3D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56731" y="2877918"/>
            <a:ext cx="7094941" cy="3340738"/>
          </a:xfrm>
          <a:noFill/>
        </p:spPr>
        <p:txBody>
          <a:bodyPr vert="horz" lIns="90488" tIns="44450" rIns="90488" bIns="44450" rtlCol="0">
            <a:normAutofit lnSpcReduction="10000"/>
          </a:bodyPr>
          <a:lstStyle/>
          <a:p>
            <a:pPr marL="11113" lvl="1" indent="0">
              <a:lnSpc>
                <a:spcPct val="90000"/>
              </a:lnSpc>
              <a:buNone/>
            </a:pPr>
            <a:r>
              <a:rPr lang="en-GB" alt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Defines a relation over the </a:t>
            </a:r>
            <a:r>
              <a:rPr lang="en-GB" altLang="en-US" sz="2800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attributes C that consists of set of tuples from R that match combination of </a:t>
            </a:r>
            <a:r>
              <a:rPr lang="en-GB" altLang="en-US" sz="2800" b="1" i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every</a:t>
            </a:r>
            <a:r>
              <a:rPr lang="en-GB" altLang="en-US" sz="2800" b="1" dirty="0">
                <a:solidFill>
                  <a:srgbClr val="6C1D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tuple in S</a:t>
            </a:r>
            <a:r>
              <a:rPr lang="en-GB" alt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lvl="1">
              <a:lnSpc>
                <a:spcPct val="60000"/>
              </a:lnSpc>
            </a:pPr>
            <a:endParaRPr lang="en-GB" altLang="en-US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alt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Expressed using basic operations: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altLang="en-US" b="1" noProof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</a:t>
            </a:r>
            <a:r>
              <a:rPr lang="en-GB" altLang="en-US" noProof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</a:t>
            </a:r>
            <a:r>
              <a:rPr lang="en-GB" altLang="en-US" baseline="-25000" noProof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</a:t>
            </a:r>
            <a:r>
              <a:rPr lang="en-GB" altLang="en-US" noProof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GB" altLang="en-US" noProof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Symbol" pitchFamily="2" charset="2"/>
              </a:rPr>
              <a:t></a:t>
            </a:r>
            <a:r>
              <a:rPr lang="en-GB" altLang="en-US" noProof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GB" altLang="en-US" noProof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Symbol" pitchFamily="2" charset="2"/>
              </a:rPr>
              <a:t></a:t>
            </a:r>
            <a:r>
              <a:rPr lang="en-GB" altLang="en-US" baseline="-25000" noProof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</a:t>
            </a:r>
            <a:r>
              <a:rPr lang="en-GB" altLang="en-US" noProof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(R)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altLang="en-US" noProof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T</a:t>
            </a:r>
            <a:r>
              <a:rPr lang="en-GB" altLang="en-US" baseline="-25000" noProof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</a:t>
            </a:r>
            <a:r>
              <a:rPr lang="en-GB" altLang="en-US" noProof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GB" altLang="en-US" noProof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Symbol" pitchFamily="2" charset="2"/>
              </a:rPr>
              <a:t></a:t>
            </a:r>
            <a:r>
              <a:rPr lang="en-GB" altLang="en-US" noProof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GB" altLang="en-US" noProof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Symbol" pitchFamily="2" charset="2"/>
              </a:rPr>
              <a:t></a:t>
            </a:r>
            <a:r>
              <a:rPr lang="en-GB" altLang="en-US" baseline="-25000" noProof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</a:t>
            </a:r>
            <a:r>
              <a:rPr lang="en-GB" altLang="en-US" noProof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((S X T</a:t>
            </a:r>
            <a:r>
              <a:rPr lang="en-GB" altLang="en-US" baseline="-25000" noProof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</a:t>
            </a:r>
            <a:r>
              <a:rPr lang="en-GB" altLang="en-US" noProof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 – R)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altLang="en-US" noProof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T </a:t>
            </a:r>
            <a:r>
              <a:rPr lang="en-GB" altLang="en-US" noProof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Symbol" pitchFamily="2" charset="2"/>
              </a:rPr>
              <a:t></a:t>
            </a:r>
            <a:r>
              <a:rPr lang="en-GB" altLang="en-US" noProof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</a:t>
            </a:r>
            <a:r>
              <a:rPr lang="en-GB" altLang="en-US" baseline="-25000" noProof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</a:t>
            </a:r>
            <a:r>
              <a:rPr lang="en-GB" altLang="en-US" noProof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– T</a:t>
            </a:r>
            <a:r>
              <a:rPr lang="en-GB" altLang="en-US" baseline="-25000" noProof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</a:t>
            </a:r>
            <a:endParaRPr lang="en-GB" alt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C220CF-79B8-F105-12A1-08AB304750AF}"/>
              </a:ext>
            </a:extLst>
          </p:cNvPr>
          <p:cNvSpPr txBox="1">
            <a:spLocks/>
          </p:cNvSpPr>
          <p:nvPr/>
        </p:nvSpPr>
        <p:spPr>
          <a:xfrm rot="16200000">
            <a:off x="-3215290" y="3162962"/>
            <a:ext cx="6962655" cy="5320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altLang="en-US" sz="1800" b="1" dirty="0">
                <a:solidFill>
                  <a:schemeClr val="bg1"/>
                </a:solidFill>
                <a:latin typeface=""/>
              </a:rPr>
              <a:t>RELATIONAL ALGEBRA OPERATION III</a:t>
            </a:r>
            <a:endParaRPr lang="en-GB" sz="1800" dirty="0">
              <a:solidFill>
                <a:schemeClr val="bg1"/>
              </a:solidFill>
              <a:latin typeface=""/>
            </a:endParaRPr>
          </a:p>
        </p:txBody>
      </p:sp>
      <p:pic>
        <p:nvPicPr>
          <p:cNvPr id="3" name="Picture 2053" descr="C04NF01b">
            <a:extLst>
              <a:ext uri="{FF2B5EF4-FFF2-40B4-BE49-F238E27FC236}">
                <a16:creationId xmlns:a16="http://schemas.microsoft.com/office/drawing/2014/main" id="{81D776A1-8074-FA42-DE87-D15D7118C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3" t="48403" r="49878" b="8163"/>
          <a:stretch/>
        </p:blipFill>
        <p:spPr>
          <a:xfrm>
            <a:off x="742569" y="3169809"/>
            <a:ext cx="3514162" cy="2090813"/>
          </a:xfrm>
          <a:prstGeom prst="rect">
            <a:avLst/>
          </a:prstGeom>
          <a:noFill/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0A97880-C436-D01F-AEFE-15BE7E5CAC05}"/>
              </a:ext>
            </a:extLst>
          </p:cNvPr>
          <p:cNvSpPr/>
          <p:nvPr/>
        </p:nvSpPr>
        <p:spPr>
          <a:xfrm>
            <a:off x="4100845" y="1254443"/>
            <a:ext cx="3439166" cy="1294627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Symbol" pitchFamily="2" charset="2"/>
              </a:rPr>
              <a:t>R  S</a:t>
            </a:r>
          </a:p>
        </p:txBody>
      </p:sp>
      <p:pic>
        <p:nvPicPr>
          <p:cNvPr id="5" name="Picture 2053" descr="C04NF01b">
            <a:extLst>
              <a:ext uri="{FF2B5EF4-FFF2-40B4-BE49-F238E27FC236}">
                <a16:creationId xmlns:a16="http://schemas.microsoft.com/office/drawing/2014/main" id="{5A4B2A10-FC3B-0602-03D8-084FACF3B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79" t="46046" r="1472"/>
          <a:stretch/>
        </p:blipFill>
        <p:spPr>
          <a:xfrm>
            <a:off x="9171116" y="4127843"/>
            <a:ext cx="2828973" cy="2090813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>
            <a:extLst>
              <a:ext uri="{FF2B5EF4-FFF2-40B4-BE49-F238E27FC236}">
                <a16:creationId xmlns:a16="http://schemas.microsoft.com/office/drawing/2014/main" id="{B91E000C-F05B-8A6A-67A5-A37B7F64AB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58334" y="1348286"/>
            <a:ext cx="11133666" cy="646331"/>
          </a:xfrm>
          <a:noFill/>
        </p:spPr>
        <p:txBody>
          <a:bodyPr vert="horz" lIns="90488" tIns="44450" rIns="90488" bIns="44450" rtlCol="0">
            <a:normAutofit/>
          </a:bodyPr>
          <a:lstStyle/>
          <a:p>
            <a:pPr marL="0" indent="0">
              <a:buNone/>
            </a:pP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all clients who have viewed all properties with three rooms.</a:t>
            </a:r>
          </a:p>
          <a:p>
            <a:pPr lvl="1">
              <a:lnSpc>
                <a:spcPct val="0"/>
              </a:lnSpc>
            </a:pPr>
            <a:endParaRPr lang="en-GB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6261" name="Picture 5" descr="DS3-Figure 04-12">
            <a:extLst>
              <a:ext uri="{FF2B5EF4-FFF2-40B4-BE49-F238E27FC236}">
                <a16:creationId xmlns:a16="http://schemas.microsoft.com/office/drawing/2014/main" id="{49A1CED1-B9B5-244F-FDF6-4D8E89E49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1" y="3276600"/>
            <a:ext cx="7383463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6" name="Rectangle 5">
            <a:extLst>
              <a:ext uri="{FF2B5EF4-FFF2-40B4-BE49-F238E27FC236}">
                <a16:creationId xmlns:a16="http://schemas.microsoft.com/office/drawing/2014/main" id="{4B0617FC-5849-2954-2181-AB68A683F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387" y="4109928"/>
            <a:ext cx="56297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</a:t>
            </a:r>
            <a:r>
              <a:rPr lang="en-GB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3600" dirty="0">
              <a:solidFill>
                <a:srgbClr val="0000FF"/>
              </a:solidFill>
            </a:endParaRPr>
          </a:p>
        </p:txBody>
      </p:sp>
      <p:sp>
        <p:nvSpPr>
          <p:cNvPr id="44037" name="Right Arrow 6">
            <a:extLst>
              <a:ext uri="{FF2B5EF4-FFF2-40B4-BE49-F238E27FC236}">
                <a16:creationId xmlns:a16="http://schemas.microsoft.com/office/drawing/2014/main" id="{B047E6DE-3957-EBF3-18FE-CCF69D5B5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4191000"/>
            <a:ext cx="977900" cy="484188"/>
          </a:xfrm>
          <a:prstGeom prst="rightArrow">
            <a:avLst>
              <a:gd name="adj1" fmla="val 50000"/>
              <a:gd name="adj2" fmla="val 50024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BE54FB-4DBC-A1B8-7144-05433E8A1FD0}"/>
              </a:ext>
            </a:extLst>
          </p:cNvPr>
          <p:cNvSpPr txBox="1">
            <a:spLocks/>
          </p:cNvSpPr>
          <p:nvPr/>
        </p:nvSpPr>
        <p:spPr>
          <a:xfrm rot="16200000">
            <a:off x="-3215290" y="3162962"/>
            <a:ext cx="6962655" cy="5320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altLang="en-US" sz="1800" b="1" dirty="0">
                <a:solidFill>
                  <a:schemeClr val="bg1"/>
                </a:solidFill>
                <a:latin typeface=""/>
              </a:rPr>
              <a:t>RELATIONAL ALGEBRA OPERATION III</a:t>
            </a:r>
            <a:endParaRPr lang="en-GB" sz="1800" dirty="0">
              <a:solidFill>
                <a:schemeClr val="bg1"/>
              </a:solidFill>
              <a:latin typeface="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35A5418-1382-7D73-AC6B-3016E7C40B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006" y="229346"/>
            <a:ext cx="7773987" cy="742950"/>
          </a:xfrm>
          <a:noFill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GB" altLang="en-US" b="1" dirty="0">
                <a:latin typeface=""/>
                <a:ea typeface="Times" pitchFamily="18" charset="0"/>
                <a:cs typeface="Times" pitchFamily="18" charset="0"/>
              </a:rPr>
              <a:t>DIVISION ( </a:t>
            </a:r>
            <a:r>
              <a:rPr lang="en-GB" altLang="en-US" b="1" dirty="0">
                <a:latin typeface=""/>
                <a:cs typeface="Times New Roman" panose="02020603050405020304" pitchFamily="18" charset="0"/>
                <a:sym typeface="Symbol" pitchFamily="2" charset="2"/>
              </a:rPr>
              <a:t> )</a:t>
            </a:r>
            <a:endParaRPr lang="en-GB" altLang="en-US" b="1" dirty="0">
              <a:latin typeface=""/>
              <a:ea typeface="Times" pitchFamily="18" charset="0"/>
              <a:cs typeface="Times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8693F4-08B2-C4DF-949C-C529A4E36D71}"/>
              </a:ext>
            </a:extLst>
          </p:cNvPr>
          <p:cNvSpPr txBox="1"/>
          <p:nvPr/>
        </p:nvSpPr>
        <p:spPr>
          <a:xfrm>
            <a:off x="1230490" y="2307968"/>
            <a:ext cx="109615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buFontTx/>
              <a:buNone/>
            </a:pPr>
            <a:r>
              <a:rPr lang="en-GB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</a:t>
            </a:r>
            <a:r>
              <a:rPr lang="en-GB" altLang="en-US" sz="2400" b="1" baseline="-14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clientNo</a:t>
            </a:r>
            <a:r>
              <a:rPr lang="en-GB" altLang="en-US" sz="2400" b="1" baseline="-14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altLang="en-US" sz="2400" b="1" baseline="-14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propertyNo</a:t>
            </a:r>
            <a:r>
              <a:rPr lang="en-GB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(Viewing)) </a:t>
            </a:r>
            <a:r>
              <a:rPr lang="en-GB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</a:t>
            </a:r>
            <a:r>
              <a:rPr lang="en-GB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GB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</a:t>
            </a:r>
            <a:r>
              <a:rPr lang="en-GB" altLang="en-US" sz="2400" b="1" baseline="-14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propertyNo</a:t>
            </a:r>
            <a:r>
              <a:rPr lang="en-GB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</a:t>
            </a:r>
            <a:r>
              <a:rPr lang="en-GB" altLang="en-US" sz="2400" b="1" baseline="-14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rooms = 3</a:t>
            </a:r>
            <a:r>
              <a:rPr lang="en-GB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GB" altLang="en-US" sz="24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PropertyForRent</a:t>
            </a:r>
            <a:r>
              <a:rPr lang="en-GB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)))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6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A5C53F8A-23F9-2C11-6919-24962E82E5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8214" y="197909"/>
            <a:ext cx="7845425" cy="885825"/>
          </a:xfrm>
          <a:noFill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GB" altLang="en-US" b="1" dirty="0">
                <a:latin typeface=""/>
                <a:cs typeface="Times New Roman" panose="02020603050405020304" pitchFamily="18" charset="0"/>
              </a:rPr>
              <a:t>AGGREGATE OPERATIONS</a:t>
            </a:r>
          </a:p>
        </p:txBody>
      </p:sp>
      <p:sp>
        <p:nvSpPr>
          <p:cNvPr id="199683" name="Rectangle 3">
            <a:extLst>
              <a:ext uri="{FF2B5EF4-FFF2-40B4-BE49-F238E27FC236}">
                <a16:creationId xmlns:a16="http://schemas.microsoft.com/office/drawing/2014/main" id="{E530409E-F291-42C6-94E1-1A3E387BC0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4524" y="2806816"/>
            <a:ext cx="11135253" cy="2724740"/>
          </a:xfrm>
          <a:noFill/>
        </p:spPr>
        <p:txBody>
          <a:bodyPr vert="horz" lIns="90488" tIns="44450" rIns="90488" bIns="44450" rtlCol="0">
            <a:normAutofit lnSpcReduction="10000"/>
          </a:bodyPr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aggregate function list, AL, to R to define a </a:t>
            </a:r>
            <a:r>
              <a:rPr lang="en-US" altLang="en-US" sz="3200" b="1" dirty="0">
                <a:solidFill>
                  <a:srgbClr val="6C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 over the aggregate list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 contains one or more </a:t>
            </a:r>
            <a:r>
              <a:rPr lang="en-US" altLang="en-US" sz="3200" b="1" dirty="0">
                <a:solidFill>
                  <a:srgbClr val="6C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(&lt;</a:t>
            </a:r>
            <a:r>
              <a:rPr lang="en-US" altLang="en-US" sz="3200" b="1" dirty="0" err="1">
                <a:solidFill>
                  <a:srgbClr val="6C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aggregate_function</a:t>
            </a:r>
            <a:r>
              <a:rPr lang="en-US" altLang="en-US" sz="3200" b="1" dirty="0">
                <a:solidFill>
                  <a:srgbClr val="6C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&gt;, &lt;attribute&gt;)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pairs.</a:t>
            </a:r>
            <a:endParaRPr lang="en-GB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aggregate functions are : </a:t>
            </a:r>
            <a:r>
              <a:rPr lang="en-GB" altLang="en-US" sz="3200" b="1" dirty="0">
                <a:solidFill>
                  <a:srgbClr val="6C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altLang="en-US" sz="3200" b="1" dirty="0">
                <a:solidFill>
                  <a:srgbClr val="6C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altLang="en-US" sz="3200" b="1" dirty="0">
                <a:solidFill>
                  <a:srgbClr val="6C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altLang="en-US" sz="3200" b="1" dirty="0">
                <a:solidFill>
                  <a:srgbClr val="6C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GB" altLang="en-US" sz="3200" b="1" dirty="0">
                <a:solidFill>
                  <a:srgbClr val="6C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F4745D-2AA7-2B01-69EA-03580F80228F}"/>
              </a:ext>
            </a:extLst>
          </p:cNvPr>
          <p:cNvSpPr txBox="1">
            <a:spLocks/>
          </p:cNvSpPr>
          <p:nvPr/>
        </p:nvSpPr>
        <p:spPr>
          <a:xfrm rot="16200000">
            <a:off x="-3215290" y="3162962"/>
            <a:ext cx="6962655" cy="5320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altLang="en-US" sz="1800" b="1" dirty="0">
                <a:solidFill>
                  <a:schemeClr val="bg1"/>
                </a:solidFill>
                <a:latin typeface=""/>
              </a:rPr>
              <a:t>RELATIONAL ALGEBRA OPERATION III</a:t>
            </a:r>
            <a:endParaRPr lang="en-GB" sz="1800" dirty="0">
              <a:solidFill>
                <a:schemeClr val="bg1"/>
              </a:solidFill>
              <a:latin typeface="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A509CE8-4744-15BD-FC74-D510F7FA064C}"/>
              </a:ext>
            </a:extLst>
          </p:cNvPr>
          <p:cNvSpPr/>
          <p:nvPr/>
        </p:nvSpPr>
        <p:spPr>
          <a:xfrm>
            <a:off x="4376417" y="1083734"/>
            <a:ext cx="3439166" cy="1294627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Symbol" pitchFamily="2" charset="2"/>
              </a:rPr>
              <a:t>AL(R) 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83" grpId="0" build="p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1CB6845-F232-2DBA-6FAE-390C1AB13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BE7C541-3EFF-4293-86E5-F1D5C4F17F4F}"/>
              </a:ext>
            </a:extLst>
          </p:cNvPr>
          <p:cNvSpPr/>
          <p:nvPr/>
        </p:nvSpPr>
        <p:spPr>
          <a:xfrm>
            <a:off x="732005" y="2009153"/>
            <a:ext cx="2620795" cy="65486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E9838F22-3382-9D24-3E2D-EB41FF22B4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8214" y="197909"/>
            <a:ext cx="7845425" cy="885825"/>
          </a:xfrm>
          <a:noFill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GB" altLang="en-US" b="1" dirty="0">
                <a:latin typeface=""/>
                <a:cs typeface="Times New Roman" panose="02020603050405020304" pitchFamily="18" charset="0"/>
              </a:rPr>
              <a:t>AGGREGATE OPERATIONS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4FEEBE-DD56-C08E-7C53-04A45AF9A743}"/>
              </a:ext>
            </a:extLst>
          </p:cNvPr>
          <p:cNvSpPr txBox="1">
            <a:spLocks/>
          </p:cNvSpPr>
          <p:nvPr/>
        </p:nvSpPr>
        <p:spPr>
          <a:xfrm rot="16200000">
            <a:off x="-3215290" y="3162962"/>
            <a:ext cx="6962655" cy="5320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altLang="en-US" sz="1800" b="1" dirty="0">
                <a:solidFill>
                  <a:schemeClr val="bg1"/>
                </a:solidFill>
                <a:latin typeface=""/>
              </a:rPr>
              <a:t>RELATIONAL ALGEBRA OPERATION III</a:t>
            </a:r>
            <a:endParaRPr lang="en-GB" sz="1800" dirty="0">
              <a:solidFill>
                <a:schemeClr val="bg1"/>
              </a:solidFill>
              <a:latin typeface="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858B4A-E10B-E4D8-0B4E-082B84691856}"/>
              </a:ext>
            </a:extLst>
          </p:cNvPr>
          <p:cNvSpPr txBox="1"/>
          <p:nvPr/>
        </p:nvSpPr>
        <p:spPr>
          <a:xfrm>
            <a:off x="860776" y="1260312"/>
            <a:ext cx="109361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altLang="en-US" sz="2800" dirty="0"/>
              <a:t>How many properties cost more than $350 per month to rent?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42DC3E-FDD4-0CD0-07F4-92437C2543EC}"/>
              </a:ext>
            </a:extLst>
          </p:cNvPr>
          <p:cNvSpPr txBox="1"/>
          <p:nvPr/>
        </p:nvSpPr>
        <p:spPr>
          <a:xfrm>
            <a:off x="860776" y="2006332"/>
            <a:ext cx="110715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b="1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Symbol" pitchFamily="2" charset="2"/>
              </a:rPr>
              <a:t></a:t>
            </a:r>
            <a:r>
              <a:rPr lang="en-US" altLang="en-US" sz="3200" b="1" baseline="-25000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</a:t>
            </a:r>
            <a:r>
              <a:rPr lang="en-US" altLang="en-US" sz="3200" b="1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</a:t>
            </a:r>
            <a:r>
              <a:rPr lang="en-US" altLang="en-US" sz="3200" b="1" dirty="0" err="1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myCount</a:t>
            </a:r>
            <a:r>
              <a:rPr lang="en-US" altLang="en-US" sz="3200" b="1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 </a:t>
            </a:r>
            <a:r>
              <a:rPr lang="en-US" altLang="en-US" sz="3200" b="1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Symbol" pitchFamily="2" charset="2"/>
              </a:rPr>
              <a:t></a:t>
            </a:r>
            <a:r>
              <a:rPr lang="en-US" altLang="en-US" sz="3200" b="1" baseline="-25000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COUNT</a:t>
            </a:r>
            <a:r>
              <a:rPr lang="en-US" altLang="en-US" sz="3200" b="1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US" sz="3200" b="1" baseline="-25000" dirty="0" err="1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propertyNo</a:t>
            </a:r>
            <a:r>
              <a:rPr lang="en-US" altLang="en-US" sz="3200" b="1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</a:t>
            </a:r>
            <a:r>
              <a:rPr lang="el-GR" altLang="en-US" sz="3200" b="1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σ</a:t>
            </a:r>
            <a:r>
              <a:rPr lang="en-US" altLang="en-US" sz="3200" b="1" baseline="-25000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rent &gt; 350</a:t>
            </a:r>
            <a:r>
              <a:rPr lang="en-US" altLang="en-US" sz="3200" b="1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</a:t>
            </a:r>
            <a:r>
              <a:rPr lang="en-US" altLang="en-US" sz="3200" b="1" dirty="0" err="1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PropertyForRent</a:t>
            </a:r>
            <a:r>
              <a:rPr lang="en-US" altLang="en-US" sz="3200" b="1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)) </a:t>
            </a:r>
            <a:endParaRPr lang="en-US" sz="3200" dirty="0">
              <a:solidFill>
                <a:srgbClr val="0000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10" name="Picture 5" descr="C04NF13a">
            <a:extLst>
              <a:ext uri="{FF2B5EF4-FFF2-40B4-BE49-F238E27FC236}">
                <a16:creationId xmlns:a16="http://schemas.microsoft.com/office/drawing/2014/main" id="{31BA4811-E7B5-5234-4532-29EA57BB4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59" r="13071" b="23869"/>
          <a:stretch>
            <a:fillRect/>
          </a:stretch>
        </p:blipFill>
        <p:spPr>
          <a:xfrm>
            <a:off x="10512778" y="3414888"/>
            <a:ext cx="762000" cy="1447800"/>
          </a:xfrm>
          <a:prstGeom prst="rect">
            <a:avLst/>
          </a:prstGeom>
          <a:noFill/>
        </p:spPr>
      </p:pic>
      <p:pic>
        <p:nvPicPr>
          <p:cNvPr id="11" name="Picture 3">
            <a:extLst>
              <a:ext uri="{FF2B5EF4-FFF2-40B4-BE49-F238E27FC236}">
                <a16:creationId xmlns:a16="http://schemas.microsoft.com/office/drawing/2014/main" id="{6CA6E7A1-60CC-10D7-F185-40E684ECDB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826"/>
          <a:stretch>
            <a:fillRect/>
          </a:stretch>
        </p:blipFill>
        <p:spPr bwMode="auto">
          <a:xfrm>
            <a:off x="2658534" y="3429000"/>
            <a:ext cx="593407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">
            <a:extLst>
              <a:ext uri="{FF2B5EF4-FFF2-40B4-BE49-F238E27FC236}">
                <a16:creationId xmlns:a16="http://schemas.microsoft.com/office/drawing/2014/main" id="{D0BFA437-0383-16FA-2EE4-4B9F6BE4A9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870"/>
          <a:stretch>
            <a:fillRect/>
          </a:stretch>
        </p:blipFill>
        <p:spPr bwMode="auto">
          <a:xfrm>
            <a:off x="2658534" y="4343400"/>
            <a:ext cx="593407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ight Arrow 6">
            <a:extLst>
              <a:ext uri="{FF2B5EF4-FFF2-40B4-BE49-F238E27FC236}">
                <a16:creationId xmlns:a16="http://schemas.microsoft.com/office/drawing/2014/main" id="{E48DE35A-6248-A9AC-D687-B37B26A49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2089" y="3927739"/>
            <a:ext cx="977900" cy="484188"/>
          </a:xfrm>
          <a:prstGeom prst="rightArrow">
            <a:avLst>
              <a:gd name="adj1" fmla="val 50000"/>
              <a:gd name="adj2" fmla="val 50024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A51C8A86-548C-1510-B63D-C6A280E76B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8534" y="5334000"/>
            <a:ext cx="8667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>
                <a:solidFill>
                  <a:srgbClr val="FF0000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count</a:t>
            </a:r>
          </a:p>
        </p:txBody>
      </p:sp>
      <p:cxnSp>
        <p:nvCxnSpPr>
          <p:cNvPr id="15" name="Straight Arrow Connector 13">
            <a:extLst>
              <a:ext uri="{FF2B5EF4-FFF2-40B4-BE49-F238E27FC236}">
                <a16:creationId xmlns:a16="http://schemas.microsoft.com/office/drawing/2014/main" id="{02553377-44EC-9263-C7D0-9D8459618938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2860940" y="5207793"/>
            <a:ext cx="381000" cy="23813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Straight Arrow Connector 5">
            <a:extLst>
              <a:ext uri="{FF2B5EF4-FFF2-40B4-BE49-F238E27FC236}">
                <a16:creationId xmlns:a16="http://schemas.microsoft.com/office/drawing/2014/main" id="{7B7F4767-20D1-9C8C-A453-91B7F2860D65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1957565" y="2740221"/>
            <a:ext cx="381000" cy="228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" name="TextBox 7">
            <a:extLst>
              <a:ext uri="{FF2B5EF4-FFF2-40B4-BE49-F238E27FC236}">
                <a16:creationId xmlns:a16="http://schemas.microsoft.com/office/drawing/2014/main" id="{FEFDCCB3-83BE-EAA5-83B8-1DBA014356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005" y="2919609"/>
            <a:ext cx="2209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i="1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Rename operation ~rho</a:t>
            </a:r>
          </a:p>
        </p:txBody>
      </p:sp>
    </p:spTree>
    <p:extLst>
      <p:ext uri="{BB962C8B-B14F-4D97-AF65-F5344CB8AC3E}">
        <p14:creationId xmlns:p14="http://schemas.microsoft.com/office/powerpoint/2010/main" val="2393390029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5" name="Rectangle 3">
            <a:extLst>
              <a:ext uri="{FF2B5EF4-FFF2-40B4-BE49-F238E27FC236}">
                <a16:creationId xmlns:a16="http://schemas.microsoft.com/office/drawing/2014/main" id="{51CC112E-5CBA-D472-EE59-744210AA76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1645" y="2951691"/>
            <a:ext cx="10865556" cy="3228975"/>
          </a:xfrm>
          <a:noFill/>
        </p:spPr>
        <p:txBody>
          <a:bodyPr vert="horz" lIns="90488" tIns="44450" rIns="90488" bIns="44450" rtlCol="0">
            <a:normAutofit/>
          </a:bodyPr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Groups tuples of R by </a:t>
            </a:r>
            <a:r>
              <a:rPr lang="en-US" altLang="en-US" b="1" dirty="0">
                <a:solidFill>
                  <a:srgbClr val="6C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grouping attributes (GA)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then </a:t>
            </a:r>
            <a:r>
              <a:rPr lang="en-US" altLang="en-US" b="1" dirty="0">
                <a:solidFill>
                  <a:srgbClr val="6C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applies aggregate function list (AL)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to </a:t>
            </a:r>
            <a:r>
              <a:rPr lang="en-US" altLang="en-US" sz="3200" b="1" dirty="0">
                <a:solidFill>
                  <a:srgbClr val="6C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define a new relation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 contains one or more (</a:t>
            </a:r>
            <a:r>
              <a:rPr lang="en-US" altLang="en-US" b="1" dirty="0">
                <a:solidFill>
                  <a:srgbClr val="6C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en-US" b="1" dirty="0" err="1">
                <a:solidFill>
                  <a:srgbClr val="6C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aggregate_function</a:t>
            </a:r>
            <a:r>
              <a:rPr lang="en-US" altLang="en-US" b="1" dirty="0">
                <a:solidFill>
                  <a:srgbClr val="6C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&gt;, &lt;attribute&gt;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pairs. 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Resulting relation contains the grouping attributes, GA, along with results of each of the aggregate functions</a:t>
            </a: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3FA065-3B82-827B-BA52-8ABC2E72FE18}"/>
              </a:ext>
            </a:extLst>
          </p:cNvPr>
          <p:cNvSpPr txBox="1">
            <a:spLocks/>
          </p:cNvSpPr>
          <p:nvPr/>
        </p:nvSpPr>
        <p:spPr>
          <a:xfrm rot="16200000">
            <a:off x="-3215290" y="3162962"/>
            <a:ext cx="6962655" cy="5320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altLang="en-US" sz="1800" b="1" dirty="0">
                <a:solidFill>
                  <a:schemeClr val="bg1"/>
                </a:solidFill>
                <a:latin typeface=""/>
              </a:rPr>
              <a:t>RELATIONAL ALGEBRA OPERATION III</a:t>
            </a:r>
            <a:endParaRPr lang="en-GB" sz="1800" dirty="0">
              <a:solidFill>
                <a:schemeClr val="bg1"/>
              </a:solidFill>
              <a:latin typeface="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2941AC1-FFF5-3D16-E8ED-34D04CBBFE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8214" y="197909"/>
            <a:ext cx="7845425" cy="885825"/>
          </a:xfrm>
          <a:noFill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GB" alt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AGGREGATE OPERATIONS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C0C4F83-162D-8A80-A53C-89C9CCC78FD5}"/>
              </a:ext>
            </a:extLst>
          </p:cNvPr>
          <p:cNvSpPr/>
          <p:nvPr/>
        </p:nvSpPr>
        <p:spPr>
          <a:xfrm>
            <a:off x="4376417" y="1230490"/>
            <a:ext cx="3439166" cy="1294627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Symbol" pitchFamily="2" charset="2"/>
              </a:rPr>
              <a:t>GAAL(R) 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55" grpId="0" build="p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5ED9772-57C2-E5DE-827A-FF586445B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64CD3-F395-4197-5CA8-2922CF12C1A9}"/>
              </a:ext>
            </a:extLst>
          </p:cNvPr>
          <p:cNvSpPr txBox="1">
            <a:spLocks/>
          </p:cNvSpPr>
          <p:nvPr/>
        </p:nvSpPr>
        <p:spPr>
          <a:xfrm rot="16200000">
            <a:off x="-3215290" y="3162962"/>
            <a:ext cx="6962655" cy="5320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altLang="en-US" sz="1800" b="1" dirty="0">
                <a:solidFill>
                  <a:schemeClr val="bg1"/>
                </a:solidFill>
                <a:latin typeface=""/>
              </a:rPr>
              <a:t>RELATIONAL ALGEBRA OPERATION III</a:t>
            </a:r>
            <a:endParaRPr lang="en-GB" sz="1800" dirty="0">
              <a:solidFill>
                <a:schemeClr val="bg1"/>
              </a:solidFill>
              <a:latin typeface="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077C44E-C257-0E45-D362-BF3316FD37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8214" y="197909"/>
            <a:ext cx="7845425" cy="885825"/>
          </a:xfrm>
          <a:noFill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GB" alt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AGGREGATE OPERATIONS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E9B9D3-A972-7325-C0B7-D6103D6AC2C2}"/>
              </a:ext>
            </a:extLst>
          </p:cNvPr>
          <p:cNvSpPr txBox="1"/>
          <p:nvPr/>
        </p:nvSpPr>
        <p:spPr>
          <a:xfrm>
            <a:off x="759177" y="1358879"/>
            <a:ext cx="1113931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en-US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Find the number of staff working in each branch and the sum of their salaries.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9748EE-9E63-644D-B13B-9BE36DBBBFAE}"/>
              </a:ext>
            </a:extLst>
          </p:cNvPr>
          <p:cNvSpPr txBox="1"/>
          <p:nvPr/>
        </p:nvSpPr>
        <p:spPr>
          <a:xfrm>
            <a:off x="759177" y="2588131"/>
            <a:ext cx="111393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</a:t>
            </a:r>
            <a:r>
              <a:rPr lang="en-US" altLang="en-US" sz="28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branchNo</a:t>
            </a:r>
            <a:r>
              <a:rPr lang="en-US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myCount</a:t>
            </a:r>
            <a:r>
              <a:rPr lang="en-US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mySum</a:t>
            </a:r>
            <a:r>
              <a:rPr lang="en-US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2800" b="1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branchNo</a:t>
            </a:r>
            <a:r>
              <a:rPr lang="en-US" altLang="en-US" sz="28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 </a:t>
            </a:r>
            <a:r>
              <a:rPr lang="en-US" altLang="en-US" sz="28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 </a:t>
            </a:r>
            <a:r>
              <a:rPr lang="en-US" altLang="en-US" sz="2800" b="1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staffNo</a:t>
            </a:r>
            <a:r>
              <a:rPr lang="en-US" altLang="en-US" sz="28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 salary</a:t>
            </a:r>
            <a:r>
              <a:rPr lang="en-US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(Staff)</a:t>
            </a:r>
            <a:endParaRPr lang="en-US" sz="2800" dirty="0">
              <a:solidFill>
                <a:srgbClr val="0000FF"/>
              </a:solidFill>
            </a:endParaRPr>
          </a:p>
        </p:txBody>
      </p:sp>
      <p:pic>
        <p:nvPicPr>
          <p:cNvPr id="11" name="Picture 6" descr="C04NF14">
            <a:extLst>
              <a:ext uri="{FF2B5EF4-FFF2-40B4-BE49-F238E27FC236}">
                <a16:creationId xmlns:a16="http://schemas.microsoft.com/office/drawing/2014/main" id="{8E1048FA-6B34-22D6-2952-70A5E307C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43800" y="3810000"/>
            <a:ext cx="2832100" cy="1411288"/>
          </a:xfrm>
          <a:prstGeom prst="rect">
            <a:avLst/>
          </a:prstGeom>
          <a:noFill/>
        </p:spPr>
      </p:pic>
      <p:grpSp>
        <p:nvGrpSpPr>
          <p:cNvPr id="12" name="Group 15">
            <a:extLst>
              <a:ext uri="{FF2B5EF4-FFF2-40B4-BE49-F238E27FC236}">
                <a16:creationId xmlns:a16="http://schemas.microsoft.com/office/drawing/2014/main" id="{7A29D391-E871-3BFE-1F7D-021F4A301946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3581400"/>
            <a:ext cx="4495800" cy="1644650"/>
            <a:chOff x="685800" y="3581400"/>
            <a:chExt cx="4495801" cy="1644337"/>
          </a:xfrm>
        </p:grpSpPr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270FA5E5-CF35-DD64-DAD6-3C1C995EDD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70833"/>
            <a:stretch>
              <a:fillRect/>
            </a:stretch>
          </p:blipFill>
          <p:spPr bwMode="auto">
            <a:xfrm>
              <a:off x="685800" y="3581400"/>
              <a:ext cx="4482194" cy="533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C605EFAA-1D71-13CC-871E-7A19965C69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2857" b="39285"/>
            <a:stretch>
              <a:fillRect/>
            </a:stretch>
          </p:blipFill>
          <p:spPr bwMode="auto">
            <a:xfrm>
              <a:off x="685800" y="4114800"/>
              <a:ext cx="4495799" cy="327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" name="Picture 2">
              <a:extLst>
                <a:ext uri="{FF2B5EF4-FFF2-40B4-BE49-F238E27FC236}">
                  <a16:creationId xmlns:a16="http://schemas.microsoft.com/office/drawing/2014/main" id="{3D9610C7-A1BD-E323-2BF7-669340CFEA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1429" b="17857"/>
            <a:stretch>
              <a:fillRect/>
            </a:stretch>
          </p:blipFill>
          <p:spPr bwMode="auto">
            <a:xfrm>
              <a:off x="685801" y="4419600"/>
              <a:ext cx="4495800" cy="196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2">
              <a:extLst>
                <a:ext uri="{FF2B5EF4-FFF2-40B4-BE49-F238E27FC236}">
                  <a16:creationId xmlns:a16="http://schemas.microsoft.com/office/drawing/2014/main" id="{00D6E99E-0E81-653E-4B01-C3F26E3829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0357" b="58929"/>
            <a:stretch>
              <a:fillRect/>
            </a:stretch>
          </p:blipFill>
          <p:spPr bwMode="auto">
            <a:xfrm>
              <a:off x="685800" y="4572000"/>
              <a:ext cx="4495800" cy="196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43D811DF-7319-6693-3371-EAEEAFD1E1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0357" b="8929"/>
            <a:stretch>
              <a:fillRect/>
            </a:stretch>
          </p:blipFill>
          <p:spPr bwMode="auto">
            <a:xfrm>
              <a:off x="685800" y="4800600"/>
              <a:ext cx="4495800" cy="196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Picture 2">
              <a:extLst>
                <a:ext uri="{FF2B5EF4-FFF2-40B4-BE49-F238E27FC236}">
                  <a16:creationId xmlns:a16="http://schemas.microsoft.com/office/drawing/2014/main" id="{9A2AC5C3-E6DF-CDB1-D2FE-38ABB1F195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2500" b="26785"/>
            <a:stretch>
              <a:fillRect/>
            </a:stretch>
          </p:blipFill>
          <p:spPr bwMode="auto">
            <a:xfrm>
              <a:off x="685800" y="5029200"/>
              <a:ext cx="4495799" cy="196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9" name="Right Arrow 16">
            <a:extLst>
              <a:ext uri="{FF2B5EF4-FFF2-40B4-BE49-F238E27FC236}">
                <a16:creationId xmlns:a16="http://schemas.microsoft.com/office/drawing/2014/main" id="{081C3229-8F1F-2262-8198-D39F6CAC9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4343400"/>
            <a:ext cx="977900" cy="484188"/>
          </a:xfrm>
          <a:prstGeom prst="rightArrow">
            <a:avLst>
              <a:gd name="adj1" fmla="val 50000"/>
              <a:gd name="adj2" fmla="val 50024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2355782122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Content Placeholder 2">
            <a:extLst>
              <a:ext uri="{FF2B5EF4-FFF2-40B4-BE49-F238E27FC236}">
                <a16:creationId xmlns:a16="http://schemas.microsoft.com/office/drawing/2014/main" id="{C3647E9F-24B3-B5B2-75A9-958C23EF7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132013"/>
            <a:ext cx="10515600" cy="4351338"/>
          </a:xfrm>
          <a:ln>
            <a:noFill/>
            <a:miter lim="800000"/>
            <a:headEnd/>
            <a:tailEnd/>
          </a:ln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</a:t>
            </a:r>
            <a:r>
              <a:rPr lang="en-GB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guestName</a:t>
            </a: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hotelNo</a:t>
            </a: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(Booking</a:t>
            </a:r>
            <a:r>
              <a:rPr lang="en-GB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GB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Booking.guestNo</a:t>
            </a: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GB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Guest.guestNo</a:t>
            </a: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Guest) </a:t>
            </a: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</a:t>
            </a: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</a:t>
            </a:r>
            <a:r>
              <a:rPr lang="en-GB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hotelNo</a:t>
            </a: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l-G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l-GR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 = ’London’</a:t>
            </a: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(Hotel))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43" name="Slide Number Placeholder 3">
            <a:extLst>
              <a:ext uri="{FF2B5EF4-FFF2-40B4-BE49-F238E27FC236}">
                <a16:creationId xmlns:a16="http://schemas.microsoft.com/office/drawing/2014/main" id="{7ECB9927-A4CE-AAB7-8E4D-47AABE4A3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D04E850-2E5C-A749-A5BD-4C1DE9A9815A}" type="slidenum">
              <a:rPr lang="en-US" altLang="en-US" sz="1400">
                <a:latin typeface="Arial" panose="020B0604020202020204" pitchFamily="34" charset="0"/>
                <a:ea typeface="MS PGothic" panose="020B0600070205080204" pitchFamily="34" charset="-128"/>
              </a:rPr>
              <a:pPr eaLnBrk="1" hangingPunct="1">
                <a:spcBef>
                  <a:spcPct val="0"/>
                </a:spcBef>
                <a:buFontTx/>
                <a:buNone/>
              </a:pPr>
              <a:t>49</a:t>
            </a:fld>
            <a:endParaRPr lang="en-US" altLang="en-US" sz="1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3DD74D2E-1196-F149-205C-5D2E8B848C78}"/>
              </a:ext>
            </a:extLst>
          </p:cNvPr>
          <p:cNvGrpSpPr>
            <a:grpSpLocks/>
          </p:cNvGrpSpPr>
          <p:nvPr/>
        </p:nvGrpSpPr>
        <p:grpSpPr bwMode="auto">
          <a:xfrm>
            <a:off x="5362629" y="2258661"/>
            <a:ext cx="304800" cy="244475"/>
            <a:chOff x="2448" y="9360"/>
            <a:chExt cx="288" cy="144"/>
          </a:xfrm>
        </p:grpSpPr>
        <p:sp>
          <p:nvSpPr>
            <p:cNvPr id="52230" name="Line 5">
              <a:extLst>
                <a:ext uri="{FF2B5EF4-FFF2-40B4-BE49-F238E27FC236}">
                  <a16:creationId xmlns:a16="http://schemas.microsoft.com/office/drawing/2014/main" id="{7903F07F-167E-5EE0-C2A8-41DB3C0D55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9360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31" name="Line 6">
              <a:extLst>
                <a:ext uri="{FF2B5EF4-FFF2-40B4-BE49-F238E27FC236}">
                  <a16:creationId xmlns:a16="http://schemas.microsoft.com/office/drawing/2014/main" id="{33194AE2-69FE-29B0-1AA9-52F6DD486C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9360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32" name="Line 7">
              <a:extLst>
                <a:ext uri="{FF2B5EF4-FFF2-40B4-BE49-F238E27FC236}">
                  <a16:creationId xmlns:a16="http://schemas.microsoft.com/office/drawing/2014/main" id="{2351669F-F6EB-D1D3-DF1E-F21F2DF4FF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8" y="9360"/>
              <a:ext cx="28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33" name="Line 8">
              <a:extLst>
                <a:ext uri="{FF2B5EF4-FFF2-40B4-BE49-F238E27FC236}">
                  <a16:creationId xmlns:a16="http://schemas.microsoft.com/office/drawing/2014/main" id="{4F1BA632-F34B-9D2F-A245-7C154CD42B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9360"/>
              <a:ext cx="28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2CF83761-6C04-859B-48A3-902D78E5FDAA}"/>
              </a:ext>
            </a:extLst>
          </p:cNvPr>
          <p:cNvSpPr txBox="1">
            <a:spLocks/>
          </p:cNvSpPr>
          <p:nvPr/>
        </p:nvSpPr>
        <p:spPr>
          <a:xfrm rot="16200000">
            <a:off x="-3215290" y="3162962"/>
            <a:ext cx="6962655" cy="53207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altLang="en-US" sz="1800" b="1" dirty="0">
                <a:solidFill>
                  <a:schemeClr val="bg1"/>
                </a:solidFill>
                <a:latin typeface=""/>
              </a:rPr>
              <a:t>RELATIONAL ALGEBRA OPERATION III</a:t>
            </a:r>
            <a:endParaRPr lang="en-GB" sz="1800" dirty="0">
              <a:solidFill>
                <a:schemeClr val="bg1"/>
              </a:solidFill>
              <a:latin typeface="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CA0287F-9EA0-2346-6066-4F76E0093019}"/>
              </a:ext>
            </a:extLst>
          </p:cNvPr>
          <p:cNvSpPr txBox="1">
            <a:spLocks noChangeArrowheads="1"/>
          </p:cNvSpPr>
          <p:nvPr/>
        </p:nvSpPr>
        <p:spPr>
          <a:xfrm>
            <a:off x="2208212" y="273843"/>
            <a:ext cx="7775575" cy="814387"/>
          </a:xfrm>
          <a:prstGeom prst="rect">
            <a:avLst/>
          </a:prstGeom>
          <a:noFill/>
        </p:spPr>
        <p:txBody>
          <a:bodyPr vert="horz" lIns="90488" tIns="44450" rIns="90488" bIns="4445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"/>
                <a:ea typeface="Times" pitchFamily="18" charset="0"/>
                <a:cs typeface="Times" pitchFamily="18" charset="0"/>
              </a:rPr>
              <a:t>CLASS DISCUSSION III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C49CC3-157C-3B32-426C-D178FE4EAF3B}"/>
              </a:ext>
            </a:extLst>
          </p:cNvPr>
          <p:cNvSpPr txBox="1"/>
          <p:nvPr/>
        </p:nvSpPr>
        <p:spPr>
          <a:xfrm>
            <a:off x="960832" y="1223826"/>
            <a:ext cx="93454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en-US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Describe the result of the relational algebra expression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22B65-895B-5866-CD96-54433BB74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Slide Number Placeholder 3">
            <a:extLst>
              <a:ext uri="{FF2B5EF4-FFF2-40B4-BE49-F238E27FC236}">
                <a16:creationId xmlns:a16="http://schemas.microsoft.com/office/drawing/2014/main" id="{9C488D00-8DFE-21FA-151F-5B07BE28B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D04E850-2E5C-A749-A5BD-4C1DE9A9815A}" type="slidenum">
              <a:rPr lang="en-US" altLang="en-US" sz="1400">
                <a:latin typeface="Arial" panose="020B0604020202020204" pitchFamily="34" charset="0"/>
                <a:ea typeface="MS PGothic" panose="020B0600070205080204" pitchFamily="34" charset="-128"/>
              </a:rPr>
              <a:pPr eaLnBrk="1" hangingPunct="1">
                <a:spcBef>
                  <a:spcPct val="0"/>
                </a:spcBef>
                <a:buFontTx/>
                <a:buNone/>
              </a:pPr>
              <a:t>50</a:t>
            </a:fld>
            <a:endParaRPr lang="en-US" altLang="en-US" sz="1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F61BEFC-2352-AA20-2523-8AB8DC864D14}"/>
              </a:ext>
            </a:extLst>
          </p:cNvPr>
          <p:cNvSpPr txBox="1">
            <a:spLocks/>
          </p:cNvSpPr>
          <p:nvPr/>
        </p:nvSpPr>
        <p:spPr>
          <a:xfrm rot="16200000">
            <a:off x="-3215290" y="3162962"/>
            <a:ext cx="6962655" cy="53207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altLang="en-US" sz="1800" b="1" dirty="0">
                <a:solidFill>
                  <a:schemeClr val="bg1"/>
                </a:solidFill>
                <a:latin typeface=""/>
              </a:rPr>
              <a:t>RELATIONAL ALGEBRA OPERATION III</a:t>
            </a:r>
            <a:endParaRPr lang="en-GB" sz="1800" dirty="0">
              <a:solidFill>
                <a:schemeClr val="bg1"/>
              </a:solidFill>
              <a:latin typeface="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AE5A29E-CCE4-B14F-26DF-4967015B1280}"/>
              </a:ext>
            </a:extLst>
          </p:cNvPr>
          <p:cNvSpPr txBox="1">
            <a:spLocks noChangeArrowheads="1"/>
          </p:cNvSpPr>
          <p:nvPr/>
        </p:nvSpPr>
        <p:spPr>
          <a:xfrm>
            <a:off x="2208212" y="273843"/>
            <a:ext cx="7775575" cy="814387"/>
          </a:xfrm>
          <a:prstGeom prst="rect">
            <a:avLst/>
          </a:prstGeom>
          <a:noFill/>
        </p:spPr>
        <p:txBody>
          <a:bodyPr vert="horz" lIns="90488" tIns="44450" rIns="90488" bIns="4445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"/>
                <a:ea typeface="Times" pitchFamily="18" charset="0"/>
                <a:cs typeface="Times" pitchFamily="18" charset="0"/>
              </a:rPr>
              <a:t>SUMMARY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8680C9-A25D-52EA-E1FF-F98C87BCD84F}"/>
              </a:ext>
            </a:extLst>
          </p:cNvPr>
          <p:cNvSpPr txBox="1"/>
          <p:nvPr/>
        </p:nvSpPr>
        <p:spPr>
          <a:xfrm>
            <a:off x="1051144" y="1302848"/>
            <a:ext cx="10813478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MY" sz="28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relational algebra is a (high-level) procedural language: it can be used to tell the DBMS how to build a new relation from one or more relations in the database.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MY" sz="2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MY" sz="28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five fundamental operations in relational algebra [</a:t>
            </a:r>
            <a:r>
              <a:rPr lang="en-MY" sz="3200" b="1" dirty="0">
                <a:solidFill>
                  <a:srgbClr val="6C1D35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Selection, Projection, Cartesian product, Union, and Set difference</a:t>
            </a:r>
            <a:r>
              <a:rPr lang="en-MY" sz="28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] perform most of the data retrieval operations that we are interested in.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MY" sz="280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MY" sz="28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 addition, there are also the </a:t>
            </a:r>
            <a:r>
              <a:rPr lang="en-MY" sz="3200" b="1" dirty="0">
                <a:solidFill>
                  <a:srgbClr val="6C1D35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Join</a:t>
            </a:r>
            <a:r>
              <a:rPr lang="en-MY" sz="28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MY" sz="3200" b="1" dirty="0">
                <a:solidFill>
                  <a:srgbClr val="6C1D35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Intersection</a:t>
            </a:r>
            <a:r>
              <a:rPr lang="en-MY" sz="28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and </a:t>
            </a:r>
            <a:r>
              <a:rPr lang="en-MY" sz="3200" b="1" dirty="0">
                <a:solidFill>
                  <a:srgbClr val="6C1D35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Division</a:t>
            </a:r>
            <a:r>
              <a:rPr lang="en-MY" sz="28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operations, which can be expressed in terms of the five basic operations.</a:t>
            </a:r>
          </a:p>
        </p:txBody>
      </p:sp>
    </p:spTree>
    <p:extLst>
      <p:ext uri="{BB962C8B-B14F-4D97-AF65-F5344CB8AC3E}">
        <p14:creationId xmlns:p14="http://schemas.microsoft.com/office/powerpoint/2010/main" val="196235198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9832A7B-17DE-A49A-0D98-B17264451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4BE87F-5B1E-B127-DCFD-1E4D482175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51</a:t>
            </a:fld>
            <a:endParaRPr lang="en-MY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1EC0F348-2D30-7AC1-3CE0-4197AE9882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188" y="3429000"/>
            <a:ext cx="5327003" cy="400892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851558A9-F831-677E-BB04-1C0F9AD971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5089" y="2894401"/>
            <a:ext cx="5327003" cy="400892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FCCD5C17-9FCF-9090-0510-5284D0FCF1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563" y="2684422"/>
            <a:ext cx="3612283" cy="122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775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6C1D35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6C3636"/>
      </a:accent6>
      <a:hlink>
        <a:srgbClr val="CC9900"/>
      </a:hlink>
      <a:folHlink>
        <a:srgbClr val="96A9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7994</TotalTime>
  <Words>2497</Words>
  <Application>Microsoft Macintosh PowerPoint</Application>
  <PresentationFormat>Widescreen</PresentationFormat>
  <Paragraphs>315</Paragraphs>
  <Slides>51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2" baseType="lpstr">
      <vt:lpstr>Arial</vt:lpstr>
      <vt:lpstr>Calibri</vt:lpstr>
      <vt:lpstr>Helvetica</vt:lpstr>
      <vt:lpstr>Monotype Sorts</vt:lpstr>
      <vt:lpstr>Montserrat Semi</vt:lpstr>
      <vt:lpstr>Roboto</vt:lpstr>
      <vt:lpstr>Symbol</vt:lpstr>
      <vt:lpstr>Times</vt:lpstr>
      <vt:lpstr>Times New Roman</vt:lpstr>
      <vt:lpstr>Verdana</vt:lpstr>
      <vt:lpstr>Office Theme</vt:lpstr>
      <vt:lpstr>PowerPoint Presentation</vt:lpstr>
      <vt:lpstr>LECTURE LEARNING OUTCOME</vt:lpstr>
      <vt:lpstr>PowerPoint Presentation</vt:lpstr>
      <vt:lpstr>INTRODUCTION</vt:lpstr>
      <vt:lpstr>PowerPoint Presentation</vt:lpstr>
      <vt:lpstr>INTRODUCTION</vt:lpstr>
      <vt:lpstr>INTRODUCTION</vt:lpstr>
      <vt:lpstr>RELATIONAL ALGEBRA</vt:lpstr>
      <vt:lpstr>RELATIONAL ALGEBRA</vt:lpstr>
      <vt:lpstr>RELATIONAL ALGEBRA</vt:lpstr>
      <vt:lpstr>PowerPoint Presentation</vt:lpstr>
      <vt:lpstr>RELATIONAL ALGEBRA OPERATION I</vt:lpstr>
      <vt:lpstr>SELECTION ()</vt:lpstr>
      <vt:lpstr>SELECTION ()</vt:lpstr>
      <vt:lpstr>PROJECTION (  )</vt:lpstr>
      <vt:lpstr>PROJECTION (  )</vt:lpstr>
      <vt:lpstr>UNION  (  )</vt:lpstr>
      <vt:lpstr>UNION  (  )</vt:lpstr>
      <vt:lpstr>SET DIFFERENCE ( – )</vt:lpstr>
      <vt:lpstr>SET DIFFERENCE ( – )</vt:lpstr>
      <vt:lpstr>INTERSECTION  (  )</vt:lpstr>
      <vt:lpstr>INTERSECTION  (  )</vt:lpstr>
      <vt:lpstr>CARTESIAN PRODUCT ( X )</vt:lpstr>
      <vt:lpstr>CARTESIAN PRODUCT ( X )</vt:lpstr>
      <vt:lpstr>CARTESIAN PRODUCT ( X )</vt:lpstr>
      <vt:lpstr>PowerPoint Presentation</vt:lpstr>
      <vt:lpstr>PowerPoint Presentation</vt:lpstr>
      <vt:lpstr>RELATIONAL ALGEBRA II</vt:lpstr>
      <vt:lpstr>JOIN OPERATIONS </vt:lpstr>
      <vt:lpstr>THETA JOIN (-JOIN)</vt:lpstr>
      <vt:lpstr>PowerPoint Presentation</vt:lpstr>
      <vt:lpstr>PowerPoint Presentation</vt:lpstr>
      <vt:lpstr>NATURAL JOIN</vt:lpstr>
      <vt:lpstr>NATURAL JOIN</vt:lpstr>
      <vt:lpstr>OUTER JOIN (    )</vt:lpstr>
      <vt:lpstr>PowerPoint Presentation</vt:lpstr>
      <vt:lpstr>SEMIJOIN (     )</vt:lpstr>
      <vt:lpstr>SEMIJOIN (     )</vt:lpstr>
      <vt:lpstr>PowerPoint Presentation</vt:lpstr>
      <vt:lpstr>PowerPoint Presentation</vt:lpstr>
      <vt:lpstr>PowerPoint Presentation</vt:lpstr>
      <vt:lpstr>RELATIONAL ALGEBRA III</vt:lpstr>
      <vt:lpstr>DIVISION (  )</vt:lpstr>
      <vt:lpstr>DIVISION (  )</vt:lpstr>
      <vt:lpstr>AGGREGATE OPERATIONS</vt:lpstr>
      <vt:lpstr>AGGREGATE OPERATIONS</vt:lpstr>
      <vt:lpstr>AGGREGATE OPERATIONS</vt:lpstr>
      <vt:lpstr>AGGREGATE OPERATIONS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NUR AMALINA BINTI HAMIDI</dc:creator>
  <cp:lastModifiedBy>sharin</cp:lastModifiedBy>
  <cp:revision>101</cp:revision>
  <dcterms:created xsi:type="dcterms:W3CDTF">2023-12-31T03:09:43Z</dcterms:created>
  <dcterms:modified xsi:type="dcterms:W3CDTF">2024-10-06T01:18:29Z</dcterms:modified>
</cp:coreProperties>
</file>